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3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148840"/>
            <a:ext cx="9875520" cy="1188720"/>
          </a:xfrm>
          <a:prstGeom prst="rect">
            <a:avLst/>
          </a:prstGeom>
          <a:noFill/>
        </p:spPr>
        <p:txBody>
          <a:bodyPr wrap="square" lIns="0" rIns="0" tIns="0" bIns="0">
            <a:spAutoFit/>
          </a:bodyPr>
          <a:lstStyle/>
          <a:p>
            <a:r>
              <a:rPr sz="6000" b="1">
                <a:solidFill>
                  <a:srgbClr val="FFFFFF"/>
                </a:solidFill>
                <a:latin typeface="Helvetica Neue"/>
              </a:rPr>
              <a:t>DiscoveryHub</a:t>
            </a:r>
          </a:p>
        </p:txBody>
      </p:sp>
      <p:sp>
        <p:nvSpPr>
          <p:cNvPr id="5" name="Rectangle 4"/>
          <p:cNvSpPr/>
          <p:nvPr/>
        </p:nvSpPr>
        <p:spPr>
          <a:xfrm>
            <a:off x="1078992" y="3401568"/>
            <a:ext cx="914400" cy="4114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3675887"/>
            <a:ext cx="9875520" cy="548640"/>
          </a:xfrm>
          <a:prstGeom prst="rect">
            <a:avLst/>
          </a:prstGeom>
          <a:noFill/>
        </p:spPr>
        <p:txBody>
          <a:bodyPr wrap="square" lIns="0" rIns="0" tIns="0" bIns="0">
            <a:spAutoFit/>
          </a:bodyPr>
          <a:lstStyle/>
          <a:p>
            <a:r>
              <a:rPr sz="2100">
                <a:solidFill>
                  <a:srgbClr val="CFDCE8"/>
                </a:solidFill>
                <a:latin typeface="Helvetica Neue"/>
              </a:rPr>
              <a:t>An eDiscovery platform — complete technical walkthrough</a:t>
            </a:r>
          </a:p>
        </p:txBody>
      </p:sp>
      <p:sp>
        <p:nvSpPr>
          <p:cNvPr id="7" name="TextBox 6"/>
          <p:cNvSpPr txBox="1"/>
          <p:nvPr/>
        </p:nvSpPr>
        <p:spPr>
          <a:xfrm>
            <a:off x="1051560" y="4343400"/>
            <a:ext cx="9875520" cy="365760"/>
          </a:xfrm>
          <a:prstGeom prst="rect">
            <a:avLst/>
          </a:prstGeom>
          <a:noFill/>
        </p:spPr>
        <p:txBody>
          <a:bodyPr wrap="square" lIns="0" rIns="0" tIns="0" bIns="0">
            <a:spAutoFit/>
          </a:bodyPr>
          <a:lstStyle/>
          <a:p>
            <a:r>
              <a:rPr sz="1300">
                <a:solidFill>
                  <a:srgbClr val="93A8BC"/>
                </a:solidFill>
                <a:latin typeface="Helvetica Neue"/>
              </a:rPr>
              <a:t>Team Questify · 7 services, 10 datastores, 9 Kafka topics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00   </a:t>
            </a:r>
            <a:r>
              <a:rPr sz="2200" b="1">
                <a:solidFill>
                  <a:srgbClr val="14304A"/>
                </a:solidFill>
                <a:latin typeface="Helvetica Neue"/>
              </a:rPr>
              <a:t>Contents</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5346039" cy="5029200"/>
          </a:xfrm>
          <a:prstGeom prst="rect">
            <a:avLst/>
          </a:prstGeom>
          <a:noFill/>
        </p:spPr>
        <p:txBody>
          <a:bodyPr wrap="square" lIns="0" rIns="0" tIns="0" bIns="0">
            <a:spAutoFit/>
          </a:bodyPr>
          <a:lstStyle/>
          <a:p>
            <a:pPr>
              <a:spcAft>
                <a:spcPts val="600"/>
              </a:spcAft>
            </a:pPr>
            <a:r>
              <a:rPr sz="1200" b="1">
                <a:solidFill>
                  <a:srgbClr val="C9A227"/>
                </a:solidFill>
                <a:latin typeface="Helvetica Neue"/>
              </a:rPr>
              <a:t>01  </a:t>
            </a:r>
            <a:r>
              <a:rPr sz="1200">
                <a:solidFill>
                  <a:srgbClr val="1A1D21"/>
                </a:solidFill>
                <a:latin typeface="Helvetica Neue"/>
              </a:rPr>
              <a:t>The problem: what eDiscovery actually is</a:t>
            </a:r>
          </a:p>
          <a:p>
            <a:pPr>
              <a:spcAft>
                <a:spcPts val="600"/>
              </a:spcAft>
            </a:pPr>
            <a:r>
              <a:rPr sz="1200" b="1">
                <a:solidFill>
                  <a:srgbClr val="C9A227"/>
                </a:solidFill>
                <a:latin typeface="Helvetica Neue"/>
              </a:rPr>
              <a:t>02  </a:t>
            </a:r>
            <a:r>
              <a:rPr sz="1200">
                <a:solidFill>
                  <a:srgbClr val="1A1D21"/>
                </a:solidFill>
                <a:latin typeface="Helvetica Neue"/>
              </a:rPr>
              <a:t>The lifecycle the system models</a:t>
            </a:r>
          </a:p>
          <a:p>
            <a:pPr>
              <a:spcAft>
                <a:spcPts val="600"/>
              </a:spcAft>
            </a:pPr>
            <a:r>
              <a:rPr sz="1200" b="1">
                <a:solidFill>
                  <a:srgbClr val="C9A227"/>
                </a:solidFill>
                <a:latin typeface="Helvetica Neue"/>
              </a:rPr>
              <a:t>03  </a:t>
            </a:r>
            <a:r>
              <a:rPr sz="1200">
                <a:solidFill>
                  <a:srgbClr val="1A1D21"/>
                </a:solidFill>
                <a:latin typeface="Helvetica Neue"/>
              </a:rPr>
              <a:t>Architecture at a glance</a:t>
            </a:r>
          </a:p>
          <a:p>
            <a:pPr>
              <a:spcAft>
                <a:spcPts val="600"/>
              </a:spcAft>
            </a:pPr>
            <a:r>
              <a:rPr sz="1200" b="1">
                <a:solidFill>
                  <a:srgbClr val="C9A227"/>
                </a:solidFill>
                <a:latin typeface="Helvetica Neue"/>
              </a:rPr>
              <a:t>04  </a:t>
            </a:r>
            <a:r>
              <a:rPr sz="1200">
                <a:solidFill>
                  <a:srgbClr val="1A1D21"/>
                </a:solidFill>
                <a:latin typeface="Helvetica Neue"/>
              </a:rPr>
              <a:t>The system by the numbers</a:t>
            </a:r>
          </a:p>
          <a:p>
            <a:pPr>
              <a:spcAft>
                <a:spcPts val="600"/>
              </a:spcAft>
            </a:pPr>
            <a:r>
              <a:rPr sz="1200" b="1">
                <a:solidFill>
                  <a:srgbClr val="C9A227"/>
                </a:solidFill>
                <a:latin typeface="Helvetica Neue"/>
              </a:rPr>
              <a:t>05  </a:t>
            </a:r>
            <a:r>
              <a:rPr sz="1200">
                <a:solidFill>
                  <a:srgbClr val="1A1D21"/>
                </a:solidFill>
                <a:latin typeface="Helvetica Neue"/>
              </a:rPr>
              <a:t>The shared contract: the message schema</a:t>
            </a:r>
          </a:p>
          <a:p>
            <a:pPr>
              <a:spcAft>
                <a:spcPts val="600"/>
              </a:spcAft>
            </a:pPr>
            <a:r>
              <a:rPr sz="1200" b="1">
                <a:solidFill>
                  <a:srgbClr val="C9A227"/>
                </a:solidFill>
                <a:latin typeface="Helvetica Neue"/>
              </a:rPr>
              <a:t>06  </a:t>
            </a:r>
            <a:r>
              <a:rPr sz="1200">
                <a:solidFill>
                  <a:srgbClr val="1A1D21"/>
                </a:solidFill>
                <a:latin typeface="Helvetica Neue"/>
              </a:rPr>
              <a:t>Two identifiers, and why dedupe is subtle</a:t>
            </a:r>
          </a:p>
          <a:p>
            <a:pPr>
              <a:spcAft>
                <a:spcPts val="600"/>
              </a:spcAft>
            </a:pPr>
            <a:r>
              <a:rPr sz="1200" b="1">
                <a:solidFill>
                  <a:srgbClr val="C9A227"/>
                </a:solidFill>
                <a:latin typeface="Helvetica Neue"/>
              </a:rPr>
              <a:t>07  </a:t>
            </a:r>
            <a:r>
              <a:rPr sz="1200">
                <a:solidFill>
                  <a:srgbClr val="1A1D21"/>
                </a:solidFill>
                <a:latin typeface="Helvetica Neue"/>
              </a:rPr>
              <a:t>P1 — Ingestion  :8081</a:t>
            </a:r>
          </a:p>
          <a:p>
            <a:pPr>
              <a:spcAft>
                <a:spcPts val="600"/>
              </a:spcAft>
            </a:pPr>
            <a:r>
              <a:rPr sz="1200" b="1">
                <a:solidFill>
                  <a:srgbClr val="C9A227"/>
                </a:solidFill>
                <a:latin typeface="Helvetica Neue"/>
              </a:rPr>
              <a:t>08  </a:t>
            </a:r>
            <a:r>
              <a:rPr sz="1200">
                <a:solidFill>
                  <a:srgbClr val="1A1D21"/>
                </a:solidFill>
                <a:latin typeface="Helvetica Neue"/>
              </a:rPr>
              <a:t>P2 — Storage / Archive  :8082</a:t>
            </a:r>
          </a:p>
          <a:p>
            <a:pPr>
              <a:spcAft>
                <a:spcPts val="600"/>
              </a:spcAft>
            </a:pPr>
            <a:r>
              <a:rPr sz="1200" b="1">
                <a:solidFill>
                  <a:srgbClr val="C9A227"/>
                </a:solidFill>
                <a:latin typeface="Helvetica Neue"/>
              </a:rPr>
              <a:t>09  </a:t>
            </a:r>
            <a:r>
              <a:rPr sz="1200">
                <a:solidFill>
                  <a:srgbClr val="1A1D21"/>
                </a:solidFill>
                <a:latin typeface="Helvetica Neue"/>
              </a:rPr>
              <a:t>P3 — Search  :8083</a:t>
            </a:r>
          </a:p>
          <a:p>
            <a:pPr>
              <a:spcAft>
                <a:spcPts val="600"/>
              </a:spcAft>
            </a:pPr>
            <a:r>
              <a:rPr sz="1200" b="1">
                <a:solidFill>
                  <a:srgbClr val="C9A227"/>
                </a:solidFill>
                <a:latin typeface="Helvetica Neue"/>
              </a:rPr>
              <a:t>10  </a:t>
            </a:r>
            <a:r>
              <a:rPr sz="1200">
                <a:solidFill>
                  <a:srgbClr val="1A1D21"/>
                </a:solidFill>
                <a:latin typeface="Helvetica Neue"/>
              </a:rPr>
              <a:t>P4 — Case  :8084  and  Hold  :8086</a:t>
            </a:r>
          </a:p>
          <a:p>
            <a:pPr>
              <a:spcAft>
                <a:spcPts val="600"/>
              </a:spcAft>
            </a:pPr>
            <a:r>
              <a:rPr sz="1200" b="1">
                <a:solidFill>
                  <a:srgbClr val="C9A227"/>
                </a:solidFill>
                <a:latin typeface="Helvetica Neue"/>
              </a:rPr>
              <a:t>11  </a:t>
            </a:r>
            <a:r>
              <a:rPr sz="1200">
                <a:solidFill>
                  <a:srgbClr val="1A1D21"/>
                </a:solidFill>
                <a:latin typeface="Helvetica Neue"/>
              </a:rPr>
              <a:t>Legal hold: five guards between a candidate and deletion</a:t>
            </a:r>
          </a:p>
          <a:p>
            <a:pPr>
              <a:spcAft>
                <a:spcPts val="600"/>
              </a:spcAft>
            </a:pPr>
            <a:r>
              <a:rPr sz="1200" b="1">
                <a:solidFill>
                  <a:srgbClr val="C9A227"/>
                </a:solidFill>
                <a:latin typeface="Helvetica Neue"/>
              </a:rPr>
              <a:t>12  </a:t>
            </a:r>
            <a:r>
              <a:rPr sz="1200">
                <a:solidFill>
                  <a:srgbClr val="1A1D21"/>
                </a:solidFill>
                <a:latin typeface="Helvetica Neue"/>
              </a:rPr>
              <a:t>P2.2 — Retention and Disposition  :8087</a:t>
            </a:r>
          </a:p>
          <a:p>
            <a:pPr>
              <a:spcAft>
                <a:spcPts val="600"/>
              </a:spcAft>
            </a:pPr>
            <a:r>
              <a:rPr sz="1200" b="1">
                <a:solidFill>
                  <a:srgbClr val="C9A227"/>
                </a:solidFill>
                <a:latin typeface="Helvetica Neue"/>
              </a:rPr>
              <a:t>13  </a:t>
            </a:r>
            <a:r>
              <a:rPr sz="1200">
                <a:solidFill>
                  <a:srgbClr val="1A1D21"/>
                </a:solidFill>
                <a:latin typeface="Helvetica Neue"/>
              </a:rPr>
              <a:t>P2.2 — API and watching a sweep</a:t>
            </a:r>
          </a:p>
        </p:txBody>
      </p:sp>
      <p:sp>
        <p:nvSpPr>
          <p:cNvPr id="5" name="TextBox 4"/>
          <p:cNvSpPr txBox="1"/>
          <p:nvPr/>
        </p:nvSpPr>
        <p:spPr>
          <a:xfrm>
            <a:off x="6187287" y="1133856"/>
            <a:ext cx="5346039" cy="5029200"/>
          </a:xfrm>
          <a:prstGeom prst="rect">
            <a:avLst/>
          </a:prstGeom>
          <a:noFill/>
        </p:spPr>
        <p:txBody>
          <a:bodyPr wrap="square" lIns="0" rIns="0" tIns="0" bIns="0">
            <a:spAutoFit/>
          </a:bodyPr>
          <a:lstStyle/>
          <a:p>
            <a:pPr>
              <a:spcAft>
                <a:spcPts val="600"/>
              </a:spcAft>
            </a:pPr>
            <a:r>
              <a:rPr sz="1200" b="1">
                <a:solidFill>
                  <a:srgbClr val="C9A227"/>
                </a:solidFill>
                <a:latin typeface="Helvetica Neue"/>
              </a:rPr>
              <a:t>14  </a:t>
            </a:r>
            <a:r>
              <a:rPr sz="1200">
                <a:solidFill>
                  <a:srgbClr val="1A1D21"/>
                </a:solidFill>
                <a:latin typeface="Helvetica Neue"/>
              </a:rPr>
              <a:t>P5 — Evidence Export and Chain of Custody  :8085</a:t>
            </a:r>
          </a:p>
          <a:p>
            <a:pPr>
              <a:spcAft>
                <a:spcPts val="600"/>
              </a:spcAft>
            </a:pPr>
            <a:r>
              <a:rPr sz="1200" b="1">
                <a:solidFill>
                  <a:srgbClr val="C9A227"/>
                </a:solidFill>
                <a:latin typeface="Helvetica Neue"/>
              </a:rPr>
              <a:t>15  </a:t>
            </a:r>
            <a:r>
              <a:rPr sz="1200">
                <a:solidFill>
                  <a:srgbClr val="1A1D21"/>
                </a:solidFill>
                <a:latin typeface="Helvetica Neue"/>
              </a:rPr>
              <a:t>Kafka: the nine topics and what flows over them</a:t>
            </a:r>
          </a:p>
          <a:p>
            <a:pPr>
              <a:spcAft>
                <a:spcPts val="600"/>
              </a:spcAft>
            </a:pPr>
            <a:r>
              <a:rPr sz="1200" b="1">
                <a:solidFill>
                  <a:srgbClr val="C9A227"/>
                </a:solidFill>
                <a:latin typeface="Helvetica Neue"/>
              </a:rPr>
              <a:t>16  </a:t>
            </a:r>
            <a:r>
              <a:rPr sz="1200">
                <a:solidFill>
                  <a:srgbClr val="1A1D21"/>
                </a:solidFill>
                <a:latin typeface="Helvetica Neue"/>
              </a:rPr>
              <a:t>Datastores and who owns them</a:t>
            </a:r>
          </a:p>
          <a:p>
            <a:pPr>
              <a:spcAft>
                <a:spcPts val="600"/>
              </a:spcAft>
            </a:pPr>
            <a:r>
              <a:rPr sz="1200" b="1">
                <a:solidFill>
                  <a:srgbClr val="C9A227"/>
                </a:solidFill>
                <a:latin typeface="Helvetica Neue"/>
              </a:rPr>
              <a:t>17  </a:t>
            </a:r>
            <a:r>
              <a:rPr sz="1200">
                <a:solidFill>
                  <a:srgbClr val="1A1D21"/>
                </a:solidFill>
                <a:latin typeface="Helvetica Neue"/>
              </a:rPr>
              <a:t>The frontend: designed around services being down</a:t>
            </a:r>
          </a:p>
          <a:p>
            <a:pPr>
              <a:spcAft>
                <a:spcPts val="600"/>
              </a:spcAft>
            </a:pPr>
            <a:r>
              <a:rPr sz="1200" b="1">
                <a:solidFill>
                  <a:srgbClr val="C9A227"/>
                </a:solidFill>
                <a:latin typeface="Helvetica Neue"/>
              </a:rPr>
              <a:t>18  </a:t>
            </a:r>
            <a:r>
              <a:rPr sz="1200">
                <a:solidFill>
                  <a:srgbClr val="1A1D21"/>
                </a:solidFill>
                <a:latin typeface="Helvetica Neue"/>
              </a:rPr>
              <a:t>The corpus, and the traps it plants on purpose</a:t>
            </a:r>
          </a:p>
          <a:p>
            <a:pPr>
              <a:spcAft>
                <a:spcPts val="600"/>
              </a:spcAft>
            </a:pPr>
            <a:r>
              <a:rPr sz="1200" b="1">
                <a:solidFill>
                  <a:srgbClr val="C9A227"/>
                </a:solidFill>
                <a:latin typeface="Helvetica Neue"/>
              </a:rPr>
              <a:t>19  </a:t>
            </a:r>
            <a:r>
              <a:rPr sz="1200">
                <a:solidFill>
                  <a:srgbClr val="1A1D21"/>
                </a:solidFill>
                <a:latin typeface="Helvetica Neue"/>
              </a:rPr>
              <a:t>Running it — two modes, and when to use each</a:t>
            </a:r>
          </a:p>
          <a:p>
            <a:pPr>
              <a:spcAft>
                <a:spcPts val="600"/>
              </a:spcAft>
            </a:pPr>
            <a:r>
              <a:rPr sz="1200" b="1">
                <a:solidFill>
                  <a:srgbClr val="C9A227"/>
                </a:solidFill>
                <a:latin typeface="Helvetica Neue"/>
              </a:rPr>
              <a:t>20  </a:t>
            </a:r>
            <a:r>
              <a:rPr sz="1200">
                <a:solidFill>
                  <a:srgbClr val="1A1D21"/>
                </a:solidFill>
                <a:latin typeface="Helvetica Neue"/>
              </a:rPr>
              <a:t>Sharing one stack — and the delete button you are sharing with it</a:t>
            </a:r>
          </a:p>
          <a:p>
            <a:pPr>
              <a:spcAft>
                <a:spcPts val="600"/>
              </a:spcAft>
            </a:pPr>
            <a:r>
              <a:rPr sz="1200" b="1">
                <a:solidFill>
                  <a:srgbClr val="C9A227"/>
                </a:solidFill>
                <a:latin typeface="Helvetica Neue"/>
              </a:rPr>
              <a:t>21  </a:t>
            </a:r>
            <a:r>
              <a:rPr sz="1200">
                <a:solidFill>
                  <a:srgbClr val="1A1D21"/>
                </a:solidFill>
                <a:latin typeface="Helvetica Neue"/>
              </a:rPr>
              <a:t>Traps that have already cost real time</a:t>
            </a:r>
          </a:p>
          <a:p>
            <a:pPr>
              <a:spcAft>
                <a:spcPts val="600"/>
              </a:spcAft>
            </a:pPr>
            <a:r>
              <a:rPr sz="1200" b="1">
                <a:solidFill>
                  <a:srgbClr val="C9A227"/>
                </a:solidFill>
                <a:latin typeface="Helvetica Neue"/>
              </a:rPr>
              <a:t>22  </a:t>
            </a:r>
            <a:r>
              <a:rPr sz="1200">
                <a:solidFill>
                  <a:srgbClr val="1A1D21"/>
                </a:solidFill>
                <a:latin typeface="Helvetica Neue"/>
              </a:rPr>
              <a:t>Testing and verification</a:t>
            </a:r>
          </a:p>
          <a:p>
            <a:pPr>
              <a:spcAft>
                <a:spcPts val="600"/>
              </a:spcAft>
            </a:pPr>
            <a:r>
              <a:rPr sz="1200" b="1">
                <a:solidFill>
                  <a:srgbClr val="C9A227"/>
                </a:solidFill>
                <a:latin typeface="Helvetica Neue"/>
              </a:rPr>
              <a:t>23  </a:t>
            </a:r>
            <a:r>
              <a:rPr sz="1200">
                <a:solidFill>
                  <a:srgbClr val="1A1D21"/>
                </a:solidFill>
                <a:latin typeface="Helvetica Neue"/>
              </a:rPr>
              <a:t>Current state of your running stack</a:t>
            </a:r>
          </a:p>
          <a:p>
            <a:pPr>
              <a:spcAft>
                <a:spcPts val="600"/>
              </a:spcAft>
            </a:pPr>
            <a:r>
              <a:rPr sz="1200" b="1">
                <a:solidFill>
                  <a:srgbClr val="C9A227"/>
                </a:solidFill>
                <a:latin typeface="Helvetica Neue"/>
              </a:rPr>
              <a:t>24  </a:t>
            </a:r>
            <a:r>
              <a:rPr sz="1200">
                <a:solidFill>
                  <a:srgbClr val="1A1D21"/>
                </a:solidFill>
                <a:latin typeface="Helvetica Neue"/>
              </a:rPr>
              <a:t>A demo script that exercises the whole system</a:t>
            </a:r>
          </a:p>
          <a:p>
            <a:pPr>
              <a:spcAft>
                <a:spcPts val="600"/>
              </a:spcAft>
            </a:pPr>
            <a:r>
              <a:rPr sz="1200" b="1">
                <a:solidFill>
                  <a:srgbClr val="C9A227"/>
                </a:solidFill>
                <a:latin typeface="Helvetica Neue"/>
              </a:rPr>
              <a:t>25  </a:t>
            </a:r>
            <a:r>
              <a:rPr sz="1200">
                <a:solidFill>
                  <a:srgbClr val="1A1D21"/>
                </a:solidFill>
                <a:latin typeface="Helvetica Neue"/>
              </a:rPr>
              <a:t>Design decisions worth defending</a:t>
            </a:r>
          </a:p>
        </p:txBody>
      </p:sp>
      <p:sp>
        <p:nvSpPr>
          <p:cNvPr id="6" name="TextBox 5"/>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7" name="TextBox 6"/>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01   </a:t>
            </a:r>
            <a:r>
              <a:rPr sz="2200" b="1">
                <a:solidFill>
                  <a:srgbClr val="14304A"/>
                </a:solidFill>
                <a:latin typeface="Helvetica Neue"/>
              </a:rPr>
              <a:t>The problem: what eDiscovery actually is</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4114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133856"/>
            <a:ext cx="10902391" cy="694944"/>
          </a:xfrm>
          <a:prstGeom prst="rect">
            <a:avLst/>
          </a:prstGeom>
          <a:noFill/>
        </p:spPr>
        <p:txBody>
          <a:bodyPr wrap="square" lIns="0" rIns="0" tIns="0" bIns="0">
            <a:spAutoFit/>
          </a:bodyPr>
          <a:lstStyle/>
          <a:p>
            <a:pPr>
              <a:lnSpc>
                <a:spcPct val="106000"/>
              </a:lnSpc>
              <a:spcAft>
                <a:spcPts val="200"/>
              </a:spcAft>
            </a:pPr>
            <a:r>
              <a:rPr sz="1450" b="1" i="0">
                <a:solidFill>
                  <a:srgbClr val="37506A"/>
                </a:solidFill>
                <a:latin typeface="Helvetica Neue"/>
              </a:rPr>
              <a:t>When an organisation is sued or investigated, it must produce its own internal communications as evidence. DiscoveryHub is the system that makes that possible, and — just as importantly — provable.</a:t>
            </a:r>
          </a:p>
        </p:txBody>
      </p:sp>
      <p:sp>
        <p:nvSpPr>
          <p:cNvPr id="6" name="TextBox 5"/>
          <p:cNvSpPr txBox="1"/>
          <p:nvPr/>
        </p:nvSpPr>
        <p:spPr>
          <a:xfrm>
            <a:off x="566928" y="1920240"/>
            <a:ext cx="11057839" cy="502920"/>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The hard part is not storing email. It is that four obligations pull against each other, and the system has to satisfy all of them at once:</a:t>
            </a:r>
          </a:p>
        </p:txBody>
      </p:sp>
      <p:graphicFrame>
        <p:nvGraphicFramePr>
          <p:cNvPr id="7" name="Table 6"/>
          <p:cNvGraphicFramePr>
            <a:graphicFrameLocks noGrp="1"/>
          </p:cNvGraphicFramePr>
          <p:nvPr/>
        </p:nvGraphicFramePr>
        <p:xfrm>
          <a:off x="566928" y="2514600"/>
          <a:ext cx="11057838" cy="1709928"/>
        </p:xfrm>
        <a:graphic>
          <a:graphicData uri="http://schemas.openxmlformats.org/drawingml/2006/table">
            <a:tbl>
              <a:tblPr firstRow="1">
                <a:tableStyleId>{5C22544A-7EE6-4342-B048-85BDC9FD1C3A}</a:tableStyleId>
              </a:tblPr>
              <a:tblGrid>
                <a:gridCol w="1041680"/>
                <a:gridCol w="5689178"/>
                <a:gridCol w="4326980"/>
              </a:tblGrid>
              <a:tr h="274320">
                <a:tc>
                  <a:txBody>
                    <a:bodyPr wrap="square"/>
                    <a:lstStyle/>
                    <a:p>
                      <a:pPr algn="l">
                        <a:lnSpc>
                          <a:spcPct val="104000"/>
                        </a:lnSpc>
                      </a:pPr>
                      <a:r>
                        <a:rPr sz="1050" b="1" i="0">
                          <a:solidFill>
                            <a:srgbClr val="FFFFFF"/>
                          </a:solidFill>
                          <a:latin typeface="Helvetica Neue"/>
                        </a:rPr>
                        <a:t>Obligation</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What it demands</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What it fights with</a:t>
                      </a:r>
                    </a:p>
                  </a:txBody>
                  <a:tcPr marL="64008" marR="64008" marT="32004" marB="32004" anchor="t">
                    <a:solidFill>
                      <a:srgbClr val="1F4E79"/>
                    </a:solidFill>
                  </a:tcPr>
                </a:tc>
              </a:tr>
              <a:tr h="438912">
                <a:tc>
                  <a:txBody>
                    <a:bodyPr wrap="square"/>
                    <a:lstStyle/>
                    <a:p>
                      <a:pPr algn="l">
                        <a:lnSpc>
                          <a:spcPct val="104000"/>
                        </a:lnSpc>
                      </a:pPr>
                      <a:r>
                        <a:rPr sz="1050" b="0" i="0">
                          <a:solidFill>
                            <a:srgbClr val="1A1D21"/>
                          </a:solidFill>
                          <a:latin typeface="Helvetica Neue"/>
                        </a:rPr>
                        <a:t>Preservation</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Once litigation is foreseeable, relevant messages must not be destroyed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Retention — which exists to destroy data on a schedule</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Retention</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Data past its legal retention period must be disposed of</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Preservation — a hold freezes the clock</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Production</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Hand the other side a complete, unaltered evidence set</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Volume — 12,000 messages is a small matter</a:t>
                      </a:r>
                    </a:p>
                  </a:txBody>
                  <a:tcPr marL="64008" marR="64008" marT="32004" marB="32004" anchor="t">
                    <a:solidFill>
                      <a:srgbClr val="FFFFFF"/>
                    </a:solidFill>
                  </a:tcPr>
                </a:tc>
              </a:tr>
              <a:tr h="438912">
                <a:tc>
                  <a:txBody>
                    <a:bodyPr wrap="square"/>
                    <a:lstStyle/>
                    <a:p>
                      <a:pPr algn="l">
                        <a:lnSpc>
                          <a:spcPct val="104000"/>
                        </a:lnSpc>
                      </a:pPr>
                      <a:r>
                        <a:rPr sz="1050" b="0" i="0">
                          <a:solidFill>
                            <a:srgbClr val="1A1D21"/>
                          </a:solidFill>
                          <a:latin typeface="Helvetica Neue"/>
                        </a:rPr>
                        <a:t>Defensibility</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Prove what you did, when, and who did it</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Everything — every action has to leave a record</a:t>
                      </a:r>
                    </a:p>
                  </a:txBody>
                  <a:tcPr marL="64008" marR="64008" marT="32004" marB="32004" anchor="t">
                    <a:solidFill>
                      <a:srgbClr val="F4F7FA"/>
                    </a:solidFill>
                  </a:tcPr>
                </a:tc>
              </a:tr>
            </a:tbl>
          </a:graphicData>
        </a:graphic>
      </p:graphicFrame>
      <p:sp>
        <p:nvSpPr>
          <p:cNvPr id="8" name="TextBox 7"/>
          <p:cNvSpPr txBox="1"/>
          <p:nvPr/>
        </p:nvSpPr>
        <p:spPr>
          <a:xfrm>
            <a:off x="566928" y="4498848"/>
            <a:ext cx="11057839" cy="699516"/>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The consequence of getting this wrong is not a bug report. Destroying evidence under a legal hold is spoliation: sanctions, adverse inference instructions, in some jurisdictions criminal exposure. That is why so much of this system's design is about refusing to act when it is not certain.</a:t>
            </a:r>
          </a:p>
        </p:txBody>
      </p:sp>
      <p:sp>
        <p:nvSpPr>
          <p:cNvPr id="9" name="Rectangle 8"/>
          <p:cNvSpPr/>
          <p:nvPr/>
        </p:nvSpPr>
        <p:spPr>
          <a:xfrm>
            <a:off x="566928" y="5289804"/>
            <a:ext cx="11057839" cy="576072"/>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5289804"/>
            <a:ext cx="50292" cy="5760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5390388"/>
            <a:ext cx="10710367" cy="374904"/>
          </a:xfrm>
          <a:prstGeom prst="rect">
            <a:avLst/>
          </a:prstGeom>
          <a:noFill/>
        </p:spPr>
        <p:txBody>
          <a:bodyPr wrap="square" lIns="0" rIns="0" tIns="0" bIns="0">
            <a:spAutoFit/>
          </a:bodyPr>
          <a:lstStyle/>
          <a:p>
            <a:pPr>
              <a:lnSpc>
                <a:spcPct val="106000"/>
              </a:lnSpc>
              <a:spcAft>
                <a:spcPts val="200"/>
              </a:spcAft>
            </a:pPr>
            <a:r>
              <a:rPr sz="1200" b="0" i="0">
                <a:solidFill>
                  <a:srgbClr val="5C4500"/>
                </a:solidFill>
                <a:latin typeface="Helvetica Neue"/>
              </a:rPr>
              <a:t>The single design rule that explains most of the codebase: when the system cannot verify whether a message is protected, it treats the message as protected. Every hold path fails closed. Over-preserving costs storage; under-preserving costs the case.</a:t>
            </a:r>
          </a:p>
        </p:txBody>
      </p:sp>
      <p:sp>
        <p:nvSpPr>
          <p:cNvPr id="12" name="TextBox 11"/>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13" name="TextBox 12"/>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02   </a:t>
            </a:r>
            <a:r>
              <a:rPr sz="2200" b="1">
                <a:solidFill>
                  <a:srgbClr val="14304A"/>
                </a:solidFill>
                <a:latin typeface="Helvetica Neue"/>
              </a:rPr>
              <a:t>The lifecycle the system models</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306323"/>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Every service exists to serve one step of a single end-to-end flow. This is the demo script, and it is also the architecture:</a:t>
            </a:r>
          </a:p>
        </p:txBody>
      </p:sp>
      <p:sp>
        <p:nvSpPr>
          <p:cNvPr id="5" name="Rectangle 4"/>
          <p:cNvSpPr/>
          <p:nvPr/>
        </p:nvSpPr>
        <p:spPr>
          <a:xfrm>
            <a:off x="566928" y="1531619"/>
            <a:ext cx="11057839" cy="3223259"/>
          </a:xfrm>
          <a:prstGeom prst="rect">
            <a:avLst/>
          </a:prstGeom>
          <a:solidFill>
            <a:srgbClr val="F7F9FB"/>
          </a:solidFill>
          <a:ln w="9525">
            <a:solidFill>
              <a:srgbClr val="DD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623060"/>
            <a:ext cx="10765231" cy="3040379"/>
          </a:xfrm>
          <a:prstGeom prst="rect">
            <a:avLst/>
          </a:prstGeom>
          <a:noFill/>
        </p:spPr>
        <p:txBody>
          <a:bodyPr wrap="none" lIns="0" rIns="0" tIns="0" bIns="0">
            <a:spAutoFit/>
          </a:bodyPr>
          <a:lstStyle/>
          <a:p>
            <a:pPr>
              <a:lnSpc>
                <a:spcPct val="100000"/>
              </a:lnSpc>
              <a:spcAft>
                <a:spcPts val="0"/>
              </a:spcAft>
            </a:pPr>
            <a:r>
              <a:rPr sz="900">
                <a:solidFill>
                  <a:srgbClr val="37506A"/>
                </a:solidFill>
                <a:latin typeface="Menlo"/>
              </a:rPr>
              <a:t>  generate  ──▶  ingest  ──▶  archive  ──▶  index</a:t>
            </a:r>
          </a:p>
          <a:p>
            <a:pPr>
              <a:lnSpc>
                <a:spcPct val="100000"/>
              </a:lnSpc>
              <a:spcAft>
                <a:spcPts val="0"/>
              </a:spcAft>
            </a:pPr>
            <a:r>
              <a:rPr sz="900">
                <a:solidFill>
                  <a:srgbClr val="37506A"/>
                </a:solidFill>
                <a:latin typeface="Menlo"/>
              </a:rPr>
              <a:t>  (corpus)       (P1)         (P2)          (P3)</a:t>
            </a:r>
          </a:p>
          <a:p>
            <a:pPr>
              <a:lnSpc>
                <a:spcPct val="100000"/>
              </a:lnSpc>
              <a:spcAft>
                <a:spcPts val="0"/>
              </a:spcAft>
            </a:pPr>
            <a:r>
              <a:rPr sz="900">
                <a:solidFill>
                  <a:srgbClr val="37506A"/>
                </a:solidFill>
                <a:latin typeface="Menlo"/>
              </a:rPr>
              <a:t>                                              │</a:t>
            </a:r>
          </a:p>
          <a:p>
            <a:pPr>
              <a:lnSpc>
                <a:spcPct val="100000"/>
              </a:lnSpc>
              <a:spcAft>
                <a:spcPts val="0"/>
              </a:spcAft>
            </a:pPr>
            <a:r>
              <a:rPr sz="900">
                <a:solidFill>
                  <a:srgbClr val="37506A"/>
                </a:solidFill>
                <a:latin typeface="Menlo"/>
              </a:rPr>
              <a:t>                                           search</a:t>
            </a:r>
          </a:p>
          <a:p>
            <a:pPr>
              <a:lnSpc>
                <a:spcPct val="100000"/>
              </a:lnSpc>
              <a:spcAft>
                <a:spcPts val="0"/>
              </a:spcAft>
            </a:pPr>
            <a:r>
              <a:rPr sz="900">
                <a:solidFill>
                  <a:srgbClr val="37506A"/>
                </a:solidFill>
                <a:latin typeface="Menlo"/>
              </a:rPr>
              <a:t>                                              │</a:t>
            </a:r>
          </a:p>
          <a:p>
            <a:pPr>
              <a:lnSpc>
                <a:spcPct val="100000"/>
              </a:lnSpc>
              <a:spcAft>
                <a:spcPts val="0"/>
              </a:spcAft>
            </a:pPr>
            <a:r>
              <a:rPr sz="900">
                <a:solidFill>
                  <a:srgbClr val="37506A"/>
                </a:solidFill>
                <a:latin typeface="Menlo"/>
              </a:rPr>
              <a:t>                                              ▼</a:t>
            </a:r>
          </a:p>
          <a:p>
            <a:pPr>
              <a:lnSpc>
                <a:spcPct val="100000"/>
              </a:lnSpc>
              <a:spcAft>
                <a:spcPts val="0"/>
              </a:spcAft>
            </a:pPr>
            <a:r>
              <a:rPr sz="900">
                <a:solidFill>
                  <a:srgbClr val="37506A"/>
                </a:solidFill>
                <a:latin typeface="Menlo"/>
              </a:rPr>
              <a:t>                                      create a case  (P4 case)</a:t>
            </a:r>
          </a:p>
          <a:p>
            <a:pPr>
              <a:lnSpc>
                <a:spcPct val="100000"/>
              </a:lnSpc>
              <a:spcAft>
                <a:spcPts val="0"/>
              </a:spcAft>
            </a:pPr>
            <a:r>
              <a:rPr sz="900">
                <a:solidFill>
                  <a:srgbClr val="37506A"/>
                </a:solidFill>
                <a:latin typeface="Menlo"/>
              </a:rPr>
              <a:t>                                              │</a:t>
            </a:r>
          </a:p>
          <a:p>
            <a:pPr>
              <a:lnSpc>
                <a:spcPct val="100000"/>
              </a:lnSpc>
              <a:spcAft>
                <a:spcPts val="0"/>
              </a:spcAft>
            </a:pPr>
            <a:r>
              <a:rPr sz="900">
                <a:solidFill>
                  <a:srgbClr val="37506A"/>
                </a:solidFill>
                <a:latin typeface="Menlo"/>
              </a:rPr>
              <a:t>                                     place a legal hold  (P4 hold)</a:t>
            </a:r>
          </a:p>
          <a:p>
            <a:pPr>
              <a:lnSpc>
                <a:spcPct val="100000"/>
              </a:lnSpc>
              <a:spcAft>
                <a:spcPts val="0"/>
              </a:spcAft>
            </a:pPr>
            <a:r>
              <a:rPr sz="900">
                <a:solidFill>
                  <a:srgbClr val="37506A"/>
                </a:solidFill>
                <a:latin typeface="Menlo"/>
              </a:rPr>
              <a:t>                                              │</a:t>
            </a:r>
          </a:p>
          <a:p>
            <a:pPr>
              <a:lnSpc>
                <a:spcPct val="100000"/>
              </a:lnSpc>
              <a:spcAft>
                <a:spcPts val="0"/>
              </a:spcAft>
            </a:pPr>
            <a:r>
              <a:rPr sz="900">
                <a:solidFill>
                  <a:srgbClr val="37506A"/>
                </a:solidFill>
                <a:latin typeface="Menlo"/>
              </a:rPr>
              <a:t>                            ┌─────────────────┴─────────────────┐</a:t>
            </a:r>
          </a:p>
          <a:p>
            <a:pPr>
              <a:lnSpc>
                <a:spcPct val="100000"/>
              </a:lnSpc>
              <a:spcAft>
                <a:spcPts val="0"/>
              </a:spcAft>
            </a:pPr>
            <a:r>
              <a:rPr sz="900">
                <a:solidFill>
                  <a:srgbClr val="37506A"/>
                </a:solidFill>
                <a:latin typeface="Menlo"/>
              </a:rPr>
              <a:t>                            ▼                                   ▼</a:t>
            </a:r>
          </a:p>
          <a:p>
            <a:pPr>
              <a:lnSpc>
                <a:spcPct val="100000"/>
              </a:lnSpc>
              <a:spcAft>
                <a:spcPts val="0"/>
              </a:spcAft>
            </a:pPr>
            <a:r>
              <a:rPr sz="900">
                <a:solidFill>
                  <a:srgbClr val="37506A"/>
                </a:solidFill>
                <a:latin typeface="Menlo"/>
              </a:rPr>
              <a:t>                  deletion is refused                  export a package</a:t>
            </a:r>
          </a:p>
          <a:p>
            <a:pPr>
              <a:lnSpc>
                <a:spcPct val="100000"/>
              </a:lnSpc>
              <a:spcAft>
                <a:spcPts val="0"/>
              </a:spcAft>
            </a:pPr>
            <a:r>
              <a:rPr sz="900">
                <a:solidFill>
                  <a:srgbClr val="37506A"/>
                </a:solidFill>
                <a:latin typeface="Menlo"/>
              </a:rPr>
              <a:t>                      (P2, P2.2)                            (P5)</a:t>
            </a:r>
          </a:p>
          <a:p>
            <a:pPr>
              <a:lnSpc>
                <a:spcPct val="100000"/>
              </a:lnSpc>
              <a:spcAft>
                <a:spcPts val="0"/>
              </a:spcAft>
            </a:pPr>
            <a:r>
              <a:rPr sz="900">
                <a:solidFill>
                  <a:srgbClr val="37506A"/>
                </a:solidFill>
                <a:latin typeface="Menlo"/>
              </a:rPr>
              <a:t>                            │                                   │</a:t>
            </a:r>
          </a:p>
          <a:p>
            <a:pPr>
              <a:lnSpc>
                <a:spcPct val="100000"/>
              </a:lnSpc>
              <a:spcAft>
                <a:spcPts val="0"/>
              </a:spcAft>
            </a:pPr>
            <a:r>
              <a:rPr sz="900">
                <a:solidFill>
                  <a:srgbClr val="37506A"/>
                </a:solidFill>
                <a:latin typeface="Menlo"/>
              </a:rPr>
              <a:t>                            └────────────┬──────────────────────┘</a:t>
            </a:r>
          </a:p>
          <a:p>
            <a:pPr>
              <a:lnSpc>
                <a:spcPct val="100000"/>
              </a:lnSpc>
              <a:spcAft>
                <a:spcPts val="0"/>
              </a:spcAft>
            </a:pPr>
            <a:r>
              <a:rPr sz="900">
                <a:solidFill>
                  <a:srgbClr val="37506A"/>
                </a:solidFill>
                <a:latin typeface="Menlo"/>
              </a:rPr>
              <a:t>                                         ▼</a:t>
            </a:r>
          </a:p>
          <a:p>
            <a:pPr>
              <a:lnSpc>
                <a:spcPct val="100000"/>
              </a:lnSpc>
              <a:spcAft>
                <a:spcPts val="0"/>
              </a:spcAft>
            </a:pPr>
            <a:r>
              <a:rPr sz="900">
                <a:solidFill>
                  <a:srgbClr val="37506A"/>
                </a:solidFill>
                <a:latin typeface="Menlo"/>
              </a:rPr>
              <a:t>                             verify checksums · audit trail</a:t>
            </a:r>
          </a:p>
          <a:p>
            <a:pPr>
              <a:lnSpc>
                <a:spcPct val="100000"/>
              </a:lnSpc>
              <a:spcAft>
                <a:spcPts val="0"/>
              </a:spcAft>
            </a:pPr>
            <a:r>
              <a:rPr sz="900">
                <a:solidFill>
                  <a:srgbClr val="37506A"/>
                </a:solidFill>
                <a:latin typeface="Menlo"/>
              </a:rPr>
              <a:t>                                        (P5)</a:t>
            </a:r>
          </a:p>
        </p:txBody>
      </p:sp>
      <p:sp>
        <p:nvSpPr>
          <p:cNvPr id="7" name="TextBox 6"/>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8" name="TextBox 7"/>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02   </a:t>
            </a:r>
            <a:r>
              <a:rPr sz="2200" b="1">
                <a:solidFill>
                  <a:srgbClr val="14304A"/>
                </a:solidFill>
                <a:latin typeface="Helvetica Neue"/>
              </a:rPr>
              <a:t>The lifecycle the system models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133856"/>
          <a:ext cx="11057837" cy="2505456"/>
        </p:xfrm>
        <a:graphic>
          <a:graphicData uri="http://schemas.openxmlformats.org/drawingml/2006/table">
            <a:tbl>
              <a:tblPr firstRow="1">
                <a:tableStyleId>{5C22544A-7EE6-4342-B048-85BDC9FD1C3A}</a:tableStyleId>
              </a:tblPr>
              <a:tblGrid>
                <a:gridCol w="5187628"/>
                <a:gridCol w="3276396"/>
                <a:gridCol w="955615"/>
                <a:gridCol w="1638198"/>
              </a:tblGrid>
              <a:tr h="274320">
                <a:tc>
                  <a:txBody>
                    <a:bodyPr wrap="square"/>
                    <a:lstStyle/>
                    <a:p>
                      <a:pPr algn="l">
                        <a:lnSpc>
                          <a:spcPct val="104000"/>
                        </a:lnSpc>
                      </a:pPr>
                      <a:r>
                        <a:rPr sz="1050" b="1" i="0">
                          <a:solidFill>
                            <a:srgbClr val="FFFFFF"/>
                          </a:solidFill>
                          <a:latin typeface="Helvetica Neue"/>
                        </a:rPr>
                        <a:t>Step</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Service</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Port</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Requirement</a:t>
                      </a:r>
                    </a:p>
                  </a:txBody>
                  <a:tcPr marL="64008" marR="64008" marT="32004" marB="32004" anchor="t">
                    <a:solidFill>
                      <a:srgbClr val="1F4E79"/>
                    </a:solidFill>
                  </a:tcPr>
                </a:tc>
              </a:tr>
              <a:tr h="278892">
                <a:tc>
                  <a:txBody>
                    <a:bodyPr wrap="square"/>
                    <a:lstStyle/>
                    <a:p>
                      <a:pPr algn="l">
                        <a:lnSpc>
                          <a:spcPct val="104000"/>
                        </a:lnSpc>
                      </a:pPr>
                      <a:r>
                        <a:rPr sz="1050" b="0" i="0">
                          <a:solidFill>
                            <a:srgbClr val="1A1D21"/>
                          </a:solidFill>
                          <a:latin typeface="Helvetica Neue"/>
                        </a:rPr>
                        <a:t>Accept communications, dedupe, publish</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P1 ingestion-service</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8081</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FR-1</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Store durably — system of record</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P2 storage-service</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8082</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FR-1, FR-4.6</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Index and full-text search</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P3 search-service</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8083</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FR-3</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Case lifecycle, custodians, evidence</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P4 case-service</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8084</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FR-2</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Legal hold, scope resolution</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P4 hold-service</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8086</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FR-4</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Evidence export + chain of custody</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P5 export-service</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8085</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FR-6, FR-7</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Retention and disposition</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P2.2 disposition-service</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8087</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FR-5</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Operator UI</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frontend (Angular)</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4200</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FR-8</a:t>
                      </a:r>
                    </a:p>
                  </a:txBody>
                  <a:tcPr marL="64008" marR="64008" marT="32004" marB="32004" anchor="t">
                    <a:solidFill>
                      <a:srgbClr val="F4F7FA"/>
                    </a:solidFill>
                  </a:tcPr>
                </a:tc>
              </a:tr>
            </a:tbl>
          </a:graphicData>
        </a:graphic>
      </p:graphicFrame>
      <p:sp>
        <p:nvSpPr>
          <p:cNvPr id="5" name="TextBox 4"/>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6" name="TextBox 5"/>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03   </a:t>
            </a:r>
            <a:r>
              <a:rPr sz="2200" b="1">
                <a:solidFill>
                  <a:srgbClr val="14304A"/>
                </a:solidFill>
                <a:latin typeface="Helvetica Neue"/>
              </a:rPr>
              <a:t>Architecture at a glance</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4114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133856"/>
            <a:ext cx="10902391" cy="694944"/>
          </a:xfrm>
          <a:prstGeom prst="rect">
            <a:avLst/>
          </a:prstGeom>
          <a:noFill/>
        </p:spPr>
        <p:txBody>
          <a:bodyPr wrap="square" lIns="0" rIns="0" tIns="0" bIns="0">
            <a:spAutoFit/>
          </a:bodyPr>
          <a:lstStyle/>
          <a:p>
            <a:pPr>
              <a:lnSpc>
                <a:spcPct val="106000"/>
              </a:lnSpc>
              <a:spcAft>
                <a:spcPts val="200"/>
              </a:spcAft>
            </a:pPr>
            <a:r>
              <a:rPr sz="1450" b="1" i="0">
                <a:solidFill>
                  <a:srgbClr val="37506A"/>
                </a:solidFill>
                <a:latin typeface="Helvetica Neue"/>
              </a:rPr>
              <a:t>Seven Spring Boot services, each owning its own datastore, coordinating over Kafka for anything asynchronous and HTTP for anything that must be answered now.</a:t>
            </a:r>
          </a:p>
        </p:txBody>
      </p:sp>
      <p:sp>
        <p:nvSpPr>
          <p:cNvPr id="6" name="Rectangle 5"/>
          <p:cNvSpPr/>
          <p:nvPr/>
        </p:nvSpPr>
        <p:spPr>
          <a:xfrm>
            <a:off x="566928" y="1920240"/>
            <a:ext cx="11057839" cy="3063239"/>
          </a:xfrm>
          <a:prstGeom prst="rect">
            <a:avLst/>
          </a:prstGeom>
          <a:solidFill>
            <a:srgbClr val="F7F9FB"/>
          </a:solidFill>
          <a:ln w="9525">
            <a:solidFill>
              <a:srgbClr val="DD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11680"/>
            <a:ext cx="10765231" cy="2880359"/>
          </a:xfrm>
          <a:prstGeom prst="rect">
            <a:avLst/>
          </a:prstGeom>
          <a:noFill/>
        </p:spPr>
        <p:txBody>
          <a:bodyPr wrap="none" lIns="0" rIns="0" tIns="0" bIns="0">
            <a:spAutoFit/>
          </a:bodyPr>
          <a:lstStyle/>
          <a:p>
            <a:pPr>
              <a:lnSpc>
                <a:spcPct val="100000"/>
              </a:lnSpc>
              <a:spcAft>
                <a:spcPts val="0"/>
              </a:spcAft>
            </a:pPr>
            <a:r>
              <a:rPr sz="900">
                <a:solidFill>
                  <a:srgbClr val="37506A"/>
                </a:solidFill>
                <a:latin typeface="Menlo"/>
              </a:rPr>
              <a:t>                             ┌──────────────────────────┐</a:t>
            </a:r>
          </a:p>
          <a:p>
            <a:pPr>
              <a:lnSpc>
                <a:spcPct val="100000"/>
              </a:lnSpc>
              <a:spcAft>
                <a:spcPts val="0"/>
              </a:spcAft>
            </a:pPr>
            <a:r>
              <a:rPr sz="900">
                <a:solidFill>
                  <a:srgbClr val="37506A"/>
                </a:solidFill>
                <a:latin typeface="Menlo"/>
              </a:rPr>
              <a:t>                             │   Angular UI  :4200      │</a:t>
            </a:r>
          </a:p>
          <a:p>
            <a:pPr>
              <a:lnSpc>
                <a:spcPct val="100000"/>
              </a:lnSpc>
              <a:spcAft>
                <a:spcPts val="0"/>
              </a:spcAft>
            </a:pPr>
            <a:r>
              <a:rPr sz="900">
                <a:solidFill>
                  <a:srgbClr val="37506A"/>
                </a:solidFill>
                <a:latin typeface="Menlo"/>
              </a:rPr>
              <a:t>                             └────────────┬─────────────┘</a:t>
            </a:r>
          </a:p>
          <a:p>
            <a:pPr>
              <a:lnSpc>
                <a:spcPct val="100000"/>
              </a:lnSpc>
              <a:spcAft>
                <a:spcPts val="0"/>
              </a:spcAft>
            </a:pPr>
            <a:r>
              <a:rPr sz="900">
                <a:solidFill>
                  <a:srgbClr val="37506A"/>
                </a:solidFill>
                <a:latin typeface="Menlo"/>
              </a:rPr>
              <a:t>         ┌──────────┬──────────┬──────────┼──────────┬──────────┬──────────┐</a:t>
            </a:r>
          </a:p>
          <a:p>
            <a:pPr>
              <a:lnSpc>
                <a:spcPct val="100000"/>
              </a:lnSpc>
              <a:spcAft>
                <a:spcPts val="0"/>
              </a:spcAft>
            </a:pPr>
            <a:r>
              <a:rPr sz="900">
                <a:solidFill>
                  <a:srgbClr val="37506A"/>
                </a:solidFill>
                <a:latin typeface="Menlo"/>
              </a:rPr>
              <a:t>         ▼          ▼          ▼          ▼          ▼          ▼          ▼</a:t>
            </a:r>
          </a:p>
          <a:p>
            <a:pPr>
              <a:lnSpc>
                <a:spcPct val="100000"/>
              </a:lnSpc>
              <a:spcAft>
                <a:spcPts val="0"/>
              </a:spcAft>
            </a:pPr>
            <a:r>
              <a:rPr sz="900">
                <a:solidFill>
                  <a:srgbClr val="37506A"/>
                </a:solidFill>
                <a:latin typeface="Menlo"/>
              </a:rPr>
              <a:t>      ┌─────┐    ┌─────┐    ┌─────┐    ┌─────┐    ┌─────┐    ┌─────┐    ┌─────┐</a:t>
            </a:r>
          </a:p>
          <a:p>
            <a:pPr>
              <a:lnSpc>
                <a:spcPct val="100000"/>
              </a:lnSpc>
              <a:spcAft>
                <a:spcPts val="0"/>
              </a:spcAft>
            </a:pPr>
            <a:r>
              <a:rPr sz="900">
                <a:solidFill>
                  <a:srgbClr val="37506A"/>
                </a:solidFill>
                <a:latin typeface="Menlo"/>
              </a:rPr>
              <a:t>      │ P1  │    │ P2  │    │ P3  │    │ P4c │    │ P4h │    │ P5  │    │P2.2 │</a:t>
            </a:r>
          </a:p>
          <a:p>
            <a:pPr>
              <a:lnSpc>
                <a:spcPct val="100000"/>
              </a:lnSpc>
              <a:spcAft>
                <a:spcPts val="0"/>
              </a:spcAft>
            </a:pPr>
            <a:r>
              <a:rPr sz="900">
                <a:solidFill>
                  <a:srgbClr val="37506A"/>
                </a:solidFill>
                <a:latin typeface="Menlo"/>
              </a:rPr>
              <a:t>      │8081 │    │8082 │    │8083 │    │8084 │    │8086 │    │8085 │    │8087 │</a:t>
            </a:r>
          </a:p>
          <a:p>
            <a:pPr>
              <a:lnSpc>
                <a:spcPct val="100000"/>
              </a:lnSpc>
              <a:spcAft>
                <a:spcPts val="0"/>
              </a:spcAft>
            </a:pPr>
            <a:r>
              <a:rPr sz="900">
                <a:solidFill>
                  <a:srgbClr val="37506A"/>
                </a:solidFill>
                <a:latin typeface="Menlo"/>
              </a:rPr>
              <a:t>      └──┬──┘    └──┬──┘    └──┬──┘    └──┬──┘    └──┬──┘    └──┬──┘    └──┬──┘</a:t>
            </a:r>
          </a:p>
          <a:p>
            <a:pPr>
              <a:lnSpc>
                <a:spcPct val="100000"/>
              </a:lnSpc>
              <a:spcAft>
                <a:spcPts val="0"/>
              </a:spcAft>
            </a:pPr>
            <a:r>
              <a:rPr sz="900">
                <a:solidFill>
                  <a:srgbClr val="37506A"/>
                </a:solidFill>
                <a:latin typeface="Menlo"/>
              </a:rPr>
              <a:t>         │          │          │          │          │          │          │</a:t>
            </a:r>
          </a:p>
          <a:p>
            <a:pPr>
              <a:lnSpc>
                <a:spcPct val="100000"/>
              </a:lnSpc>
              <a:spcAft>
                <a:spcPts val="0"/>
              </a:spcAft>
            </a:pPr>
            <a:r>
              <a:rPr sz="900">
                <a:solidFill>
                  <a:srgbClr val="37506A"/>
                </a:solidFill>
                <a:latin typeface="Menlo"/>
              </a:rPr>
              <a:t>      Redis      Mongo       Elastic   Postgres   Postgres   Postgres   Postgres</a:t>
            </a:r>
          </a:p>
          <a:p>
            <a:pPr>
              <a:lnSpc>
                <a:spcPct val="100000"/>
              </a:lnSpc>
              <a:spcAft>
                <a:spcPts val="0"/>
              </a:spcAft>
            </a:pPr>
            <a:r>
              <a:rPr sz="900">
                <a:solidFill>
                  <a:srgbClr val="37506A"/>
                </a:solidFill>
                <a:latin typeface="Menlo"/>
              </a:rPr>
              <a:t>      Postgres   Postgres    search     cases      holds      audit    disposition</a:t>
            </a:r>
          </a:p>
          <a:p>
            <a:pPr>
              <a:lnSpc>
                <a:spcPct val="100000"/>
              </a:lnSpc>
              <a:spcAft>
                <a:spcPts val="0"/>
              </a:spcAft>
            </a:pPr>
            <a:r>
              <a:rPr sz="900">
                <a:solidFill>
                  <a:srgbClr val="37506A"/>
                </a:solidFill>
                <a:latin typeface="Menlo"/>
              </a:rPr>
              <a:t>      ingestion  archive-                                     + MinIO</a:t>
            </a:r>
          </a:p>
          <a:p>
            <a:pPr>
              <a:lnSpc>
                <a:spcPct val="100000"/>
              </a:lnSpc>
              <a:spcAft>
                <a:spcPts val="0"/>
              </a:spcAft>
            </a:pPr>
            <a:r>
              <a:rPr sz="900">
                <a:solidFill>
                  <a:srgbClr val="37506A"/>
                </a:solidFill>
                <a:latin typeface="Menlo"/>
              </a:rPr>
              <a:t>                 meta</a:t>
            </a:r>
          </a:p>
          <a:p>
            <a:pPr>
              <a:lnSpc>
                <a:spcPct val="100000"/>
              </a:lnSpc>
              <a:spcAft>
                <a:spcPts val="0"/>
              </a:spcAft>
            </a:pPr>
            <a:r>
              <a:rPr sz="900">
                <a:solidFill>
                  <a:srgbClr val="37506A"/>
                </a:solidFill>
                <a:latin typeface="Menlo"/>
              </a:rPr>
              <a:t>         │          │          │          │          │          │          │</a:t>
            </a:r>
          </a:p>
          <a:p>
            <a:pPr>
              <a:lnSpc>
                <a:spcPct val="100000"/>
              </a:lnSpc>
              <a:spcAft>
                <a:spcPts val="0"/>
              </a:spcAft>
            </a:pPr>
            <a:r>
              <a:rPr sz="900">
                <a:solidFill>
                  <a:srgbClr val="37506A"/>
                </a:solidFill>
                <a:latin typeface="Menlo"/>
              </a:rPr>
              <a:t>         └──────────┴──────────┴────┬─────┴──────────┴──────────┴──────────┘</a:t>
            </a:r>
          </a:p>
          <a:p>
            <a:pPr>
              <a:lnSpc>
                <a:spcPct val="100000"/>
              </a:lnSpc>
              <a:spcAft>
                <a:spcPts val="0"/>
              </a:spcAft>
            </a:pPr>
            <a:r>
              <a:rPr sz="900">
                <a:solidFill>
                  <a:srgbClr val="37506A"/>
                </a:solidFill>
                <a:latin typeface="Menlo"/>
              </a:rPr>
              <a:t>                                    ▼</a:t>
            </a:r>
          </a:p>
          <a:p>
            <a:pPr>
              <a:lnSpc>
                <a:spcPct val="100000"/>
              </a:lnSpc>
              <a:spcAft>
                <a:spcPts val="0"/>
              </a:spcAft>
            </a:pPr>
            <a:r>
              <a:rPr sz="900">
                <a:solidFill>
                  <a:srgbClr val="37506A"/>
                </a:solidFill>
                <a:latin typeface="Menlo"/>
              </a:rPr>
              <a:t>                      Kafka — 9 topics, auto-create OFF</a:t>
            </a:r>
          </a:p>
        </p:txBody>
      </p:sp>
      <p:sp>
        <p:nvSpPr>
          <p:cNvPr id="8" name="TextBox 7"/>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9" name="TextBox 8"/>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03   </a:t>
            </a:r>
            <a:r>
              <a:rPr sz="2200" b="1">
                <a:solidFill>
                  <a:srgbClr val="14304A"/>
                </a:solidFill>
                <a:latin typeface="Helvetica Neue"/>
              </a:rPr>
              <a:t>Architecture at a glance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1865376"/>
          </a:xfrm>
          <a:prstGeom prst="rect">
            <a:avLst/>
          </a:prstGeom>
          <a:noFill/>
        </p:spPr>
        <p:txBody>
          <a:bodyPr wrap="square" lIns="0" rIns="0" tIns="0" bIns="0">
            <a:spAutoFit/>
          </a:bodyPr>
          <a:lstStyle/>
          <a:p>
            <a:pPr>
              <a:lnSpc>
                <a:spcPct val="106000"/>
              </a:lnSpc>
              <a:spcAft>
                <a:spcPts val="500"/>
              </a:spcAft>
            </a:pPr>
            <a:r>
              <a:rPr sz="1300">
                <a:solidFill>
                  <a:srgbClr val="C9A227"/>
                </a:solidFill>
                <a:latin typeface="Helvetica Neue"/>
              </a:rPr>
              <a:t>▪  </a:t>
            </a:r>
            <a:r>
              <a:rPr sz="1300" b="1" i="0">
                <a:solidFill>
                  <a:srgbClr val="1A1D21"/>
                </a:solidFill>
                <a:latin typeface="Helvetica Neue"/>
              </a:rPr>
              <a:t>Stateless at the edge.</a:t>
            </a:r>
            <a:r>
              <a:rPr sz="1300" b="0" i="0">
                <a:solidFill>
                  <a:srgbClr val="1A1D21"/>
                </a:solidFill>
                <a:latin typeface="Helvetica Neue"/>
              </a:rPr>
              <a:t> P1 accepts and publishes but never stores. FR-1.4 requires that the component accepting messages is not the component storing them, so an archive outage queues in Kafka instead of losing data.</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One datastore, one owner (NFR-1).</a:t>
            </a:r>
            <a:r>
              <a:rPr sz="1300" b="0" i="0">
                <a:solidFill>
                  <a:srgbClr val="1A1D21"/>
                </a:solidFill>
                <a:latin typeface="Helvetica Neue"/>
              </a:rPr>
              <a:t> Six separate PostgreSQL </a:t>
            </a:r>
            <a:r>
              <a:rPr sz="1300" b="0" i="1">
                <a:solidFill>
                  <a:srgbClr val="1A1D21"/>
                </a:solidFill>
                <a:latin typeface="Helvetica Neue"/>
              </a:rPr>
              <a:t>containers</a:t>
            </a:r>
            <a:r>
              <a:rPr sz="1300" b="0" i="0">
                <a:solidFill>
                  <a:srgbClr val="1A1D21"/>
                </a:solidFill>
                <a:latin typeface="Helvetica Neue"/>
              </a:rPr>
              <a:t>, not six schemas in one database. No connection string lets one service read another's tables.</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Async where it can be, sync where it must be.</a:t>
            </a:r>
            <a:r>
              <a:rPr sz="1300" b="0" i="0">
                <a:solidFill>
                  <a:srgbClr val="1A1D21"/>
                </a:solidFill>
                <a:latin typeface="Helvetica Neue"/>
              </a:rPr>
              <a:t> Ingest, indexing, hold fan-out, disposition and export all flow over Kafka. The hold check before a deletion is a synchronous HTTP call, because a stale answer there destroys evidence.</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The contracts module is a library, not a service.</a:t>
            </a:r>
            <a:r>
              <a:rPr sz="1300" b="0" i="0">
                <a:solidFill>
                  <a:srgbClr val="1A1D21"/>
                </a:solidFill>
                <a:latin typeface="Helvetica Neue"/>
              </a:rPr>
              <a:t> It sits outside </a:t>
            </a:r>
            <a:r>
              <a:rPr sz="1300" b="0" i="0">
                <a:solidFill>
                  <a:srgbClr val="9C2C4E"/>
                </a:solidFill>
                <a:latin typeface="Menlo"/>
              </a:rPr>
              <a:t>services/</a:t>
            </a:r>
            <a:r>
              <a:rPr sz="1300" b="0" i="0">
                <a:solidFill>
                  <a:srgbClr val="1A1D21"/>
                </a:solidFill>
                <a:latin typeface="Helvetica Neue"/>
              </a:rPr>
              <a:t> deliberately — every service compiles against it and nothing deploys it.</a:t>
            </a:r>
          </a:p>
        </p:txBody>
      </p:sp>
      <p:sp>
        <p:nvSpPr>
          <p:cNvPr id="5" name="TextBox 4"/>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6" name="TextBox 5"/>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04   </a:t>
            </a:r>
            <a:r>
              <a:rPr sz="2200" b="1">
                <a:solidFill>
                  <a:srgbClr val="14304A"/>
                </a:solidFill>
                <a:latin typeface="Helvetica Neue"/>
              </a:rPr>
              <a:t>The system by the numbers</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133856"/>
          <a:ext cx="11057838" cy="1673352"/>
        </p:xfrm>
        <a:graphic>
          <a:graphicData uri="http://schemas.openxmlformats.org/drawingml/2006/table">
            <a:tbl>
              <a:tblPr>
                <a:tableStyleId>{5C22544A-7EE6-4342-B048-85BDC9FD1C3A}</a:tableStyleId>
              </a:tblPr>
              <a:tblGrid>
                <a:gridCol w="2430294"/>
                <a:gridCol w="2551809"/>
                <a:gridCol w="1944235"/>
                <a:gridCol w="4131500"/>
              </a:tblGrid>
              <a:tr h="278892">
                <a:tc>
                  <a:txBody>
                    <a:bodyPr wrap="square"/>
                    <a:lstStyle/>
                    <a:p>
                      <a:pPr algn="l">
                        <a:lnSpc>
                          <a:spcPct val="104000"/>
                        </a:lnSpc>
                      </a:pPr>
                      <a:r>
                        <a:rPr sz="1050" b="0" i="0">
                          <a:solidFill>
                            <a:srgbClr val="1A1D21"/>
                          </a:solidFill>
                          <a:latin typeface="Helvetica Neue"/>
                        </a:rPr>
                        <a:t>Java modules</a:t>
                      </a:r>
                    </a:p>
                  </a:txBody>
                  <a:tcPr marL="64008" marR="64008" marT="32004" marB="32004" anchor="t">
                    <a:solidFill>
                      <a:srgbClr val="FFFFFF"/>
                    </a:solidFill>
                  </a:tcPr>
                </a:tc>
                <a:tc>
                  <a:txBody>
                    <a:bodyPr wrap="square"/>
                    <a:lstStyle/>
                    <a:p>
                      <a:pPr algn="l">
                        <a:lnSpc>
                          <a:spcPct val="104000"/>
                        </a:lnSpc>
                      </a:pPr>
                      <a:r>
                        <a:rPr sz="1050" b="1" i="0">
                          <a:solidFill>
                            <a:srgbClr val="14304A"/>
                          </a:solidFill>
                          <a:latin typeface="Helvetica Neue"/>
                        </a:rPr>
                        <a:t>9 + parent</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Java source</a:t>
                      </a:r>
                    </a:p>
                  </a:txBody>
                  <a:tcPr marL="64008" marR="64008" marT="32004" marB="32004" anchor="t">
                    <a:solidFill>
                      <a:srgbClr val="FFFFFF"/>
                    </a:solidFill>
                  </a:tcPr>
                </a:tc>
                <a:tc>
                  <a:txBody>
                    <a:bodyPr wrap="square"/>
                    <a:lstStyle/>
                    <a:p>
                      <a:pPr algn="l">
                        <a:lnSpc>
                          <a:spcPct val="104000"/>
                        </a:lnSpc>
                      </a:pPr>
                      <a:r>
                        <a:rPr sz="1050" b="1" i="0">
                          <a:solidFill>
                            <a:srgbClr val="14304A"/>
                          </a:solidFill>
                          <a:latin typeface="Helvetica Neue"/>
                        </a:rPr>
                        <a:t>~17,300 lines</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Java tests</a:t>
                      </a:r>
                    </a:p>
                  </a:txBody>
                  <a:tcPr marL="64008" marR="64008" marT="32004" marB="32004" anchor="t">
                    <a:solidFill>
                      <a:srgbClr val="F4F7FA"/>
                    </a:solidFill>
                  </a:tcPr>
                </a:tc>
                <a:tc>
                  <a:txBody>
                    <a:bodyPr wrap="square"/>
                    <a:lstStyle/>
                    <a:p>
                      <a:pPr algn="l">
                        <a:lnSpc>
                          <a:spcPct val="104000"/>
                        </a:lnSpc>
                      </a:pPr>
                      <a:r>
                        <a:rPr sz="1050" b="1" i="0">
                          <a:solidFill>
                            <a:srgbClr val="14304A"/>
                          </a:solidFill>
                          <a:latin typeface="Helvetica Neue"/>
                        </a:rPr>
                        <a:t>515 @Test in 61 files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Frontend source</a:t>
                      </a:r>
                    </a:p>
                  </a:txBody>
                  <a:tcPr marL="64008" marR="64008" marT="32004" marB="32004" anchor="t">
                    <a:solidFill>
                      <a:srgbClr val="F4F7FA"/>
                    </a:solidFill>
                  </a:tcPr>
                </a:tc>
                <a:tc>
                  <a:txBody>
                    <a:bodyPr wrap="square"/>
                    <a:lstStyle/>
                    <a:p>
                      <a:pPr algn="l">
                        <a:lnSpc>
                          <a:spcPct val="104000"/>
                        </a:lnSpc>
                      </a:pPr>
                      <a:r>
                        <a:rPr sz="1050" b="1" i="0">
                          <a:solidFill>
                            <a:srgbClr val="14304A"/>
                          </a:solidFill>
                          <a:latin typeface="Helvetica Neue"/>
                        </a:rPr>
                        <a:t>~4,400 lines TS</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Frontend spec files</a:t>
                      </a:r>
                    </a:p>
                  </a:txBody>
                  <a:tcPr marL="64008" marR="64008" marT="32004" marB="32004" anchor="t">
                    <a:solidFill>
                      <a:srgbClr val="FFFFFF"/>
                    </a:solidFill>
                  </a:tcPr>
                </a:tc>
                <a:tc>
                  <a:txBody>
                    <a:bodyPr wrap="square"/>
                    <a:lstStyle/>
                    <a:p>
                      <a:pPr algn="l">
                        <a:lnSpc>
                          <a:spcPct val="104000"/>
                        </a:lnSpc>
                      </a:pPr>
                      <a:r>
                        <a:rPr sz="1050" b="1" i="0">
                          <a:solidFill>
                            <a:srgbClr val="14304A"/>
                          </a:solidFill>
                          <a:latin typeface="Helvetica Neue"/>
                        </a:rPr>
                        <a:t>8</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Kafka topics</a:t>
                      </a:r>
                    </a:p>
                  </a:txBody>
                  <a:tcPr marL="64008" marR="64008" marT="32004" marB="32004" anchor="t">
                    <a:solidFill>
                      <a:srgbClr val="FFFFFF"/>
                    </a:solidFill>
                  </a:tcPr>
                </a:tc>
                <a:tc>
                  <a:txBody>
                    <a:bodyPr wrap="square"/>
                    <a:lstStyle/>
                    <a:p>
                      <a:pPr algn="l">
                        <a:lnSpc>
                          <a:spcPct val="104000"/>
                        </a:lnSpc>
                      </a:pPr>
                      <a:r>
                        <a:rPr sz="1050" b="1" i="0">
                          <a:solidFill>
                            <a:srgbClr val="14304A"/>
                          </a:solidFill>
                          <a:latin typeface="Helvetica Neue"/>
                        </a:rPr>
                        <a:t>9</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PostgreSQL instances</a:t>
                      </a:r>
                    </a:p>
                  </a:txBody>
                  <a:tcPr marL="64008" marR="64008" marT="32004" marB="32004" anchor="t">
                    <a:solidFill>
                      <a:srgbClr val="F4F7FA"/>
                    </a:solidFill>
                  </a:tcPr>
                </a:tc>
                <a:tc>
                  <a:txBody>
                    <a:bodyPr wrap="square"/>
                    <a:lstStyle/>
                    <a:p>
                      <a:pPr algn="l">
                        <a:lnSpc>
                          <a:spcPct val="104000"/>
                        </a:lnSpc>
                      </a:pPr>
                      <a:r>
                        <a:rPr sz="1050" b="1" i="0">
                          <a:solidFill>
                            <a:srgbClr val="14304A"/>
                          </a:solidFill>
                          <a:latin typeface="Helvetica Neue"/>
                        </a:rPr>
                        <a:t>6</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Other datastores</a:t>
                      </a:r>
                    </a:p>
                  </a:txBody>
                  <a:tcPr marL="64008" marR="64008" marT="32004" marB="32004" anchor="t">
                    <a:solidFill>
                      <a:srgbClr val="F4F7FA"/>
                    </a:solidFill>
                  </a:tcPr>
                </a:tc>
                <a:tc>
                  <a:txBody>
                    <a:bodyPr wrap="square"/>
                    <a:lstStyle/>
                    <a:p>
                      <a:pPr algn="l">
                        <a:lnSpc>
                          <a:spcPct val="104000"/>
                        </a:lnSpc>
                      </a:pPr>
                      <a:r>
                        <a:rPr sz="1050" b="1" i="0">
                          <a:solidFill>
                            <a:srgbClr val="14304A"/>
                          </a:solidFill>
                          <a:latin typeface="Helvetica Neue"/>
                        </a:rPr>
                        <a:t>Mongo, Elasticsearch, Redis, MinIO</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Flyway migrations</a:t>
                      </a:r>
                    </a:p>
                  </a:txBody>
                  <a:tcPr marL="64008" marR="64008" marT="32004" marB="32004" anchor="t">
                    <a:solidFill>
                      <a:srgbClr val="FFFFFF"/>
                    </a:solidFill>
                  </a:tcPr>
                </a:tc>
                <a:tc>
                  <a:txBody>
                    <a:bodyPr wrap="square"/>
                    <a:lstStyle/>
                    <a:p>
                      <a:pPr algn="l">
                        <a:lnSpc>
                          <a:spcPct val="104000"/>
                        </a:lnSpc>
                      </a:pPr>
                      <a:r>
                        <a:rPr sz="1050" b="1" i="0">
                          <a:solidFill>
                            <a:srgbClr val="14304A"/>
                          </a:solidFill>
                          <a:latin typeface="Helvetica Neue"/>
                        </a:rPr>
                        <a:t>16 across 6 services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REST controllers</a:t>
                      </a:r>
                    </a:p>
                  </a:txBody>
                  <a:tcPr marL="64008" marR="64008" marT="32004" marB="32004" anchor="t">
                    <a:solidFill>
                      <a:srgbClr val="FFFFFF"/>
                    </a:solidFill>
                  </a:tcPr>
                </a:tc>
                <a:tc>
                  <a:txBody>
                    <a:bodyPr wrap="square"/>
                    <a:lstStyle/>
                    <a:p>
                      <a:pPr algn="l">
                        <a:lnSpc>
                          <a:spcPct val="104000"/>
                        </a:lnSpc>
                      </a:pPr>
                      <a:r>
                        <a:rPr sz="1050" b="1" i="0">
                          <a:solidFill>
                            <a:srgbClr val="14304A"/>
                          </a:solidFill>
                          <a:latin typeface="Helvetica Neue"/>
                        </a:rPr>
                        <a:t>13</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Corpus messages</a:t>
                      </a:r>
                    </a:p>
                  </a:txBody>
                  <a:tcPr marL="64008" marR="64008" marT="32004" marB="32004" anchor="t">
                    <a:solidFill>
                      <a:srgbClr val="F4F7FA"/>
                    </a:solidFill>
                  </a:tcPr>
                </a:tc>
                <a:tc>
                  <a:txBody>
                    <a:bodyPr wrap="square"/>
                    <a:lstStyle/>
                    <a:p>
                      <a:pPr algn="l">
                        <a:lnSpc>
                          <a:spcPct val="104000"/>
                        </a:lnSpc>
                      </a:pPr>
                      <a:r>
                        <a:rPr sz="1050" b="1" i="0">
                          <a:solidFill>
                            <a:srgbClr val="14304A"/>
                          </a:solidFill>
                          <a:latin typeface="Helvetica Neue"/>
                        </a:rPr>
                        <a:t>12,000 (+25 re-sends)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Custodians</a:t>
                      </a:r>
                    </a:p>
                  </a:txBody>
                  <a:tcPr marL="64008" marR="64008" marT="32004" marB="32004" anchor="t">
                    <a:solidFill>
                      <a:srgbClr val="F4F7FA"/>
                    </a:solidFill>
                  </a:tcPr>
                </a:tc>
                <a:tc>
                  <a:txBody>
                    <a:bodyPr wrap="square"/>
                    <a:lstStyle/>
                    <a:p>
                      <a:pPr algn="l">
                        <a:lnSpc>
                          <a:spcPct val="104000"/>
                        </a:lnSpc>
                      </a:pPr>
                      <a:r>
                        <a:rPr sz="1050" b="1" i="0">
                          <a:solidFill>
                            <a:srgbClr val="14304A"/>
                          </a:solidFill>
                          <a:latin typeface="Helvetica Neue"/>
                        </a:rPr>
                        <a:t>24</a:t>
                      </a:r>
                    </a:p>
                  </a:txBody>
                  <a:tcPr marL="64008" marR="64008" marT="32004" marB="32004" anchor="t">
                    <a:solidFill>
                      <a:srgbClr val="F4F7FA"/>
                    </a:solidFill>
                  </a:tcPr>
                </a:tc>
              </a:tr>
            </a:tbl>
          </a:graphicData>
        </a:graphic>
      </p:graphicFrame>
      <p:sp>
        <p:nvSpPr>
          <p:cNvPr id="5" name="TextBox 4"/>
          <p:cNvSpPr txBox="1"/>
          <p:nvPr/>
        </p:nvSpPr>
        <p:spPr>
          <a:xfrm>
            <a:off x="566928" y="3044952"/>
            <a:ext cx="11057839" cy="306323"/>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Corpus composition, from </a:t>
            </a:r>
            <a:r>
              <a:rPr sz="1300" b="0" i="0">
                <a:solidFill>
                  <a:srgbClr val="9C2C4E"/>
                </a:solidFill>
                <a:latin typeface="Menlo"/>
              </a:rPr>
              <a:t>fixtures/manifest.json</a:t>
            </a:r>
            <a:r>
              <a:rPr sz="1300" b="0" i="0">
                <a:solidFill>
                  <a:srgbClr val="1A1D21"/>
                </a:solidFill>
                <a:latin typeface="Helvetica Neue"/>
              </a:rPr>
              <a:t> and reproducible with </a:t>
            </a:r>
            <a:r>
              <a:rPr sz="1300" b="0" i="0">
                <a:solidFill>
                  <a:srgbClr val="9C2C4E"/>
                </a:solidFill>
                <a:latin typeface="Menlo"/>
              </a:rPr>
              <a:t>--stats</a:t>
            </a:r>
            <a:r>
              <a:rPr sz="1300" b="0" i="0">
                <a:solidFill>
                  <a:srgbClr val="1A1D21"/>
                </a:solidFill>
                <a:latin typeface="Helvetica Neue"/>
              </a:rPr>
              <a:t>:</a:t>
            </a:r>
          </a:p>
        </p:txBody>
      </p:sp>
      <p:graphicFrame>
        <p:nvGraphicFramePr>
          <p:cNvPr id="6" name="Table 5"/>
          <p:cNvGraphicFramePr>
            <a:graphicFrameLocks noGrp="1"/>
          </p:cNvGraphicFramePr>
          <p:nvPr/>
        </p:nvGraphicFramePr>
        <p:xfrm>
          <a:off x="566928" y="3442716"/>
          <a:ext cx="11057838" cy="2784348"/>
        </p:xfrm>
        <a:graphic>
          <a:graphicData uri="http://schemas.openxmlformats.org/drawingml/2006/table">
            <a:tbl>
              <a:tblPr firstRow="1">
                <a:tableStyleId>{5C22544A-7EE6-4342-B048-85BDC9FD1C3A}</a:tableStyleId>
              </a:tblPr>
              <a:tblGrid>
                <a:gridCol w="2092023"/>
                <a:gridCol w="2490504"/>
                <a:gridCol w="6475311"/>
              </a:tblGrid>
              <a:tr h="274320">
                <a:tc>
                  <a:txBody>
                    <a:bodyPr wrap="square"/>
                    <a:lstStyle/>
                    <a:p>
                      <a:pPr algn="l">
                        <a:lnSpc>
                          <a:spcPct val="104000"/>
                        </a:lnSpc>
                      </a:pPr>
                      <a:r>
                        <a:rPr sz="1050" b="1" i="0">
                          <a:solidFill>
                            <a:srgbClr val="FFFFFF"/>
                          </a:solidFill>
                          <a:latin typeface="Helvetica Neue"/>
                        </a:rPr>
                        <a:t>Property</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Value</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Why it is that value</a:t>
                      </a:r>
                    </a:p>
                  </a:txBody>
                  <a:tcPr marL="64008" marR="64008" marT="32004" marB="32004" anchor="t">
                    <a:solidFill>
                      <a:srgbClr val="1F4E79"/>
                    </a:solidFill>
                  </a:tcPr>
                </a:tc>
              </a:tr>
              <a:tr h="278892">
                <a:tc>
                  <a:txBody>
                    <a:bodyPr wrap="square"/>
                    <a:lstStyle/>
                    <a:p>
                      <a:pPr algn="l">
                        <a:lnSpc>
                          <a:spcPct val="104000"/>
                        </a:lnSpc>
                      </a:pPr>
                      <a:r>
                        <a:rPr sz="1050" b="0" i="0">
                          <a:solidFill>
                            <a:srgbClr val="1A1D21"/>
                          </a:solidFill>
                          <a:latin typeface="Helvetica Neue"/>
                        </a:rPr>
                        <a:t>Unique messages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12,000</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FR-1.2 floor is 10,000</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Deliberate re-sends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25</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So a healthy load sends 12,025 and stores 12,000 — FR-1.6 visible</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Custodians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24, 337–879 messages each</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FR-1.2 floor is 20</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Email / chat</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7,199 / 4,801 (60/40)</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Steered per thread, not sampled — chat threads run longer</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With attachments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1,304 (10.87%)</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FR-1.3 floor is 5%; real bytes with real SHA-256</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Distinct threads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2,880</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Type is constant within a thread</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Date range</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2017-01-03 → 2026-09-04</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Spans the retention cutoffs on purpose</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Past 7-year retention</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2,115</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So disposition has something to delete</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Privileged messages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5</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So the search filter has something real to exclude</a:t>
                      </a:r>
                    </a:p>
                  </a:txBody>
                  <a:tcPr marL="64008" marR="64008" marT="32004" marB="32004" anchor="t">
                    <a:solidFill>
                      <a:srgbClr val="FFFFFF"/>
                    </a:solidFill>
                  </a:tcPr>
                </a:tc>
              </a:tr>
            </a:tbl>
          </a:graphicData>
        </a:graphic>
      </p:graphicFrame>
      <p:sp>
        <p:nvSpPr>
          <p:cNvPr id="7" name="TextBox 6"/>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8" name="TextBox 7"/>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04   </a:t>
            </a:r>
            <a:r>
              <a:rPr sz="2200" b="1">
                <a:solidFill>
                  <a:srgbClr val="14304A"/>
                </a:solidFill>
                <a:latin typeface="Helvetica Neue"/>
              </a:rPr>
              <a:t>The system by the numbers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11057839" cy="772668"/>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133856"/>
            <a:ext cx="50292" cy="77266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234440"/>
            <a:ext cx="10710367" cy="571500"/>
          </a:xfrm>
          <a:prstGeom prst="rect">
            <a:avLst/>
          </a:prstGeom>
          <a:noFill/>
        </p:spPr>
        <p:txBody>
          <a:bodyPr wrap="square" lIns="0" rIns="0" tIns="0" bIns="0">
            <a:spAutoFit/>
          </a:bodyPr>
          <a:lstStyle/>
          <a:p>
            <a:pPr>
              <a:lnSpc>
                <a:spcPct val="106000"/>
              </a:lnSpc>
              <a:spcAft>
                <a:spcPts val="200"/>
              </a:spcAft>
            </a:pPr>
            <a:r>
              <a:rPr sz="1200" b="0" i="0">
                <a:solidFill>
                  <a:srgbClr val="5C4500"/>
                </a:solidFill>
                <a:latin typeface="Helvetica Neue"/>
              </a:rPr>
              <a:t>The generator is deterministic: output is a pure function of </a:t>
            </a:r>
            <a:r>
              <a:rPr sz="1200" b="0" i="0">
                <a:solidFill>
                  <a:srgbClr val="9C2C4E"/>
                </a:solidFill>
                <a:latin typeface="Menlo"/>
              </a:rPr>
              <a:t>--seed</a:t>
            </a:r>
            <a:r>
              <a:rPr sz="1200" b="0" i="0">
                <a:solidFill>
                  <a:srgbClr val="5C4500"/>
                </a:solidFill>
                <a:latin typeface="Helvetica Neue"/>
              </a:rPr>
              <a:t>, </a:t>
            </a:r>
            <a:r>
              <a:rPr sz="1200" b="0" i="0">
                <a:solidFill>
                  <a:srgbClr val="9C2C4E"/>
                </a:solidFill>
                <a:latin typeface="Menlo"/>
              </a:rPr>
              <a:t>--count</a:t>
            </a:r>
            <a:r>
              <a:rPr sz="1200" b="0" i="0">
                <a:solidFill>
                  <a:srgbClr val="5C4500"/>
                </a:solidFill>
                <a:latin typeface="Helvetica Neue"/>
              </a:rPr>
              <a:t>, </a:t>
            </a:r>
            <a:r>
              <a:rPr sz="1200" b="0" i="0">
                <a:solidFill>
                  <a:srgbClr val="9C2C4E"/>
                </a:solidFill>
                <a:latin typeface="Menlo"/>
              </a:rPr>
              <a:t>--custodians</a:t>
            </a:r>
            <a:r>
              <a:rPr sz="1200" b="0" i="0">
                <a:solidFill>
                  <a:srgbClr val="5C4500"/>
                </a:solidFill>
                <a:latin typeface="Helvetica Neue"/>
              </a:rPr>
              <a:t> and </a:t>
            </a:r>
            <a:r>
              <a:rPr sz="1200" b="0" i="0">
                <a:solidFill>
                  <a:srgbClr val="9C2C4E"/>
                </a:solidFill>
                <a:latin typeface="Menlo"/>
              </a:rPr>
              <a:t>--duplicates</a:t>
            </a:r>
            <a:r>
              <a:rPr sz="1200" b="0" i="0">
                <a:solidFill>
                  <a:srgbClr val="5C4500"/>
                </a:solidFill>
                <a:latin typeface="Helvetica Neue"/>
              </a:rPr>
              <a:t>. </a:t>
            </a:r>
            <a:r>
              <a:rPr sz="1200" b="0" i="0">
                <a:solidFill>
                  <a:srgbClr val="9C2C4E"/>
                </a:solidFill>
                <a:latin typeface="Menlo"/>
              </a:rPr>
              <a:t>messages.ndjson</a:t>
            </a:r>
            <a:r>
              <a:rPr sz="1200" b="0" i="0">
                <a:solidFill>
                  <a:srgbClr val="5C4500"/>
                </a:solidFill>
                <a:latin typeface="Helvetica Neue"/>
              </a:rPr>
              <a:t> must hash to </a:t>
            </a:r>
            <a:r>
              <a:rPr sz="1200" b="0" i="0">
                <a:solidFill>
                  <a:srgbClr val="9C2C4E"/>
                </a:solidFill>
                <a:latin typeface="Menlo"/>
              </a:rPr>
              <a:t>8e35f5b9…31493a</a:t>
            </a:r>
            <a:r>
              <a:rPr sz="1200" b="0" i="0">
                <a:solidFill>
                  <a:srgbClr val="5C4500"/>
                </a:solidFill>
                <a:latin typeface="Helvetica Neue"/>
              </a:rPr>
              <a:t>. That is what lets a demo script reference a specific message and still work on somebody else's laptop.</a:t>
            </a:r>
          </a:p>
        </p:txBody>
      </p:sp>
      <p:sp>
        <p:nvSpPr>
          <p:cNvPr id="7" name="TextBox 6"/>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8" name="TextBox 7"/>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05   </a:t>
            </a:r>
            <a:r>
              <a:rPr sz="2200" b="1">
                <a:solidFill>
                  <a:srgbClr val="14304A"/>
                </a:solidFill>
                <a:latin typeface="Helvetica Neue"/>
              </a:rPr>
              <a:t>The shared contract: the message schema</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4114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133856"/>
            <a:ext cx="10902391" cy="694944"/>
          </a:xfrm>
          <a:prstGeom prst="rect">
            <a:avLst/>
          </a:prstGeom>
          <a:noFill/>
        </p:spPr>
        <p:txBody>
          <a:bodyPr wrap="square" lIns="0" rIns="0" tIns="0" bIns="0">
            <a:spAutoFit/>
          </a:bodyPr>
          <a:lstStyle/>
          <a:p>
            <a:pPr>
              <a:lnSpc>
                <a:spcPct val="106000"/>
              </a:lnSpc>
              <a:spcAft>
                <a:spcPts val="200"/>
              </a:spcAft>
            </a:pPr>
            <a:r>
              <a:rPr sz="1450" b="1" i="0">
                <a:solidFill>
                  <a:srgbClr val="37506A"/>
                </a:solidFill>
                <a:latin typeface="Helvetica Neue"/>
              </a:rPr>
              <a:t>One frozen wire format, defined once in </a:t>
            </a:r>
            <a:r>
              <a:rPr sz="1450" b="1" i="0">
                <a:solidFill>
                  <a:srgbClr val="9C2C4E"/>
                </a:solidFill>
                <a:latin typeface="Menlo"/>
              </a:rPr>
              <a:t>contracts/Message.java</a:t>
            </a:r>
            <a:r>
              <a:rPr sz="1450" b="1" i="0">
                <a:solidFill>
                  <a:srgbClr val="37506A"/>
                </a:solidFill>
                <a:latin typeface="Helvetica Neue"/>
              </a:rPr>
              <a:t>, read by P1, P2, P3 and P5. Renaming or retyping a field is a breaking change needing every owner's agreement.</a:t>
            </a:r>
          </a:p>
        </p:txBody>
      </p:sp>
      <p:graphicFrame>
        <p:nvGraphicFramePr>
          <p:cNvPr id="6" name="Table 5"/>
          <p:cNvGraphicFramePr>
            <a:graphicFrameLocks noGrp="1"/>
          </p:cNvGraphicFramePr>
          <p:nvPr/>
        </p:nvGraphicFramePr>
        <p:xfrm>
          <a:off x="566928" y="1920240"/>
          <a:ext cx="11057837" cy="3621024"/>
        </p:xfrm>
        <a:graphic>
          <a:graphicData uri="http://schemas.openxmlformats.org/drawingml/2006/table">
            <a:tbl>
              <a:tblPr firstRow="1">
                <a:tableStyleId>{5C22544A-7EE6-4342-B048-85BDC9FD1C3A}</a:tableStyleId>
              </a:tblPr>
              <a:tblGrid>
                <a:gridCol w="2168203"/>
                <a:gridCol w="1842973"/>
                <a:gridCol w="867281"/>
                <a:gridCol w="6179380"/>
              </a:tblGrid>
              <a:tr h="274320">
                <a:tc>
                  <a:txBody>
                    <a:bodyPr wrap="square"/>
                    <a:lstStyle/>
                    <a:p>
                      <a:pPr algn="l">
                        <a:lnSpc>
                          <a:spcPct val="104000"/>
                        </a:lnSpc>
                      </a:pPr>
                      <a:r>
                        <a:rPr sz="1050" b="1" i="0">
                          <a:solidFill>
                            <a:srgbClr val="FFFFFF"/>
                          </a:solidFill>
                          <a:latin typeface="Helvetica Neue"/>
                        </a:rPr>
                        <a:t>Field</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Type</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Req</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Notes</a:t>
                      </a:r>
                    </a:p>
                  </a:txBody>
                  <a:tcPr marL="64008" marR="64008" marT="32004" marB="32004" anchor="t">
                    <a:solidFill>
                      <a:srgbClr val="1F4E79"/>
                    </a:solidFill>
                  </a:tcPr>
                </a:tc>
              </a:tr>
              <a:tr h="278892">
                <a:tc>
                  <a:txBody>
                    <a:bodyPr wrap="square"/>
                    <a:lstStyle/>
                    <a:p>
                      <a:pPr algn="l">
                        <a:lnSpc>
                          <a:spcPct val="104000"/>
                        </a:lnSpc>
                      </a:pPr>
                      <a:r>
                        <a:rPr sz="1050" b="0" i="0">
                          <a:solidFill>
                            <a:srgbClr val="1A1D21"/>
                          </a:solidFill>
                          <a:latin typeface="Helvetica Neue"/>
                        </a:rPr>
                        <a:t>messageId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UUID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yes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Ours. Derived from externalId, never random</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externalId</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string</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yes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Source system's id. </a:t>
                      </a:r>
                      <a:r>
                        <a:rPr sz="1050" b="1" i="0">
                          <a:solidFill>
                            <a:srgbClr val="1A1D21"/>
                          </a:solidFill>
                          <a:latin typeface="Helvetica Neue"/>
                        </a:rPr>
                        <a:t>The idempotency key</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source</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string</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yes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EXCHANGE, TEAMS</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type</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enum</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yes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EMAIL | CHAT</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custodianId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string</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yes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Owner of the mailbox this copy came from — </a:t>
                      </a:r>
                      <a:r>
                        <a:rPr sz="1050" b="0" i="1">
                          <a:solidFill>
                            <a:srgbClr val="1A1D21"/>
                          </a:solidFill>
                          <a:latin typeface="Helvetica Neue"/>
                        </a:rPr>
                        <a:t>not</a:t>
                      </a:r>
                      <a:r>
                        <a:rPr sz="1050" b="0" i="0">
                          <a:solidFill>
                            <a:srgbClr val="1A1D21"/>
                          </a:solidFill>
                          <a:latin typeface="Helvetica Neue"/>
                        </a:rPr>
                        <a:t> the sender</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from / to / cc</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string / string[]</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yes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Arrays always present, possibly []</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subject</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string</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no</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Absent on CHAT</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body</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string</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yes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Plain text; replies may quote history</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sentAt</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ISO-8601 UTC</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yes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Drives every retention decision</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threadId / inReplyTo</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UUID</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yes / no</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Conversation grouping; inReplyTo absent on openers</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attachments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Attachment[]</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yes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May be empty</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labels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string[]</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yes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PRIVILEGED, SENSITIVE</a:t>
                      </a:r>
                    </a:p>
                  </a:txBody>
                  <a:tcPr marL="64008" marR="64008" marT="32004" marB="32004" anchor="t">
                    <a:solidFill>
                      <a:srgbClr val="F4F7FA"/>
                    </a:solidFill>
                  </a:tcPr>
                </a:tc>
              </a:tr>
            </a:tbl>
          </a:graphicData>
        </a:graphic>
      </p:graphicFrame>
      <p:sp>
        <p:nvSpPr>
          <p:cNvPr id="7" name="TextBox 6"/>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8" name="TextBox 7"/>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05   </a:t>
            </a:r>
            <a:r>
              <a:rPr sz="2200" b="1">
                <a:solidFill>
                  <a:srgbClr val="14304A"/>
                </a:solidFill>
                <a:latin typeface="Helvetica Neue"/>
              </a:rPr>
              <a:t>The shared contract: the message schema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1220724"/>
          </a:xfrm>
          <a:prstGeom prst="rect">
            <a:avLst/>
          </a:prstGeom>
          <a:noFill/>
        </p:spPr>
        <p:txBody>
          <a:bodyPr wrap="square" lIns="0" rIns="0" tIns="0" bIns="0">
            <a:spAutoFit/>
          </a:bodyPr>
          <a:lstStyle/>
          <a:p>
            <a:pPr>
              <a:lnSpc>
                <a:spcPct val="106000"/>
              </a:lnSpc>
              <a:spcAft>
                <a:spcPts val="500"/>
              </a:spcAft>
            </a:pPr>
            <a:r>
              <a:rPr sz="1300">
                <a:solidFill>
                  <a:srgbClr val="C9A227"/>
                </a:solidFill>
                <a:latin typeface="Helvetica Neue"/>
              </a:rPr>
              <a:t>▪  </a:t>
            </a:r>
            <a:r>
              <a:rPr sz="1300" b="1" i="0">
                <a:solidFill>
                  <a:srgbClr val="1A1D21"/>
                </a:solidFill>
                <a:latin typeface="Helvetica Neue"/>
              </a:rPr>
              <a:t>Absent and empty are different on the wire.</a:t>
            </a:r>
            <a:r>
              <a:rPr sz="1300" b="0" i="0">
                <a:solidFill>
                  <a:srgbClr val="1A1D21"/>
                </a:solidFill>
                <a:latin typeface="Helvetica Neue"/>
              </a:rPr>
              <a:t> Optional fields are omitted entirely rather than sent as </a:t>
            </a:r>
            <a:r>
              <a:rPr sz="1300" b="0" i="0">
                <a:solidFill>
                  <a:srgbClr val="9C2C4E"/>
                </a:solidFill>
                <a:latin typeface="Menlo"/>
              </a:rPr>
              <a:t>null</a:t>
            </a:r>
            <a:r>
              <a:rPr sz="1300" b="0" i="0">
                <a:solidFill>
                  <a:srgbClr val="1A1D21"/>
                </a:solidFill>
                <a:latin typeface="Helvetica Neue"/>
              </a:rPr>
              <a:t>; array fields are always present.</a:t>
            </a:r>
          </a:p>
          <a:p>
            <a:pPr>
              <a:lnSpc>
                <a:spcPct val="106000"/>
              </a:lnSpc>
              <a:spcAft>
                <a:spcPts val="500"/>
              </a:spcAft>
            </a:pPr>
            <a:r>
              <a:rPr sz="1300">
                <a:solidFill>
                  <a:srgbClr val="C9A227"/>
                </a:solidFill>
                <a:latin typeface="Helvetica Neue"/>
              </a:rPr>
              <a:t>▪  </a:t>
            </a:r>
            <a:r>
              <a:rPr sz="1300" b="1" i="0">
                <a:solidFill>
                  <a:srgbClr val="9C2C4E"/>
                </a:solidFill>
                <a:latin typeface="Menlo"/>
              </a:rPr>
              <a:t>contentBase64</a:t>
            </a:r>
            <a:r>
              <a:rPr sz="1300" b="1" i="0">
                <a:solidFill>
                  <a:srgbClr val="1A1D21"/>
                </a:solidFill>
                <a:latin typeface="Helvetica Neue"/>
              </a:rPr>
              <a:t> is ingestion-path only.</a:t>
            </a:r>
            <a:r>
              <a:rPr sz="1300" b="0" i="0">
                <a:solidFill>
                  <a:srgbClr val="1A1D21"/>
                </a:solidFill>
                <a:latin typeface="Helvetica Neue"/>
              </a:rPr>
              <a:t> Once P2 has the bytes it is dropped, and from then on </a:t>
            </a:r>
            <a:r>
              <a:rPr sz="1300" b="0" i="0">
                <a:solidFill>
                  <a:srgbClr val="9C2C4E"/>
                </a:solidFill>
                <a:latin typeface="Menlo"/>
              </a:rPr>
              <a:t>sha256</a:t>
            </a:r>
            <a:r>
              <a:rPr sz="1300" b="0" i="0">
                <a:solidFill>
                  <a:srgbClr val="1A1D21"/>
                </a:solidFill>
                <a:latin typeface="Helvetica Neue"/>
              </a:rPr>
              <a:t> is what everything downstream reasons about. It must never appear in search results, in P2's read API, or in an audit event.</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Attachment filenames are untrusted.</a:t>
            </a:r>
            <a:r>
              <a:rPr sz="1300" b="0" i="0">
                <a:solidFill>
                  <a:srgbClr val="1A1D21"/>
                </a:solidFill>
                <a:latin typeface="Helvetica Neue"/>
              </a:rPr>
              <a:t> Not unique, not sanitised — treat as hostile when building export paths.</a:t>
            </a:r>
          </a:p>
        </p:txBody>
      </p:sp>
      <p:sp>
        <p:nvSpPr>
          <p:cNvPr id="5" name="TextBox 4"/>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6" name="TextBox 5"/>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06   </a:t>
            </a:r>
            <a:r>
              <a:rPr sz="2200" b="1">
                <a:solidFill>
                  <a:srgbClr val="14304A"/>
                </a:solidFill>
                <a:latin typeface="Helvetica Neue"/>
              </a:rPr>
              <a:t>Two identifiers, and why dedupe is subtle</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502920"/>
          </a:xfrm>
          <a:prstGeom prst="rect">
            <a:avLst/>
          </a:prstGeom>
          <a:noFill/>
        </p:spPr>
        <p:txBody>
          <a:bodyPr wrap="square" lIns="0" rIns="0" tIns="0" bIns="0">
            <a:spAutoFit/>
          </a:bodyPr>
          <a:lstStyle/>
          <a:p>
            <a:pPr>
              <a:lnSpc>
                <a:spcPct val="106000"/>
              </a:lnSpc>
              <a:spcAft>
                <a:spcPts val="200"/>
              </a:spcAft>
            </a:pPr>
            <a:r>
              <a:rPr sz="1300" b="0" i="0">
                <a:solidFill>
                  <a:srgbClr val="9C2C4E"/>
                </a:solidFill>
                <a:latin typeface="Menlo"/>
              </a:rPr>
              <a:t>externalId</a:t>
            </a:r>
            <a:r>
              <a:rPr sz="1300" b="0" i="0">
                <a:solidFill>
                  <a:srgbClr val="1A1D21"/>
                </a:solidFill>
                <a:latin typeface="Helvetica Neue"/>
              </a:rPr>
              <a:t> is the source system's key and the only thing dedupe operates on. </a:t>
            </a:r>
            <a:r>
              <a:rPr sz="1300" b="0" i="0">
                <a:solidFill>
                  <a:srgbClr val="9C2C4E"/>
                </a:solidFill>
                <a:latin typeface="Menlo"/>
              </a:rPr>
              <a:t>messageId</a:t>
            </a:r>
            <a:r>
              <a:rPr sz="1300" b="0" i="0">
                <a:solidFill>
                  <a:srgbClr val="1A1D21"/>
                </a:solidFill>
                <a:latin typeface="Helvetica Neue"/>
              </a:rPr>
              <a:t> is ours, and it is what cases, holds, search hits, export manifests and audit records all reference. It is derived, never generated:</a:t>
            </a:r>
          </a:p>
        </p:txBody>
      </p:sp>
      <p:sp>
        <p:nvSpPr>
          <p:cNvPr id="5" name="Rectangle 4"/>
          <p:cNvSpPr/>
          <p:nvPr/>
        </p:nvSpPr>
        <p:spPr>
          <a:xfrm>
            <a:off x="566928" y="1728216"/>
            <a:ext cx="11057839" cy="342900"/>
          </a:xfrm>
          <a:prstGeom prst="rect">
            <a:avLst/>
          </a:prstGeom>
          <a:solidFill>
            <a:srgbClr val="17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819656"/>
            <a:ext cx="10765231" cy="160020"/>
          </a:xfrm>
          <a:prstGeom prst="rect">
            <a:avLst/>
          </a:prstGeom>
          <a:noFill/>
        </p:spPr>
        <p:txBody>
          <a:bodyPr wrap="none" lIns="0" rIns="0" tIns="0" bIns="0">
            <a:spAutoFit/>
          </a:bodyPr>
          <a:lstStyle/>
          <a:p>
            <a:pPr>
              <a:lnSpc>
                <a:spcPct val="100000"/>
              </a:lnSpc>
              <a:spcAft>
                <a:spcPts val="0"/>
              </a:spcAft>
            </a:pPr>
            <a:r>
              <a:rPr sz="1000">
                <a:solidFill>
                  <a:srgbClr val="DBE6F0"/>
                </a:solidFill>
                <a:latin typeface="Menlo"/>
              </a:rPr>
              <a:t>messageId = UUID.nameUUIDFromBytes("message:" + externalId)   // Ids.messageId()</a:t>
            </a:r>
          </a:p>
        </p:txBody>
      </p:sp>
      <p:sp>
        <p:nvSpPr>
          <p:cNvPr id="7" name="TextBox 6"/>
          <p:cNvSpPr txBox="1"/>
          <p:nvPr/>
        </p:nvSpPr>
        <p:spPr>
          <a:xfrm>
            <a:off x="566928" y="2235708"/>
            <a:ext cx="11057839" cy="502920"/>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Two independent keys can each make a message a duplicate. Either way it is dropped, the drop is an audit event, and the API returns 2xx — a source system re-sending is normal operation, not a client fault.</a:t>
            </a:r>
          </a:p>
        </p:txBody>
      </p:sp>
      <p:graphicFrame>
        <p:nvGraphicFramePr>
          <p:cNvPr id="8" name="Table 7"/>
          <p:cNvGraphicFramePr>
            <a:graphicFrameLocks noGrp="1"/>
          </p:cNvGraphicFramePr>
          <p:nvPr/>
        </p:nvGraphicFramePr>
        <p:xfrm>
          <a:off x="566928" y="2830068"/>
          <a:ext cx="11057838" cy="1152144"/>
        </p:xfrm>
        <a:graphic>
          <a:graphicData uri="http://schemas.openxmlformats.org/drawingml/2006/table">
            <a:tbl>
              <a:tblPr firstRow="1">
                <a:tableStyleId>{5C22544A-7EE6-4342-B048-85BDC9FD1C3A}</a:tableStyleId>
              </a:tblPr>
              <a:tblGrid>
                <a:gridCol w="784749"/>
                <a:gridCol w="5564590"/>
                <a:gridCol w="4708499"/>
              </a:tblGrid>
              <a:tr h="274320">
                <a:tc>
                  <a:txBody>
                    <a:bodyPr wrap="square"/>
                    <a:lstStyle/>
                    <a:p>
                      <a:pPr algn="l">
                        <a:lnSpc>
                          <a:spcPct val="104000"/>
                        </a:lnSpc>
                      </a:pPr>
                      <a:r>
                        <a:rPr sz="1050" b="1" i="0">
                          <a:solidFill>
                            <a:srgbClr val="FFFFFF"/>
                          </a:solidFill>
                          <a:latin typeface="Helvetica Neue"/>
                        </a:rPr>
                        <a:t>Key</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Catches</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Enforced where</a:t>
                      </a:r>
                    </a:p>
                  </a:txBody>
                  <a:tcPr marL="64008" marR="64008" marT="32004" marB="32004" anchor="t">
                    <a:solidFill>
                      <a:srgbClr val="1F4E79"/>
                    </a:solidFill>
                  </a:tcPr>
                </a:tc>
              </a:tr>
              <a:tr h="438912">
                <a:tc>
                  <a:txBody>
                    <a:bodyPr wrap="square"/>
                    <a:lstStyle/>
                    <a:p>
                      <a:pPr algn="l">
                        <a:lnSpc>
                          <a:spcPct val="104000"/>
                        </a:lnSpc>
                      </a:pPr>
                      <a:r>
                        <a:rPr sz="1050" b="0" i="0">
                          <a:solidFill>
                            <a:srgbClr val="1A1D21"/>
                          </a:solidFill>
                          <a:latin typeface="Helvetica Neue"/>
                        </a:rPr>
                        <a:t>externalId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The same record submitted twice</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Redis SETNX in P1 (fast path); UNIQUE constraint in P2 (guarantee)</a:t>
                      </a:r>
                    </a:p>
                  </a:txBody>
                  <a:tcPr marL="64008" marR="64008" marT="32004" marB="32004" anchor="t">
                    <a:solidFill>
                      <a:srgbClr val="FFFFFF"/>
                    </a:solidFill>
                  </a:tcPr>
                </a:tc>
              </a:tr>
              <a:tr h="438912">
                <a:tc>
                  <a:txBody>
                    <a:bodyPr wrap="square"/>
                    <a:lstStyle/>
                    <a:p>
                      <a:pPr algn="l">
                        <a:lnSpc>
                          <a:spcPct val="104000"/>
                        </a:lnSpc>
                      </a:pPr>
                      <a:r>
                        <a:rPr sz="1050" b="0" i="0">
                          <a:solidFill>
                            <a:srgbClr val="1A1D21"/>
                          </a:solidFill>
                          <a:latin typeface="Helvetica Neue"/>
                        </a:rPr>
                        <a:t>contentHash</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The same message under a </a:t>
                      </a:r>
                      <a:r>
                        <a:rPr sz="1050" b="0" i="1">
                          <a:solidFill>
                            <a:srgbClr val="1A1D21"/>
                          </a:solidFill>
                          <a:latin typeface="Helvetica Neue"/>
                        </a:rPr>
                        <a:t>different</a:t>
                      </a:r>
                      <a:r>
                        <a:rPr sz="1050" b="0" i="0">
                          <a:solidFill>
                            <a:srgbClr val="1A1D21"/>
                          </a:solidFill>
                          <a:latin typeface="Helvetica Neue"/>
                        </a:rPr>
                        <a:t> source key — a re-export, a re-crawl, two connectors on one mailbox</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ContentHash.of() in contracts, called by both P1 and P2</a:t>
                      </a:r>
                    </a:p>
                  </a:txBody>
                  <a:tcPr marL="64008" marR="64008" marT="32004" marB="32004" anchor="t">
                    <a:solidFill>
                      <a:srgbClr val="F4F7FA"/>
                    </a:solidFill>
                  </a:tcPr>
                </a:tc>
              </a:tr>
            </a:tbl>
          </a:graphicData>
        </a:graphic>
      </p:graphicFrame>
      <p:sp>
        <p:nvSpPr>
          <p:cNvPr id="9" name="TextBox 8"/>
          <p:cNvSpPr txBox="1"/>
          <p:nvPr/>
        </p:nvSpPr>
        <p:spPr>
          <a:xfrm>
            <a:off x="566928" y="4256532"/>
            <a:ext cx="11057839" cy="699516"/>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The fingerprint covers custodianId, source, type, from, to, cc, subject, body, sentAt, threadId, inReplyTo and each attachment's filename, size and sha256. Fields are length-prefixed so content cannot forge a field boundary. It excludes the two identifiers, and it excludes </a:t>
            </a:r>
            <a:r>
              <a:rPr sz="1300" b="0" i="0">
                <a:solidFill>
                  <a:srgbClr val="9C2C4E"/>
                </a:solidFill>
                <a:latin typeface="Menlo"/>
              </a:rPr>
              <a:t>labels</a:t>
            </a:r>
            <a:r>
              <a:rPr sz="1300" b="0" i="0">
                <a:solidFill>
                  <a:srgbClr val="1A1D21"/>
                </a:solidFill>
                <a:latin typeface="Helvetica Neue"/>
              </a:rPr>
              <a:t> because classification is mutable.</a:t>
            </a:r>
          </a:p>
        </p:txBody>
      </p:sp>
      <p:sp>
        <p:nvSpPr>
          <p:cNvPr id="10" name="Rectangle 9"/>
          <p:cNvSpPr/>
          <p:nvPr/>
        </p:nvSpPr>
        <p:spPr>
          <a:xfrm>
            <a:off x="566928" y="5047488"/>
            <a:ext cx="11057839" cy="969264"/>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5047488"/>
            <a:ext cx="50292" cy="9692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5148072"/>
            <a:ext cx="10710367" cy="768096"/>
          </a:xfrm>
          <a:prstGeom prst="rect">
            <a:avLst/>
          </a:prstGeom>
          <a:noFill/>
        </p:spPr>
        <p:txBody>
          <a:bodyPr wrap="square" lIns="0" rIns="0" tIns="0" bIns="0">
            <a:spAutoFit/>
          </a:bodyPr>
          <a:lstStyle/>
          <a:p>
            <a:pPr>
              <a:lnSpc>
                <a:spcPct val="106000"/>
              </a:lnSpc>
              <a:spcAft>
                <a:spcPts val="200"/>
              </a:spcAft>
            </a:pPr>
            <a:r>
              <a:rPr sz="1200" b="1" i="0">
                <a:solidFill>
                  <a:srgbClr val="9C2C4E"/>
                </a:solidFill>
                <a:latin typeface="Menlo"/>
              </a:rPr>
              <a:t>custodianId</a:t>
            </a:r>
            <a:r>
              <a:rPr sz="1200" b="1" i="0">
                <a:solidFill>
                  <a:srgbClr val="5C4500"/>
                </a:solidFill>
                <a:latin typeface="Helvetica Neue"/>
              </a:rPr>
              <a:t> is inside the fingerprint, and that is the whole design.</a:t>
            </a:r>
            <a:r>
              <a:rPr sz="1200" b="0" i="0">
                <a:solidFill>
                  <a:srgbClr val="5C4500"/>
                </a:solidFill>
                <a:latin typeface="Helvetica Neue"/>
              </a:rPr>
              <a:t> The same conversation captured from two mailboxes is </a:t>
            </a:r>
            <a:r>
              <a:rPr sz="1200" b="0" i="1">
                <a:solidFill>
                  <a:srgbClr val="5C4500"/>
                </a:solidFill>
                <a:latin typeface="Helvetica Neue"/>
              </a:rPr>
              <a:t>not</a:t>
            </a:r>
            <a:r>
              <a:rPr sz="1200" b="0" i="0">
                <a:solidFill>
                  <a:srgbClr val="5C4500"/>
                </a:solidFill>
                <a:latin typeface="Helvetica Neue"/>
              </a:rPr>
              <a:t> a duplicate: two externalIds, two messageIds, identical body. Both must be kept, because a hold on one custodian has to preserve their copy independently of the other's. Hashing content alone would collapse them and silently destroy evidence. The corpus plants this case on the narrative's smoking-gun message specifically so a naive dedupe breaks loudly.</a:t>
            </a:r>
          </a:p>
        </p:txBody>
      </p:sp>
      <p:sp>
        <p:nvSpPr>
          <p:cNvPr id="13" name="TextBox 12"/>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14" name="TextBox 13"/>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06   </a:t>
            </a:r>
            <a:r>
              <a:rPr sz="2200" b="1">
                <a:solidFill>
                  <a:srgbClr val="14304A"/>
                </a:solidFill>
                <a:latin typeface="Helvetica Neue"/>
              </a:rPr>
              <a:t>Two identifiers, and why dedupe is subtle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133856"/>
          <a:ext cx="11057838" cy="832104"/>
        </p:xfrm>
        <a:graphic>
          <a:graphicData uri="http://schemas.openxmlformats.org/drawingml/2006/table">
            <a:tbl>
              <a:tblPr firstRow="1">
                <a:tableStyleId>{5C22544A-7EE6-4342-B048-85BDC9FD1C3A}</a:tableStyleId>
              </a:tblPr>
              <a:tblGrid>
                <a:gridCol w="7475722"/>
                <a:gridCol w="3582116"/>
              </a:tblGrid>
              <a:tr h="274320">
                <a:tc>
                  <a:txBody>
                    <a:bodyPr wrap="square"/>
                    <a:lstStyle/>
                    <a:p>
                      <a:pPr algn="l">
                        <a:lnSpc>
                          <a:spcPct val="104000"/>
                        </a:lnSpc>
                      </a:pPr>
                      <a:r>
                        <a:rPr sz="1050" b="1" i="0">
                          <a:solidFill>
                            <a:srgbClr val="FFFFFF"/>
                          </a:solidFill>
                          <a:latin typeface="Helvetica Neue"/>
                        </a:rPr>
                        <a:t>Scenario</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Outcome</a:t>
                      </a:r>
                    </a:p>
                  </a:txBody>
                  <a:tcPr marL="64008" marR="64008" marT="32004" marB="32004" anchor="t">
                    <a:solidFill>
                      <a:srgbClr val="1F4E79"/>
                    </a:solidFill>
                  </a:tcPr>
                </a:tc>
              </a:tr>
              <a:tr h="278892">
                <a:tc>
                  <a:txBody>
                    <a:bodyPr wrap="square"/>
                    <a:lstStyle/>
                    <a:p>
                      <a:pPr algn="l">
                        <a:lnSpc>
                          <a:spcPct val="104000"/>
                        </a:lnSpc>
                      </a:pPr>
                      <a:r>
                        <a:rPr sz="1050" b="0" i="0">
                          <a:solidFill>
                            <a:srgbClr val="1A1D21"/>
                          </a:solidFill>
                          <a:latin typeface="Helvetica Neue"/>
                        </a:rPr>
                        <a:t>Same content, same mailbox, different externalId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Duplicate — dropped</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Same content, </a:t>
                      </a:r>
                      <a:r>
                        <a:rPr sz="1050" b="1" i="0">
                          <a:solidFill>
                            <a:srgbClr val="1A1D21"/>
                          </a:solidFill>
                          <a:latin typeface="Helvetica Neue"/>
                        </a:rPr>
                        <a:t>different mailbox</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Two records — both kept</a:t>
                      </a:r>
                    </a:p>
                  </a:txBody>
                  <a:tcPr marL="64008" marR="64008" marT="32004" marB="32004" anchor="t">
                    <a:solidFill>
                      <a:srgbClr val="F4F7FA"/>
                    </a:solidFill>
                  </a:tcPr>
                </a:tc>
              </a:tr>
            </a:tbl>
          </a:graphicData>
        </a:graphic>
      </p:graphicFrame>
      <p:sp>
        <p:nvSpPr>
          <p:cNvPr id="5" name="TextBox 4"/>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6" name="TextBox 5"/>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07   </a:t>
            </a:r>
            <a:r>
              <a:rPr sz="2200" b="1">
                <a:solidFill>
                  <a:srgbClr val="14304A"/>
                </a:solidFill>
                <a:latin typeface="Helvetica Neue"/>
              </a:rPr>
              <a:t>P1 — Ingestion  :8081</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41148" cy="3383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133856"/>
            <a:ext cx="10902391" cy="429768"/>
          </a:xfrm>
          <a:prstGeom prst="rect">
            <a:avLst/>
          </a:prstGeom>
          <a:noFill/>
        </p:spPr>
        <p:txBody>
          <a:bodyPr wrap="square" lIns="0" rIns="0" tIns="0" bIns="0">
            <a:spAutoFit/>
          </a:bodyPr>
          <a:lstStyle/>
          <a:p>
            <a:pPr>
              <a:lnSpc>
                <a:spcPct val="106000"/>
              </a:lnSpc>
              <a:spcAft>
                <a:spcPts val="200"/>
              </a:spcAft>
            </a:pPr>
            <a:r>
              <a:rPr sz="1450" b="1" i="0">
                <a:solidFill>
                  <a:srgbClr val="37506A"/>
                </a:solidFill>
                <a:latin typeface="Helvetica Neue"/>
              </a:rPr>
              <a:t>Accepts communications, validates them, dedupes them, publishes them. It does not store them.</a:t>
            </a:r>
          </a:p>
        </p:txBody>
      </p:sp>
      <p:graphicFrame>
        <p:nvGraphicFramePr>
          <p:cNvPr id="6" name="Table 5"/>
          <p:cNvGraphicFramePr>
            <a:graphicFrameLocks noGrp="1"/>
          </p:cNvGraphicFramePr>
          <p:nvPr/>
        </p:nvGraphicFramePr>
        <p:xfrm>
          <a:off x="566928" y="1655064"/>
          <a:ext cx="11057838" cy="1947672"/>
        </p:xfrm>
        <a:graphic>
          <a:graphicData uri="http://schemas.openxmlformats.org/drawingml/2006/table">
            <a:tbl>
              <a:tblPr firstRow="1">
                <a:tableStyleId>{5C22544A-7EE6-4342-B048-85BDC9FD1C3A}</a:tableStyleId>
              </a:tblPr>
              <a:tblGrid>
                <a:gridCol w="4505045"/>
                <a:gridCol w="6552793"/>
              </a:tblGrid>
              <a:tr h="274320">
                <a:tc>
                  <a:txBody>
                    <a:bodyPr wrap="square"/>
                    <a:lstStyle/>
                    <a:p>
                      <a:pPr algn="l">
                        <a:lnSpc>
                          <a:spcPct val="104000"/>
                        </a:lnSpc>
                      </a:pPr>
                      <a:r>
                        <a:rPr sz="1050" b="1" i="0">
                          <a:solidFill>
                            <a:srgbClr val="FFFFFF"/>
                          </a:solidFill>
                          <a:latin typeface="Helvetica Neue"/>
                        </a:rPr>
                        <a:t>Endpoint</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Purpose</a:t>
                      </a:r>
                    </a:p>
                  </a:txBody>
                  <a:tcPr marL="64008" marR="64008" marT="32004" marB="32004" anchor="t">
                    <a:solidFill>
                      <a:srgbClr val="1F4E79"/>
                    </a:solidFill>
                  </a:tcPr>
                </a:tc>
              </a:tr>
              <a:tr h="278892">
                <a:tc>
                  <a:txBody>
                    <a:bodyPr wrap="square"/>
                    <a:lstStyle/>
                    <a:p>
                      <a:pPr algn="l">
                        <a:lnSpc>
                          <a:spcPct val="104000"/>
                        </a:lnSpc>
                      </a:pPr>
                      <a:r>
                        <a:rPr sz="1050" b="0" i="0">
                          <a:solidFill>
                            <a:srgbClr val="1A1D21"/>
                          </a:solidFill>
                          <a:latin typeface="Helvetica Neue"/>
                        </a:rPr>
                        <a:t>POST /messages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JSON array batch. Not atomic — per-item outcomes</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POST /messages/upload</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multipart; JSON array or NDJSON</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POST /messages/upload?async=true</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202 with a job id, for large files</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GET /messages/uploads/{jobId}</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Poll an async upload</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GET /messages/{externalId}/status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Has this id been ingested?</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GET /messages/stats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Counts since this instance started</a:t>
                      </a:r>
                    </a:p>
                  </a:txBody>
                  <a:tcPr marL="64008" marR="64008" marT="32004" marB="32004" anchor="t">
                    <a:solidFill>
                      <a:srgbClr val="F4F7FA"/>
                    </a:solidFill>
                  </a:tcPr>
                </a:tc>
              </a:tr>
            </a:tbl>
          </a:graphicData>
        </a:graphic>
      </p:graphicFrame>
      <p:graphicFrame>
        <p:nvGraphicFramePr>
          <p:cNvPr id="7" name="Table 6"/>
          <p:cNvGraphicFramePr>
            <a:graphicFrameLocks noGrp="1"/>
          </p:cNvGraphicFramePr>
          <p:nvPr/>
        </p:nvGraphicFramePr>
        <p:xfrm>
          <a:off x="566928" y="3877056"/>
          <a:ext cx="11057837" cy="1389888"/>
        </p:xfrm>
        <a:graphic>
          <a:graphicData uri="http://schemas.openxmlformats.org/drawingml/2006/table">
            <a:tbl>
              <a:tblPr firstRow="1">
                <a:tableStyleId>{5C22544A-7EE6-4342-B048-85BDC9FD1C3A}</a:tableStyleId>
              </a:tblPr>
              <a:tblGrid>
                <a:gridCol w="1401697"/>
                <a:gridCol w="8565931"/>
                <a:gridCol w="1090209"/>
              </a:tblGrid>
              <a:tr h="274320">
                <a:tc>
                  <a:txBody>
                    <a:bodyPr wrap="square"/>
                    <a:lstStyle/>
                    <a:p>
                      <a:pPr algn="l">
                        <a:lnSpc>
                          <a:spcPct val="104000"/>
                        </a:lnSpc>
                      </a:pPr>
                      <a:r>
                        <a:rPr sz="1050" b="1" i="0">
                          <a:solidFill>
                            <a:srgbClr val="FFFFFF"/>
                          </a:solidFill>
                          <a:latin typeface="Helvetica Neue"/>
                        </a:rPr>
                        <a:t>Outcome</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Meaning</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HTTP</a:t>
                      </a:r>
                    </a:p>
                  </a:txBody>
                  <a:tcPr marL="64008" marR="64008" marT="32004" marB="32004" anchor="t">
                    <a:solidFill>
                      <a:srgbClr val="1F4E79"/>
                    </a:solidFill>
                  </a:tcPr>
                </a:tc>
              </a:tr>
              <a:tr h="278892">
                <a:tc>
                  <a:txBody>
                    <a:bodyPr wrap="square"/>
                    <a:lstStyle/>
                    <a:p>
                      <a:pPr algn="l">
                        <a:lnSpc>
                          <a:spcPct val="104000"/>
                        </a:lnSpc>
                      </a:pPr>
                      <a:r>
                        <a:rPr sz="1050" b="0" i="0">
                          <a:solidFill>
                            <a:srgbClr val="1A1D21"/>
                          </a:solidFill>
                          <a:latin typeface="Helvetica Neue"/>
                        </a:rPr>
                        <a:t>ACCEPTED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Published to messages.ingested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200</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DUPLICATE</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externalId already seen. Dropped, audited, </a:t>
                      </a:r>
                      <a:r>
                        <a:rPr sz="1050" b="1" i="0">
                          <a:solidFill>
                            <a:srgbClr val="1A1D21"/>
                          </a:solidFill>
                          <a:latin typeface="Helvetica Neue"/>
                        </a:rPr>
                        <a:t>not an error</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200</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REJECTED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Failed validation, with a reason</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200</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FAILED</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Infrastructure failure; retry the message</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503</a:t>
                      </a:r>
                    </a:p>
                  </a:txBody>
                  <a:tcPr marL="64008" marR="64008" marT="32004" marB="32004" anchor="t">
                    <a:solidFill>
                      <a:srgbClr val="F4F7FA"/>
                    </a:solidFill>
                  </a:tcPr>
                </a:tc>
              </a:tr>
            </a:tbl>
          </a:graphicData>
        </a:graphic>
      </p:graphicFrame>
      <p:sp>
        <p:nvSpPr>
          <p:cNvPr id="8" name="TextBox 7"/>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9" name="TextBox 8"/>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07   </a:t>
            </a:r>
            <a:r>
              <a:rPr sz="2200" b="1">
                <a:solidFill>
                  <a:srgbClr val="14304A"/>
                </a:solidFill>
                <a:latin typeface="Helvetica Neue"/>
              </a:rPr>
              <a:t>P1 — Ingestion  :8081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2706624"/>
          </a:xfrm>
          <a:prstGeom prst="rect">
            <a:avLst/>
          </a:prstGeom>
          <a:noFill/>
        </p:spPr>
        <p:txBody>
          <a:bodyPr wrap="square" lIns="0" rIns="0" tIns="0" bIns="0">
            <a:spAutoFit/>
          </a:bodyPr>
          <a:lstStyle/>
          <a:p>
            <a:pPr>
              <a:lnSpc>
                <a:spcPct val="106000"/>
              </a:lnSpc>
              <a:spcAft>
                <a:spcPts val="500"/>
              </a:spcAft>
            </a:pPr>
            <a:r>
              <a:rPr sz="1300">
                <a:solidFill>
                  <a:srgbClr val="C9A227"/>
                </a:solidFill>
                <a:latin typeface="Helvetica Neue"/>
              </a:rPr>
              <a:t>▪  </a:t>
            </a:r>
            <a:r>
              <a:rPr sz="1300" b="1" i="0">
                <a:solidFill>
                  <a:srgbClr val="1A1D21"/>
                </a:solidFill>
                <a:latin typeface="Helvetica Neue"/>
              </a:rPr>
              <a:t>A batch is not atomic.</a:t>
            </a:r>
            <a:r>
              <a:rPr sz="1300" b="0" i="0">
                <a:solidFill>
                  <a:srgbClr val="1A1D21"/>
                </a:solidFill>
                <a:latin typeface="Helvetica Neue"/>
              </a:rPr>
              <a:t> A duplicate in the middle of a batch must not reject the other 199. Even an element Jackson cannot decode becomes one REJECTED with the offending field named, and its externalId is recovered from the raw JSON so a loader knows what to fix.</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Dedupe is claim-then-publish.</a:t>
            </a:r>
            <a:r>
              <a:rPr sz="1300" b="0" i="0">
                <a:solidFill>
                  <a:srgbClr val="1A1D21"/>
                </a:solidFill>
                <a:latin typeface="Helvetica Neue"/>
              </a:rPr>
              <a:t> If publishing fails after a claim, the claim is </a:t>
            </a:r>
            <a:r>
              <a:rPr sz="1300" b="0" i="1">
                <a:solidFill>
                  <a:srgbClr val="1A1D21"/>
                </a:solidFill>
                <a:latin typeface="Helvetica Neue"/>
              </a:rPr>
              <a:t>released</a:t>
            </a:r>
            <a:r>
              <a:rPr sz="1300" b="0" i="0">
                <a:solidFill>
                  <a:srgbClr val="1A1D21"/>
                </a:solidFill>
                <a:latin typeface="Helvetica Neue"/>
              </a:rPr>
              <a:t> — otherwise a transient broker error would mark the id as seen and silently swallow the retry.</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Redis fails open.</a:t>
            </a:r>
            <a:r>
              <a:rPr sz="1300" b="0" i="0">
                <a:solidFill>
                  <a:srgbClr val="1A1D21"/>
                </a:solidFill>
                <a:latin typeface="Helvetica Neue"/>
              </a:rPr>
              <a:t> P1 still starts without Redis, health still reports UP, and duplicates pass through to be caught by P2's unique constraint. Slower dedupe beats refused traffic.</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Attachments are verified at the boundary.</a:t>
            </a:r>
            <a:r>
              <a:rPr sz="1300" b="0" i="0">
                <a:solidFill>
                  <a:srgbClr val="1A1D21"/>
                </a:solidFill>
                <a:latin typeface="Helvetica Neue"/>
              </a:rPr>
              <a:t> sha256 is recomputed from contentBase64 and sizeBytes checked against the decoded length. Trusting the client's hash would surface much later as a failed export verification.</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Size caps are refused whole, with 413.</a:t>
            </a:r>
            <a:r>
              <a:rPr sz="1300" b="0" i="0">
                <a:solidFill>
                  <a:srgbClr val="1A1D21"/>
                </a:solidFill>
                <a:latin typeface="Helvetica Neue"/>
              </a:rPr>
              <a:t> Over </a:t>
            </a:r>
            <a:r>
              <a:rPr sz="1300" b="0" i="0">
                <a:solidFill>
                  <a:srgbClr val="9C2C4E"/>
                </a:solidFill>
                <a:latin typeface="Menlo"/>
              </a:rPr>
              <a:t>max-batch-size</a:t>
            </a:r>
            <a:r>
              <a:rPr sz="1300" b="0" i="0">
                <a:solidFill>
                  <a:srgbClr val="1A1D21"/>
                </a:solidFill>
                <a:latin typeface="Helvetica Neue"/>
              </a:rPr>
              <a:t> (1000) or </a:t>
            </a:r>
            <a:r>
              <a:rPr sz="1300" b="0" i="0">
                <a:solidFill>
                  <a:srgbClr val="9C2C4E"/>
                </a:solidFill>
                <a:latin typeface="Menlo"/>
              </a:rPr>
              <a:t>max-request-bytes</a:t>
            </a:r>
            <a:r>
              <a:rPr sz="1300" b="0" i="0">
                <a:solidFill>
                  <a:srgbClr val="1A1D21"/>
                </a:solidFill>
                <a:latin typeface="Helvetica Neue"/>
              </a:rPr>
              <a:t> (16 MB). A client given a partial result cannot tell which messages were dropped. The body cap counts bytes when there is no Content-Length, because a chunked request declares none and a cap that only reads the header is no cap at all.</a:t>
            </a:r>
          </a:p>
        </p:txBody>
      </p:sp>
      <p:sp>
        <p:nvSpPr>
          <p:cNvPr id="5" name="Rectangle 4"/>
          <p:cNvSpPr/>
          <p:nvPr/>
        </p:nvSpPr>
        <p:spPr>
          <a:xfrm>
            <a:off x="566928" y="3931920"/>
            <a:ext cx="11057839" cy="969264"/>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3931920"/>
            <a:ext cx="50292" cy="9692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4032504"/>
            <a:ext cx="10710367" cy="768096"/>
          </a:xfrm>
          <a:prstGeom prst="rect">
            <a:avLst/>
          </a:prstGeom>
          <a:noFill/>
        </p:spPr>
        <p:txBody>
          <a:bodyPr wrap="square" lIns="0" rIns="0" tIns="0" bIns="0">
            <a:spAutoFit/>
          </a:bodyPr>
          <a:lstStyle/>
          <a:p>
            <a:pPr>
              <a:lnSpc>
                <a:spcPct val="106000"/>
              </a:lnSpc>
              <a:spcAft>
                <a:spcPts val="200"/>
              </a:spcAft>
            </a:pPr>
            <a:r>
              <a:rPr sz="1200" b="1" i="0">
                <a:solidFill>
                  <a:srgbClr val="5C4500"/>
                </a:solidFill>
                <a:latin typeface="Helvetica Neue"/>
              </a:rPr>
              <a:t>Point probes at </a:t>
            </a:r>
            <a:r>
              <a:rPr sz="1200" b="1" i="0">
                <a:solidFill>
                  <a:srgbClr val="9C2C4E"/>
                </a:solidFill>
                <a:latin typeface="Menlo"/>
              </a:rPr>
              <a:t>/actuator/health/readiness</a:t>
            </a:r>
            <a:r>
              <a:rPr sz="1200" b="1" i="0">
                <a:solidFill>
                  <a:srgbClr val="5C4500"/>
                </a:solidFill>
                <a:latin typeface="Helvetica Neue"/>
              </a:rPr>
              <a:t>, not </a:t>
            </a:r>
            <a:r>
              <a:rPr sz="1200" b="1" i="0">
                <a:solidFill>
                  <a:srgbClr val="9C2C4E"/>
                </a:solidFill>
                <a:latin typeface="Menlo"/>
              </a:rPr>
              <a:t>/actuator/health</a:t>
            </a:r>
            <a:r>
              <a:rPr sz="1200" b="1" i="0">
                <a:solidFill>
                  <a:srgbClr val="5C4500"/>
                </a:solidFill>
                <a:latin typeface="Helvetica Neue"/>
              </a:rPr>
              <a:t>.</a:t>
            </a:r>
            <a:r>
              <a:rPr sz="1200" b="0" i="0">
                <a:solidFill>
                  <a:srgbClr val="5C4500"/>
                </a:solidFill>
                <a:latin typeface="Helvetica Neue"/>
              </a:rPr>
              <a:t> Only Kafka can make P1 unready — publishing blocks on the broker ack before the API says ACCEPTED. Redis deliberately cannot: the dedupe store fails open, so its indicator stays UP and reports </a:t>
            </a:r>
            <a:r>
              <a:rPr sz="1200" b="0" i="0">
                <a:solidFill>
                  <a:srgbClr val="9C2C4E"/>
                </a:solidFill>
                <a:latin typeface="Menlo"/>
              </a:rPr>
              <a:t>dedupe: degraded</a:t>
            </a:r>
            <a:r>
              <a:rPr sz="1200" b="0" i="0">
                <a:solidFill>
                  <a:srgbClr val="5C4500"/>
                </a:solidFill>
                <a:latin typeface="Helvetica Neue"/>
              </a:rPr>
              <a:t>. Boot's stock Redis contributor is disabled because it does the opposite, and a probe reading it would evict the very instance that failing open exists to keep serving.</a:t>
            </a:r>
          </a:p>
        </p:txBody>
      </p:sp>
      <p:graphicFrame>
        <p:nvGraphicFramePr>
          <p:cNvPr id="8" name="Table 7"/>
          <p:cNvGraphicFramePr>
            <a:graphicFrameLocks noGrp="1"/>
          </p:cNvGraphicFramePr>
          <p:nvPr/>
        </p:nvGraphicFramePr>
        <p:xfrm>
          <a:off x="566928" y="5065776"/>
          <a:ext cx="11057838" cy="1110996"/>
        </p:xfrm>
        <a:graphic>
          <a:graphicData uri="http://schemas.openxmlformats.org/drawingml/2006/table">
            <a:tbl>
              <a:tblPr firstRow="1">
                <a:tableStyleId>{5C22544A-7EE6-4342-B048-85BDC9FD1C3A}</a:tableStyleId>
              </a:tblPr>
              <a:tblGrid>
                <a:gridCol w="4829860"/>
                <a:gridCol w="6227978"/>
              </a:tblGrid>
              <a:tr h="274320">
                <a:tc>
                  <a:txBody>
                    <a:bodyPr wrap="square"/>
                    <a:lstStyle/>
                    <a:p>
                      <a:pPr algn="l">
                        <a:lnSpc>
                          <a:spcPct val="104000"/>
                        </a:lnSpc>
                      </a:pPr>
                      <a:r>
                        <a:rPr sz="1050" b="1" i="0">
                          <a:solidFill>
                            <a:srgbClr val="FFFFFF"/>
                          </a:solidFill>
                          <a:latin typeface="Helvetica Neue"/>
                        </a:rPr>
                        <a:t>Measured against the full corpus</a:t>
                      </a:r>
                    </a:p>
                  </a:txBody>
                  <a:tcPr marL="64008" marR="64008" marT="32004" marB="32004" anchor="t">
                    <a:solidFill>
                      <a:srgbClr val="1F4E79"/>
                    </a:solidFill>
                  </a:tcPr>
                </a:tc>
                <a:tc>
                  <a:txBody>
                    <a:bodyPr wrap="square"/>
                    <a:lstStyle/>
                    <a:p>
                      <a:pPr algn="l">
                        <a:lnSpc>
                          <a:spcPct val="104000"/>
                        </a:lnSpc>
                      </a:pPr>
                    </a:p>
                  </a:txBody>
                  <a:tcPr marL="64008" marR="64008" marT="32004" marB="32004" anchor="t">
                    <a:solidFill>
                      <a:srgbClr val="1F4E79"/>
                    </a:solidFill>
                  </a:tcPr>
                </a:tc>
              </a:tr>
              <a:tr h="278892">
                <a:tc>
                  <a:txBody>
                    <a:bodyPr wrap="square"/>
                    <a:lstStyle/>
                    <a:p>
                      <a:pPr algn="l">
                        <a:lnSpc>
                          <a:spcPct val="104000"/>
                        </a:lnSpc>
                      </a:pPr>
                      <a:r>
                        <a:rPr sz="1050" b="0" i="0">
                          <a:solidFill>
                            <a:srgbClr val="1A1D21"/>
                          </a:solidFill>
                          <a:latin typeface="Helvetica Neue"/>
                        </a:rPr>
                        <a:t>Accepted / deduped / rejected / failed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12,000 / 25 / 0 / 0</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Throughput</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~151 msg/s (80 s for the full load)</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Second identical load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0 new messages published; 12,025 deduped in 1.9 s</a:t>
                      </a:r>
                    </a:p>
                  </a:txBody>
                  <a:tcPr marL="64008" marR="64008" marT="32004" marB="32004" anchor="t">
                    <a:solidFill>
                      <a:srgbClr val="FFFFFF"/>
                    </a:solidFill>
                  </a:tcPr>
                </a:tc>
              </a:tr>
            </a:tbl>
          </a:graphicData>
        </a:graphic>
      </p:graphicFrame>
      <p:sp>
        <p:nvSpPr>
          <p:cNvPr id="9" name="TextBox 8"/>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10" name="TextBox 9"/>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07   </a:t>
            </a:r>
            <a:r>
              <a:rPr sz="2200" b="1">
                <a:solidFill>
                  <a:srgbClr val="14304A"/>
                </a:solidFill>
                <a:latin typeface="Helvetica Neue"/>
              </a:rPr>
              <a:t>P1 — Ingestion  :8081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502920"/>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That 80 s → 1.9 s gap locates the bottleneck precisely: </a:t>
            </a:r>
            <a:r>
              <a:rPr sz="1300" b="0" i="0">
                <a:solidFill>
                  <a:srgbClr val="9C2C4E"/>
                </a:solidFill>
                <a:latin typeface="Menlo"/>
              </a:rPr>
              <a:t>publishIngested</a:t>
            </a:r>
            <a:r>
              <a:rPr sz="1300" b="0" i="0">
                <a:solidFill>
                  <a:srgbClr val="1A1D21"/>
                </a:solidFill>
                <a:latin typeface="Helvetica Neue"/>
              </a:rPr>
              <a:t> blocks on the broker ack for every message, and the dedupe short-circuit skips it entirely. Batching the sends is the obvious optimisation, and it does not matter yet.</a:t>
            </a:r>
          </a:p>
        </p:txBody>
      </p:sp>
      <p:sp>
        <p:nvSpPr>
          <p:cNvPr id="5" name="TextBox 4"/>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6" name="TextBox 5"/>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08   </a:t>
            </a:r>
            <a:r>
              <a:rPr sz="2200" b="1">
                <a:solidFill>
                  <a:srgbClr val="14304A"/>
                </a:solidFill>
                <a:latin typeface="Helvetica Neue"/>
              </a:rPr>
              <a:t>P2 — Storage / Archive  :8082</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4114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133856"/>
            <a:ext cx="10902391" cy="694944"/>
          </a:xfrm>
          <a:prstGeom prst="rect">
            <a:avLst/>
          </a:prstGeom>
          <a:noFill/>
        </p:spPr>
        <p:txBody>
          <a:bodyPr wrap="square" lIns="0" rIns="0" tIns="0" bIns="0">
            <a:spAutoFit/>
          </a:bodyPr>
          <a:lstStyle/>
          <a:p>
            <a:pPr>
              <a:lnSpc>
                <a:spcPct val="106000"/>
              </a:lnSpc>
              <a:spcAft>
                <a:spcPts val="200"/>
              </a:spcAft>
            </a:pPr>
            <a:r>
              <a:rPr sz="1450" b="1" i="0">
                <a:solidFill>
                  <a:srgbClr val="37506A"/>
                </a:solidFill>
                <a:latin typeface="Helvetica Neue"/>
              </a:rPr>
              <a:t>The system of record. Consumes ingested messages, stores them durably, and enforces the legal-hold guard on every path that deletes anything.</a:t>
            </a:r>
          </a:p>
        </p:txBody>
      </p:sp>
      <p:graphicFrame>
        <p:nvGraphicFramePr>
          <p:cNvPr id="6" name="Table 5"/>
          <p:cNvGraphicFramePr>
            <a:graphicFrameLocks noGrp="1"/>
          </p:cNvGraphicFramePr>
          <p:nvPr/>
        </p:nvGraphicFramePr>
        <p:xfrm>
          <a:off x="566928" y="1920240"/>
          <a:ext cx="11057838" cy="1152144"/>
        </p:xfrm>
        <a:graphic>
          <a:graphicData uri="http://schemas.openxmlformats.org/drawingml/2006/table">
            <a:tbl>
              <a:tblPr firstRow="1">
                <a:tableStyleId>{5C22544A-7EE6-4342-B048-85BDC9FD1C3A}</a:tableStyleId>
              </a:tblPr>
              <a:tblGrid>
                <a:gridCol w="5424600"/>
                <a:gridCol w="2503661"/>
                <a:gridCol w="3129577"/>
              </a:tblGrid>
              <a:tr h="274320">
                <a:tc>
                  <a:txBody>
                    <a:bodyPr wrap="square"/>
                    <a:lstStyle/>
                    <a:p>
                      <a:pPr algn="l">
                        <a:lnSpc>
                          <a:spcPct val="104000"/>
                        </a:lnSpc>
                      </a:pPr>
                      <a:r>
                        <a:rPr sz="1050" b="1" i="0">
                          <a:solidFill>
                            <a:srgbClr val="FFFFFF"/>
                          </a:solidFill>
                          <a:latin typeface="Helvetica Neue"/>
                        </a:rPr>
                        <a:t>What</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Where</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Why there</a:t>
                      </a:r>
                    </a:p>
                  </a:txBody>
                  <a:tcPr marL="64008" marR="64008" marT="32004" marB="32004" anchor="t">
                    <a:solidFill>
                      <a:srgbClr val="1F4E79"/>
                    </a:solidFill>
                  </a:tcPr>
                </a:tc>
              </a:tr>
              <a:tr h="438912">
                <a:tc>
                  <a:txBody>
                    <a:bodyPr wrap="square"/>
                    <a:lstStyle/>
                    <a:p>
                      <a:pPr algn="l">
                        <a:lnSpc>
                          <a:spcPct val="104000"/>
                        </a:lnSpc>
                      </a:pPr>
                      <a:r>
                        <a:rPr sz="1050" b="0" i="0">
                          <a:solidFill>
                            <a:srgbClr val="1A1D21"/>
                          </a:solidFill>
                          <a:latin typeface="Helvetica Neue"/>
                        </a:rPr>
                        <a:t>Message content — headers, body, labels, thread, attachments </a:t>
                      </a:r>
                      <a:r>
                        <a:rPr sz="1050" b="0" i="1">
                          <a:solidFill>
                            <a:srgbClr val="1A1D21"/>
                          </a:solidFill>
                          <a:latin typeface="Helvetica Neue"/>
                        </a:rPr>
                        <a:t>including bytes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MongoDB, one document per message</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Write-once, never updated</a:t>
                      </a:r>
                    </a:p>
                  </a:txBody>
                  <a:tcPr marL="64008" marR="64008" marT="32004" marB="32004" anchor="t">
                    <a:solidFill>
                      <a:srgbClr val="FFFFFF"/>
                    </a:solidFill>
                  </a:tcPr>
                </a:tc>
              </a:tr>
              <a:tr h="438912">
                <a:tc>
                  <a:txBody>
                    <a:bodyPr wrap="square"/>
                    <a:lstStyle/>
                    <a:p>
                      <a:pPr algn="l">
                        <a:lnSpc>
                          <a:spcPct val="104000"/>
                        </a:lnSpc>
                      </a:pPr>
                      <a:r>
                        <a:rPr sz="1050" b="0" i="0">
                          <a:solidFill>
                            <a:srgbClr val="1A1D21"/>
                          </a:solidFill>
                          <a:latin typeface="Helvetica Neue"/>
                        </a:rPr>
                        <a:t>Hold state + retention bookkeeping — on_hold, hold_count, retention_override_at</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PostgreSQL, one slim row per message</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Changes on every hold; queried by every sweep</a:t>
                      </a:r>
                    </a:p>
                  </a:txBody>
                  <a:tcPr marL="64008" marR="64008" marT="32004" marB="32004" anchor="t">
                    <a:solidFill>
                      <a:srgbClr val="F4F7FA"/>
                    </a:solidFill>
                  </a:tcPr>
                </a:tc>
              </a:tr>
            </a:tbl>
          </a:graphicData>
        </a:graphic>
      </p:graphicFrame>
      <p:sp>
        <p:nvSpPr>
          <p:cNvPr id="7" name="TextBox 6"/>
          <p:cNvSpPr txBox="1"/>
          <p:nvPr/>
        </p:nvSpPr>
        <p:spPr>
          <a:xfrm>
            <a:off x="566928" y="3346704"/>
            <a:ext cx="11057839" cy="502920"/>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The split is deliberate. Keeping hold state out of the Mongo document means a hold update never has to touch — or race with — the message content, and the slim Postgres row keeps the disposition candidate query cheap regardless of message size.</a:t>
            </a:r>
          </a:p>
        </p:txBody>
      </p:sp>
      <p:sp>
        <p:nvSpPr>
          <p:cNvPr id="8" name="TextBox 7"/>
          <p:cNvSpPr txBox="1"/>
          <p:nvPr/>
        </p:nvSpPr>
        <p:spPr>
          <a:xfrm>
            <a:off x="566928" y="3941064"/>
            <a:ext cx="11057839" cy="2061972"/>
          </a:xfrm>
          <a:prstGeom prst="rect">
            <a:avLst/>
          </a:prstGeom>
          <a:noFill/>
        </p:spPr>
        <p:txBody>
          <a:bodyPr wrap="square" lIns="0" rIns="0" tIns="0" bIns="0">
            <a:spAutoFit/>
          </a:bodyPr>
          <a:lstStyle/>
          <a:p>
            <a:pPr>
              <a:lnSpc>
                <a:spcPct val="106000"/>
              </a:lnSpc>
              <a:spcAft>
                <a:spcPts val="500"/>
              </a:spcAft>
            </a:pPr>
            <a:r>
              <a:rPr sz="1300">
                <a:solidFill>
                  <a:srgbClr val="C9A227"/>
                </a:solidFill>
                <a:latin typeface="Helvetica Neue"/>
              </a:rPr>
              <a:t>▪  </a:t>
            </a:r>
            <a:r>
              <a:rPr sz="1300" b="1" i="0">
                <a:solidFill>
                  <a:srgbClr val="1A1D21"/>
                </a:solidFill>
                <a:latin typeface="Helvetica Neue"/>
              </a:rPr>
              <a:t>Mongo document first, Postgres row second, on write.</a:t>
            </a:r>
            <a:r>
              <a:rPr sz="1300" b="0" i="0">
                <a:solidFill>
                  <a:srgbClr val="1A1D21"/>
                </a:solidFill>
                <a:latin typeface="Helvetica Neue"/>
              </a:rPr>
              <a:t> </a:t>
            </a:r>
            <a:r>
              <a:rPr sz="1300" b="0" i="0">
                <a:solidFill>
                  <a:srgbClr val="9C2C4E"/>
                </a:solidFill>
                <a:latin typeface="Menlo"/>
              </a:rPr>
              <a:t>save</a:t>
            </a:r>
            <a:r>
              <a:rPr sz="1300" b="0" i="0">
                <a:solidFill>
                  <a:srgbClr val="1A1D21"/>
                </a:solidFill>
                <a:latin typeface="Helvetica Neue"/>
              </a:rPr>
              <a:t> keyed by messageId is an idempotent upsert, so losing a race on </a:t>
            </a:r>
            <a:r>
              <a:rPr sz="1300" b="0" i="0">
                <a:solidFill>
                  <a:srgbClr val="9C2C4E"/>
                </a:solidFill>
                <a:latin typeface="Menlo"/>
              </a:rPr>
              <a:t>UNIQUE(external_id)</a:t>
            </a:r>
            <a:r>
              <a:rPr sz="1300" b="0" i="0">
                <a:solidFill>
                  <a:srgbClr val="1A1D21"/>
                </a:solidFill>
                <a:latin typeface="Helvetica Neue"/>
              </a:rPr>
              <a:t> afterwards leaves nothing incorrect behind. The other order risks a hold-status row claiming a message no document backs.</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Postgres row first, Mongo document second, on delete.</a:t>
            </a:r>
            <a:r>
              <a:rPr sz="1300" b="0" i="0">
                <a:solidFill>
                  <a:srgbClr val="1A1D21"/>
                </a:solidFill>
                <a:latin typeface="Helvetica Neue"/>
              </a:rPr>
              <a:t> The row goes inside the transaction and the document after; if the Mongo delete throws, the transaction rolls back and the row returns. The two stores are never left disagreeing about whether a message exists.</a:t>
            </a:r>
          </a:p>
          <a:p>
            <a:pPr>
              <a:lnSpc>
                <a:spcPct val="106000"/>
              </a:lnSpc>
              <a:spcAft>
                <a:spcPts val="500"/>
              </a:spcAft>
            </a:pPr>
            <a:r>
              <a:rPr sz="1300">
                <a:solidFill>
                  <a:srgbClr val="C9A227"/>
                </a:solidFill>
                <a:latin typeface="Helvetica Neue"/>
              </a:rPr>
              <a:t>▪  </a:t>
            </a:r>
            <a:r>
              <a:rPr sz="1300" b="1" i="0">
                <a:solidFill>
                  <a:srgbClr val="9C2C4E"/>
                </a:solidFill>
                <a:latin typeface="Menlo"/>
              </a:rPr>
              <a:t>findByIdForUpdate</a:t>
            </a:r>
            <a:r>
              <a:rPr sz="1300" b="1" i="0">
                <a:solidFill>
                  <a:srgbClr val="1A1D21"/>
                </a:solidFill>
                <a:latin typeface="Helvetica Neue"/>
              </a:rPr>
              <a:t>, not </a:t>
            </a:r>
            <a:r>
              <a:rPr sz="1300" b="1" i="0">
                <a:solidFill>
                  <a:srgbClr val="9C2C4E"/>
                </a:solidFill>
                <a:latin typeface="Menlo"/>
              </a:rPr>
              <a:t>findById</a:t>
            </a:r>
            <a:r>
              <a:rPr sz="1300" b="1" i="0">
                <a:solidFill>
                  <a:srgbClr val="1A1D21"/>
                </a:solidFill>
                <a:latin typeface="Helvetica Neue"/>
              </a:rPr>
              <a:t>.</a:t>
            </a:r>
            <a:r>
              <a:rPr sz="1300" b="0" i="0">
                <a:solidFill>
                  <a:srgbClr val="1A1D21"/>
                </a:solidFill>
                <a:latin typeface="Helvetica Neue"/>
              </a:rPr>
              <a:t> Without the row lock, a concurrent hold event could land between the P4 check returning 'not held' and the delete that follows.</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No update endpoint, by design.</a:t>
            </a:r>
            <a:r>
              <a:rPr sz="1300" b="0" i="0">
                <a:solidFill>
                  <a:srgbClr val="1A1D21"/>
                </a:solidFill>
                <a:latin typeface="Helvetica Neue"/>
              </a:rPr>
              <a:t> An archived message is write-once.</a:t>
            </a:r>
          </a:p>
        </p:txBody>
      </p:sp>
      <p:sp>
        <p:nvSpPr>
          <p:cNvPr id="9" name="TextBox 8"/>
          <p:cNvSpPr txBox="1"/>
          <p:nvPr/>
        </p:nvSpPr>
        <p:spPr>
          <a:xfrm>
            <a:off x="566928" y="6094476"/>
            <a:ext cx="11057839" cy="306323"/>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Resiliency — an outage must not lose messages (NFR-2):</a:t>
            </a:r>
          </a:p>
        </p:txBody>
      </p:sp>
      <p:sp>
        <p:nvSpPr>
          <p:cNvPr id="10" name="TextBox 9"/>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11" name="TextBox 10"/>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08   </a:t>
            </a:r>
            <a:r>
              <a:rPr sz="2200" b="1">
                <a:solidFill>
                  <a:srgbClr val="14304A"/>
                </a:solidFill>
                <a:latin typeface="Helvetica Neue"/>
              </a:rPr>
              <a:t>P2 — Storage / Archive  :8082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1220724"/>
          </a:xfrm>
          <a:prstGeom prst="rect">
            <a:avLst/>
          </a:prstGeom>
          <a:noFill/>
        </p:spPr>
        <p:txBody>
          <a:bodyPr wrap="square" lIns="0" rIns="0" tIns="0" bIns="0">
            <a:spAutoFit/>
          </a:bodyPr>
          <a:lstStyle/>
          <a:p>
            <a:pPr>
              <a:lnSpc>
                <a:spcPct val="106000"/>
              </a:lnSpc>
              <a:spcAft>
                <a:spcPts val="500"/>
              </a:spcAft>
            </a:pPr>
            <a:r>
              <a:rPr sz="1300">
                <a:solidFill>
                  <a:srgbClr val="C9A227"/>
                </a:solidFill>
                <a:latin typeface="Helvetica Neue"/>
              </a:rPr>
              <a:t>▪  </a:t>
            </a:r>
            <a:r>
              <a:rPr sz="1300" b="0" i="0">
                <a:solidFill>
                  <a:srgbClr val="9C2C4E"/>
                </a:solidFill>
                <a:latin typeface="Menlo"/>
              </a:rPr>
              <a:t>ack-mode: record</a:t>
            </a:r>
            <a:r>
              <a:rPr sz="1300" b="0" i="0">
                <a:solidFill>
                  <a:srgbClr val="1A1D21"/>
                </a:solidFill>
                <a:latin typeface="Helvetica Neue"/>
              </a:rPr>
              <a:t> — an offset is committed only after its listener returns normally.</a:t>
            </a:r>
          </a:p>
          <a:p>
            <a:pPr>
              <a:lnSpc>
                <a:spcPct val="106000"/>
              </a:lnSpc>
              <a:spcAft>
                <a:spcPts val="500"/>
              </a:spcAft>
            </a:pPr>
            <a:r>
              <a:rPr sz="1300">
                <a:solidFill>
                  <a:srgbClr val="C9A227"/>
                </a:solidFill>
                <a:latin typeface="Helvetica Neue"/>
              </a:rPr>
              <a:t>▪  </a:t>
            </a:r>
            <a:r>
              <a:rPr sz="1300" b="0" i="0">
                <a:solidFill>
                  <a:srgbClr val="1A1D21"/>
                </a:solidFill>
                <a:latin typeface="Helvetica Neue"/>
              </a:rPr>
              <a:t>A </a:t>
            </a:r>
            <a:r>
              <a:rPr sz="1300" b="0" i="0">
                <a:solidFill>
                  <a:srgbClr val="9C2C4E"/>
                </a:solidFill>
                <a:latin typeface="Menlo"/>
              </a:rPr>
              <a:t>DefaultErrorHandler</a:t>
            </a:r>
            <a:r>
              <a:rPr sz="1300" b="0" i="0">
                <a:solidFill>
                  <a:srgbClr val="1A1D21"/>
                </a:solidFill>
                <a:latin typeface="Helvetica Neue"/>
              </a:rPr>
              <a:t> with </a:t>
            </a:r>
            <a:r>
              <a:rPr sz="1300" b="1" i="0">
                <a:solidFill>
                  <a:srgbClr val="1A1D21"/>
                </a:solidFill>
                <a:latin typeface="Helvetica Neue"/>
              </a:rPr>
              <a:t>unbounded</a:t>
            </a:r>
            <a:r>
              <a:rPr sz="1300" b="0" i="0">
                <a:solidFill>
                  <a:srgbClr val="1A1D21"/>
                </a:solidFill>
                <a:latin typeface="Helvetica Neue"/>
              </a:rPr>
              <a:t> fixed backoff (retry every 3 s, forever). A transient failure parks the consumer on the failing record rather than skipping ahead, so retained records are processed in order once the service is healthy.</a:t>
            </a:r>
          </a:p>
          <a:p>
            <a:pPr>
              <a:lnSpc>
                <a:spcPct val="106000"/>
              </a:lnSpc>
              <a:spcAft>
                <a:spcPts val="500"/>
              </a:spcAft>
            </a:pPr>
            <a:r>
              <a:rPr sz="1300">
                <a:solidFill>
                  <a:srgbClr val="C9A227"/>
                </a:solidFill>
                <a:latin typeface="Helvetica Neue"/>
              </a:rPr>
              <a:t>▪  </a:t>
            </a:r>
            <a:r>
              <a:rPr sz="1300" b="0" i="0">
                <a:solidFill>
                  <a:srgbClr val="1A1D21"/>
                </a:solidFill>
                <a:latin typeface="Helvetica Neue"/>
              </a:rPr>
              <a:t>Expected 'bad' records never reach the error handler: malformed JSON is logged and skipped, and a </a:t>
            </a:r>
            <a:r>
              <a:rPr sz="1300" b="0" i="0">
                <a:solidFill>
                  <a:srgbClr val="9C2C4E"/>
                </a:solidFill>
                <a:latin typeface="Menlo"/>
              </a:rPr>
              <a:t>DataIntegrityViolationException</a:t>
            </a:r>
            <a:r>
              <a:rPr sz="1300" b="0" i="0">
                <a:solidFill>
                  <a:srgbClr val="1A1D21"/>
                </a:solidFill>
                <a:latin typeface="Helvetica Neue"/>
              </a:rPr>
              <a:t> from the unique constraint is recorded as a dedupe — the idempotency guarantee working, not a failure.</a:t>
            </a:r>
          </a:p>
        </p:txBody>
      </p:sp>
      <p:sp>
        <p:nvSpPr>
          <p:cNvPr id="5" name="Rectangle 4"/>
          <p:cNvSpPr/>
          <p:nvPr/>
        </p:nvSpPr>
        <p:spPr>
          <a:xfrm>
            <a:off x="566928" y="2446020"/>
            <a:ext cx="11057839" cy="772668"/>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446020"/>
            <a:ext cx="50292" cy="77266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2546603"/>
            <a:ext cx="10710367" cy="571500"/>
          </a:xfrm>
          <a:prstGeom prst="rect">
            <a:avLst/>
          </a:prstGeom>
          <a:noFill/>
        </p:spPr>
        <p:txBody>
          <a:bodyPr wrap="square" lIns="0" rIns="0" tIns="0" bIns="0">
            <a:spAutoFit/>
          </a:bodyPr>
          <a:lstStyle/>
          <a:p>
            <a:pPr>
              <a:lnSpc>
                <a:spcPct val="106000"/>
              </a:lnSpc>
              <a:spcAft>
                <a:spcPts val="200"/>
              </a:spcAft>
            </a:pPr>
            <a:r>
              <a:rPr sz="1200" b="1" i="0">
                <a:solidFill>
                  <a:srgbClr val="5C4500"/>
                </a:solidFill>
                <a:latin typeface="Helvetica Neue"/>
              </a:rPr>
              <a:t>The Mongo config prefix is </a:t>
            </a:r>
            <a:r>
              <a:rPr sz="1200" b="1" i="0">
                <a:solidFill>
                  <a:srgbClr val="9C2C4E"/>
                </a:solidFill>
                <a:latin typeface="Menlo"/>
              </a:rPr>
              <a:t>spring.mongodb</a:t>
            </a:r>
            <a:r>
              <a:rPr sz="1200" b="1" i="0">
                <a:solidFill>
                  <a:srgbClr val="5C4500"/>
                </a:solidFill>
                <a:latin typeface="Helvetica Neue"/>
              </a:rPr>
              <a:t>, not </a:t>
            </a:r>
            <a:r>
              <a:rPr sz="1200" b="1" i="0">
                <a:solidFill>
                  <a:srgbClr val="9C2C4E"/>
                </a:solidFill>
                <a:latin typeface="Menlo"/>
              </a:rPr>
              <a:t>spring.data.mongodb</a:t>
            </a:r>
            <a:r>
              <a:rPr sz="1200" b="1" i="0">
                <a:solidFill>
                  <a:srgbClr val="5C4500"/>
                </a:solidFill>
                <a:latin typeface="Helvetica Neue"/>
              </a:rPr>
              <a:t>.</a:t>
            </a:r>
            <a:r>
              <a:rPr sz="1200" b="0" i="0">
                <a:solidFill>
                  <a:srgbClr val="5C4500"/>
                </a:solidFill>
                <a:latin typeface="Helvetica Neue"/>
              </a:rPr>
              <a:t> Boot 4.1 renamed it. The old prefix still parses as valid YAML, shows up in </a:t>
            </a:r>
            <a:r>
              <a:rPr sz="1200" b="0" i="0">
                <a:solidFill>
                  <a:srgbClr val="9C2C4E"/>
                </a:solidFill>
                <a:latin typeface="Menlo"/>
              </a:rPr>
              <a:t>/actuator/env</a:t>
            </a:r>
            <a:r>
              <a:rPr sz="1200" b="0" i="0">
                <a:solidFill>
                  <a:srgbClr val="5C4500"/>
                </a:solidFill>
                <a:latin typeface="Helvetica Neue"/>
              </a:rPr>
              <a:t>, starts clean and connects — and every write silently lands in the driver's fallback </a:t>
            </a:r>
            <a:r>
              <a:rPr sz="1200" b="0" i="0">
                <a:solidFill>
                  <a:srgbClr val="9C2C4E"/>
                </a:solidFill>
                <a:latin typeface="Menlo"/>
              </a:rPr>
              <a:t>test</a:t>
            </a:r>
            <a:r>
              <a:rPr sz="1200" b="0" i="0">
                <a:solidFill>
                  <a:srgbClr val="5C4500"/>
                </a:solidFill>
                <a:latin typeface="Helvetica Neue"/>
              </a:rPr>
              <a:t> database instead of the configured one.</a:t>
            </a:r>
          </a:p>
        </p:txBody>
      </p:sp>
      <p:sp>
        <p:nvSpPr>
          <p:cNvPr id="8" name="Rectangle 7"/>
          <p:cNvSpPr/>
          <p:nvPr/>
        </p:nvSpPr>
        <p:spPr>
          <a:xfrm>
            <a:off x="566928" y="3383280"/>
            <a:ext cx="11057839" cy="772668"/>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3383280"/>
            <a:ext cx="50292" cy="77266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483864"/>
            <a:ext cx="10710367" cy="571500"/>
          </a:xfrm>
          <a:prstGeom prst="rect">
            <a:avLst/>
          </a:prstGeom>
          <a:noFill/>
        </p:spPr>
        <p:txBody>
          <a:bodyPr wrap="square" lIns="0" rIns="0" tIns="0" bIns="0">
            <a:spAutoFit/>
          </a:bodyPr>
          <a:lstStyle/>
          <a:p>
            <a:pPr>
              <a:lnSpc>
                <a:spcPct val="106000"/>
              </a:lnSpc>
              <a:spcAft>
                <a:spcPts val="200"/>
              </a:spcAft>
            </a:pPr>
            <a:r>
              <a:rPr sz="1200" b="1" i="0">
                <a:solidFill>
                  <a:srgbClr val="5C4500"/>
                </a:solidFill>
                <a:latin typeface="Helvetica Neue"/>
              </a:rPr>
              <a:t>Never delete from one store by hand.</a:t>
            </a:r>
            <a:r>
              <a:rPr sz="1200" b="0" i="0">
                <a:solidFill>
                  <a:srgbClr val="5C4500"/>
                </a:solidFill>
                <a:latin typeface="Helvetica Neue"/>
              </a:rPr>
              <a:t> </a:t>
            </a:r>
            <a:r>
              <a:rPr sz="1200" b="0" i="0">
                <a:solidFill>
                  <a:srgbClr val="9C2C4E"/>
                </a:solidFill>
                <a:latin typeface="Menlo"/>
              </a:rPr>
              <a:t>DELETE FROM message_hold_status</a:t>
            </a:r>
            <a:r>
              <a:rPr sz="1200" b="0" i="0">
                <a:solidFill>
                  <a:srgbClr val="5C4500"/>
                </a:solidFill>
                <a:latin typeface="Helvetica Neue"/>
              </a:rPr>
              <a:t> in psql leaves the Mongo document, so the archive still serves content the sweep no longer knows about. Every deletion must go through </a:t>
            </a:r>
            <a:r>
              <a:rPr sz="1200" b="0" i="0">
                <a:solidFill>
                  <a:srgbClr val="9C2C4E"/>
                </a:solidFill>
                <a:latin typeface="Menlo"/>
              </a:rPr>
              <a:t>MessageDeletionService</a:t>
            </a:r>
            <a:r>
              <a:rPr sz="1200" b="0" i="0">
                <a:solidFill>
                  <a:srgbClr val="5C4500"/>
                </a:solidFill>
                <a:latin typeface="Helvetica Neue"/>
              </a:rPr>
              <a:t> or </a:t>
            </a:r>
            <a:r>
              <a:rPr sz="1200" b="0" i="0">
                <a:solidFill>
                  <a:srgbClr val="9C2C4E"/>
                </a:solidFill>
                <a:latin typeface="Menlo"/>
              </a:rPr>
              <a:t>DispositionCommandListener</a:t>
            </a:r>
            <a:r>
              <a:rPr sz="1200" b="0" i="0">
                <a:solidFill>
                  <a:srgbClr val="5C4500"/>
                </a:solidFill>
                <a:latin typeface="Helvetica Neue"/>
              </a:rPr>
              <a:t> — the only two places that keep the stores in step and the only two that enforce the hold guard.</a:t>
            </a:r>
          </a:p>
        </p:txBody>
      </p:sp>
      <p:sp>
        <p:nvSpPr>
          <p:cNvPr id="11" name="TextBox 10"/>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12" name="TextBox 11"/>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09   </a:t>
            </a:r>
            <a:r>
              <a:rPr sz="2200" b="1">
                <a:solidFill>
                  <a:srgbClr val="14304A"/>
                </a:solidFill>
                <a:latin typeface="Helvetica Neue"/>
              </a:rPr>
              <a:t>P3 — Search  :8083</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4114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133856"/>
            <a:ext cx="10902391" cy="694944"/>
          </a:xfrm>
          <a:prstGeom prst="rect">
            <a:avLst/>
          </a:prstGeom>
          <a:noFill/>
        </p:spPr>
        <p:txBody>
          <a:bodyPr wrap="square" lIns="0" rIns="0" tIns="0" bIns="0">
            <a:spAutoFit/>
          </a:bodyPr>
          <a:lstStyle/>
          <a:p>
            <a:pPr>
              <a:lnSpc>
                <a:spcPct val="106000"/>
              </a:lnSpc>
              <a:spcAft>
                <a:spcPts val="200"/>
              </a:spcAft>
            </a:pPr>
            <a:r>
              <a:rPr sz="1450" b="1" i="0">
                <a:solidFill>
                  <a:srgbClr val="37506A"/>
                </a:solidFill>
                <a:latin typeface="Helvetica Neue"/>
              </a:rPr>
              <a:t>Consumes </a:t>
            </a:r>
            <a:r>
              <a:rPr sz="1450" b="1" i="0">
                <a:solidFill>
                  <a:srgbClr val="9C2C4E"/>
                </a:solidFill>
                <a:latin typeface="Menlo"/>
              </a:rPr>
              <a:t>messages.archived</a:t>
            </a:r>
            <a:r>
              <a:rPr sz="1450" b="1" i="0">
                <a:solidFill>
                  <a:srgbClr val="37506A"/>
                </a:solidFill>
                <a:latin typeface="Helvetica Neue"/>
              </a:rPr>
              <a:t>, indexes into Elasticsearch, and serves the query surface the investigator actually works in.</a:t>
            </a:r>
          </a:p>
        </p:txBody>
      </p:sp>
      <p:graphicFrame>
        <p:nvGraphicFramePr>
          <p:cNvPr id="6" name="Table 5"/>
          <p:cNvGraphicFramePr>
            <a:graphicFrameLocks noGrp="1"/>
          </p:cNvGraphicFramePr>
          <p:nvPr/>
        </p:nvGraphicFramePr>
        <p:xfrm>
          <a:off x="566928" y="1920240"/>
          <a:ext cx="11057839" cy="1988820"/>
        </p:xfrm>
        <a:graphic>
          <a:graphicData uri="http://schemas.openxmlformats.org/drawingml/2006/table">
            <a:tbl>
              <a:tblPr firstRow="1">
                <a:tableStyleId>{5C22544A-7EE6-4342-B048-85BDC9FD1C3A}</a:tableStyleId>
              </a:tblPr>
              <a:tblGrid>
                <a:gridCol w="5230059"/>
                <a:gridCol w="5827780"/>
              </a:tblGrid>
              <a:tr h="274320">
                <a:tc>
                  <a:txBody>
                    <a:bodyPr wrap="square"/>
                    <a:lstStyle/>
                    <a:p>
                      <a:pPr algn="l">
                        <a:lnSpc>
                          <a:spcPct val="104000"/>
                        </a:lnSpc>
                      </a:pPr>
                      <a:r>
                        <a:rPr sz="1050" b="1" i="0">
                          <a:solidFill>
                            <a:srgbClr val="FFFFFF"/>
                          </a:solidFill>
                          <a:latin typeface="Helvetica Neue"/>
                        </a:rPr>
                        <a:t>Endpoint</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Purpose</a:t>
                      </a:r>
                    </a:p>
                  </a:txBody>
                  <a:tcPr marL="64008" marR="64008" marT="32004" marB="32004" anchor="t">
                    <a:solidFill>
                      <a:srgbClr val="1F4E79"/>
                    </a:solidFill>
                  </a:tcPr>
                </a:tc>
              </a:tr>
              <a:tr h="438912">
                <a:tc>
                  <a:txBody>
                    <a:bodyPr wrap="square"/>
                    <a:lstStyle/>
                    <a:p>
                      <a:pPr algn="l">
                        <a:lnSpc>
                          <a:spcPct val="104000"/>
                        </a:lnSpc>
                      </a:pPr>
                      <a:r>
                        <a:rPr sz="1050" b="0" i="0">
                          <a:solidFill>
                            <a:srgbClr val="1A1D21"/>
                          </a:solidFill>
                          <a:latin typeface="Helvetica Neue"/>
                        </a:rPr>
                        <a:t>GET /search · POST /search</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Query. Criteria: q, custodianIds, type, from, labels, sentAfter, sentBefore, hasAttachment, onHold</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GET /search/history · DELETE /search/history</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Executed searches, newest first</a:t>
                      </a:r>
                    </a:p>
                  </a:txBody>
                  <a:tcPr marL="64008" marR="64008" marT="32004" marB="32004" anchor="t">
                    <a:solidFill>
                      <a:srgbClr val="F4F7FA"/>
                    </a:solidFill>
                  </a:tcPr>
                </a:tc>
              </a:tr>
              <a:tr h="438912">
                <a:tc>
                  <a:txBody>
                    <a:bodyPr wrap="square"/>
                    <a:lstStyle/>
                    <a:p>
                      <a:pPr algn="l">
                        <a:lnSpc>
                          <a:spcPct val="104000"/>
                        </a:lnSpc>
                      </a:pPr>
                      <a:r>
                        <a:rPr sz="1050" b="0" i="0">
                          <a:solidFill>
                            <a:srgbClr val="1A1D21"/>
                          </a:solidFill>
                          <a:latin typeface="Helvetica Neue"/>
                        </a:rPr>
                        <a:t>POST /search/saved · GET /search/saved · GET,DELETE /search/saved/{id}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Saved searches</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POST /search/saved/{id}/run</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Re-run a saved search</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POST /search/add-to-case · POST /search/add-selected-to-case</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File results as evidence (via Kafka to P4)</a:t>
                      </a:r>
                    </a:p>
                  </a:txBody>
                  <a:tcPr marL="64008" marR="64008" marT="32004" marB="32004" anchor="t">
                    <a:solidFill>
                      <a:srgbClr val="FFFFFF"/>
                    </a:solidFill>
                  </a:tcPr>
                </a:tc>
              </a:tr>
            </a:tbl>
          </a:graphicData>
        </a:graphic>
      </p:graphicFrame>
      <p:sp>
        <p:nvSpPr>
          <p:cNvPr id="7" name="TextBox 6"/>
          <p:cNvSpPr txBox="1"/>
          <p:nvPr/>
        </p:nvSpPr>
        <p:spPr>
          <a:xfrm>
            <a:off x="566928" y="4183380"/>
            <a:ext cx="11057839" cy="1613916"/>
          </a:xfrm>
          <a:prstGeom prst="rect">
            <a:avLst/>
          </a:prstGeom>
          <a:noFill/>
        </p:spPr>
        <p:txBody>
          <a:bodyPr wrap="square" lIns="0" rIns="0" tIns="0" bIns="0">
            <a:spAutoFit/>
          </a:bodyPr>
          <a:lstStyle/>
          <a:p>
            <a:pPr>
              <a:lnSpc>
                <a:spcPct val="106000"/>
              </a:lnSpc>
              <a:spcAft>
                <a:spcPts val="500"/>
              </a:spcAft>
            </a:pPr>
            <a:r>
              <a:rPr sz="1300">
                <a:solidFill>
                  <a:srgbClr val="C9A227"/>
                </a:solidFill>
                <a:latin typeface="Helvetica Neue"/>
              </a:rPr>
              <a:t>▪  </a:t>
            </a:r>
            <a:r>
              <a:rPr sz="1300" b="1" i="0">
                <a:solidFill>
                  <a:srgbClr val="1A1D21"/>
                </a:solidFill>
                <a:latin typeface="Helvetica Neue"/>
              </a:rPr>
              <a:t>A criterion-less query is a 400, not everything.</a:t>
            </a:r>
            <a:r>
              <a:rPr sz="1300" b="0" i="0">
                <a:solidFill>
                  <a:srgbClr val="1A1D21"/>
                </a:solidFill>
                <a:latin typeface="Helvetica Neue"/>
              </a:rPr>
              <a:t> The index holds the whole corpus; a screen that opens with 12,000 messages has answered a question nobody asked and buried the one you came to ask.</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History is a side effect of searching, not a POST.</a:t>
            </a:r>
            <a:r>
              <a:rPr sz="1300" b="0" i="0">
                <a:solidFill>
                  <a:srgbClr val="1A1D21"/>
                </a:solidFill>
                <a:latin typeface="Helvetica Neue"/>
              </a:rPr>
              <a:t> P3 writes to its own </a:t>
            </a:r>
            <a:r>
              <a:rPr sz="1300" b="0" i="0">
                <a:solidFill>
                  <a:srgbClr val="9C2C4E"/>
                </a:solidFill>
                <a:latin typeface="Menlo"/>
              </a:rPr>
              <a:t>search-history</a:t>
            </a:r>
            <a:r>
              <a:rPr sz="1300" b="0" i="0">
                <a:solidFill>
                  <a:srgbClr val="1A1D21"/>
                </a:solidFill>
                <a:latin typeface="Helvetica Neue"/>
              </a:rPr>
              <a:t> index when a search executes — first pages only, since paging is the same question again. There is no write endpoint, so a client cannot invent history it never executed.</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Filing to a case is eventually consistent.</a:t>
            </a:r>
            <a:r>
              <a:rPr sz="1300" b="0" i="0">
                <a:solidFill>
                  <a:srgbClr val="1A1D21"/>
                </a:solidFill>
                <a:latin typeface="Helvetica Neue"/>
              </a:rPr>
              <a:t> </a:t>
            </a:r>
            <a:r>
              <a:rPr sz="1300" b="0" i="0">
                <a:solidFill>
                  <a:srgbClr val="9C2C4E"/>
                </a:solidFill>
                <a:latin typeface="Menlo"/>
              </a:rPr>
              <a:t>add-to-case</a:t>
            </a:r>
            <a:r>
              <a:rPr sz="1300" b="0" i="0">
                <a:solidFill>
                  <a:srgbClr val="1A1D21"/>
                </a:solidFill>
                <a:latin typeface="Helvetica Neue"/>
              </a:rPr>
              <a:t> publishes an event that case-service consumes; the response counts what was collected, not what has been written. The UI says 'queued' rather than implying otherwise.</a:t>
            </a:r>
          </a:p>
        </p:txBody>
      </p:sp>
      <p:sp>
        <p:nvSpPr>
          <p:cNvPr id="8" name="TextBox 7"/>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9" name="TextBox 8"/>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09   </a:t>
            </a:r>
            <a:r>
              <a:rPr sz="2200" b="1">
                <a:solidFill>
                  <a:srgbClr val="14304A"/>
                </a:solidFill>
                <a:latin typeface="Helvetica Neue"/>
              </a:rPr>
              <a:t>P3 — Search  :8083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11057839" cy="576072"/>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133856"/>
            <a:ext cx="50292" cy="5760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234440"/>
            <a:ext cx="10710367" cy="374904"/>
          </a:xfrm>
          <a:prstGeom prst="rect">
            <a:avLst/>
          </a:prstGeom>
          <a:noFill/>
        </p:spPr>
        <p:txBody>
          <a:bodyPr wrap="square" lIns="0" rIns="0" tIns="0" bIns="0">
            <a:spAutoFit/>
          </a:bodyPr>
          <a:lstStyle/>
          <a:p>
            <a:pPr>
              <a:lnSpc>
                <a:spcPct val="106000"/>
              </a:lnSpc>
              <a:spcAft>
                <a:spcPts val="200"/>
              </a:spcAft>
            </a:pPr>
            <a:r>
              <a:rPr sz="1200" b="1" i="0">
                <a:solidFill>
                  <a:srgbClr val="5C4500"/>
                </a:solidFill>
                <a:latin typeface="Helvetica Neue"/>
              </a:rPr>
              <a:t>Elasticsearch is pinned to 9.4.x</a:t>
            </a:r>
            <a:r>
              <a:rPr sz="1200" b="0" i="0">
                <a:solidFill>
                  <a:srgbClr val="5C4500"/>
                </a:solidFill>
                <a:latin typeface="Helvetica Neue"/>
              </a:rPr>
              <a:t> to match the client Spring Boot 4.1.1 ships. The client enforces a server version check, so an 8.x server rejects it outright.</a:t>
            </a:r>
          </a:p>
        </p:txBody>
      </p:sp>
      <p:sp>
        <p:nvSpPr>
          <p:cNvPr id="7" name="TextBox 6"/>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8" name="TextBox 7"/>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10   </a:t>
            </a:r>
            <a:r>
              <a:rPr sz="2200" b="1">
                <a:solidFill>
                  <a:srgbClr val="14304A"/>
                </a:solidFill>
                <a:latin typeface="Helvetica Neue"/>
              </a:rPr>
              <a:t>P4 — Case  :8084  and  Hold  :8086</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4114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133856"/>
            <a:ext cx="10902391" cy="694944"/>
          </a:xfrm>
          <a:prstGeom prst="rect">
            <a:avLst/>
          </a:prstGeom>
          <a:noFill/>
        </p:spPr>
        <p:txBody>
          <a:bodyPr wrap="square" lIns="0" rIns="0" tIns="0" bIns="0">
            <a:spAutoFit/>
          </a:bodyPr>
          <a:lstStyle/>
          <a:p>
            <a:pPr>
              <a:lnSpc>
                <a:spcPct val="106000"/>
              </a:lnSpc>
              <a:spcAft>
                <a:spcPts val="200"/>
              </a:spcAft>
            </a:pPr>
            <a:r>
              <a:rPr sz="1450" b="1" i="0">
                <a:solidFill>
                  <a:srgbClr val="37506A"/>
                </a:solidFill>
                <a:latin typeface="Helvetica Neue"/>
              </a:rPr>
              <a:t>P4 is two deployables, not one. Case and hold are separate bounded contexts with separate databases, coordinating over </a:t>
            </a:r>
            <a:r>
              <a:rPr sz="1450" b="1" i="0">
                <a:solidFill>
                  <a:srgbClr val="9C2C4E"/>
                </a:solidFill>
                <a:latin typeface="Menlo"/>
              </a:rPr>
              <a:t>cases.events</a:t>
            </a:r>
            <a:r>
              <a:rPr sz="1450" b="1" i="0">
                <a:solidFill>
                  <a:srgbClr val="37506A"/>
                </a:solidFill>
                <a:latin typeface="Helvetica Neue"/>
              </a:rPr>
              <a:t> and one synchronous endpoint.</a:t>
            </a:r>
          </a:p>
        </p:txBody>
      </p:sp>
      <p:graphicFrame>
        <p:nvGraphicFramePr>
          <p:cNvPr id="6" name="Table 5"/>
          <p:cNvGraphicFramePr>
            <a:graphicFrameLocks noGrp="1"/>
          </p:cNvGraphicFramePr>
          <p:nvPr/>
        </p:nvGraphicFramePr>
        <p:xfrm>
          <a:off x="566928" y="1920240"/>
          <a:ext cx="11057839" cy="1947672"/>
        </p:xfrm>
        <a:graphic>
          <a:graphicData uri="http://schemas.openxmlformats.org/drawingml/2006/table">
            <a:tbl>
              <a:tblPr firstRow="1">
                <a:tableStyleId>{5C22544A-7EE6-4342-B048-85BDC9FD1C3A}</a:tableStyleId>
              </a:tblPr>
              <a:tblGrid>
                <a:gridCol w="5854150"/>
                <a:gridCol w="5203689"/>
              </a:tblGrid>
              <a:tr h="274320">
                <a:tc>
                  <a:txBody>
                    <a:bodyPr wrap="square"/>
                    <a:lstStyle/>
                    <a:p>
                      <a:pPr algn="l">
                        <a:lnSpc>
                          <a:spcPct val="104000"/>
                        </a:lnSpc>
                      </a:pPr>
                      <a:r>
                        <a:rPr sz="1050" b="1" i="0">
                          <a:solidFill>
                            <a:srgbClr val="FFFFFF"/>
                          </a:solidFill>
                          <a:latin typeface="Helvetica Neue"/>
                        </a:rPr>
                        <a:t>case-service :8084</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hold-service :8086</a:t>
                      </a:r>
                    </a:p>
                  </a:txBody>
                  <a:tcPr marL="64008" marR="64008" marT="32004" marB="32004" anchor="t">
                    <a:solidFill>
                      <a:srgbClr val="1F4E79"/>
                    </a:solidFill>
                  </a:tcPr>
                </a:tc>
              </a:tr>
              <a:tr h="278892">
                <a:tc>
                  <a:txBody>
                    <a:bodyPr wrap="square"/>
                    <a:lstStyle/>
                    <a:p>
                      <a:pPr algn="l">
                        <a:lnSpc>
                          <a:spcPct val="104000"/>
                        </a:lnSpc>
                      </a:pPr>
                      <a:r>
                        <a:rPr sz="1050" b="0" i="0">
                          <a:solidFill>
                            <a:srgbClr val="1A1D21"/>
                          </a:solidFill>
                          <a:latin typeface="Helvetica Neue"/>
                        </a:rPr>
                        <a:t>POST/GET /cases, GET/PATCH /cases/{id}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POST /holds, GET /holds/{id}</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POST /cases/{id}/transitions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POST /holds/{id}/release</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GET/POST /cases/{id}/custodians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GET /holds/check?messageId= — the guard P2 calls</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GET/POST /cases/{id}/evidence, POST .../evidence/batch</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GET /holds/covering?messageId=</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DELETE /cases/{id}/evidence/{messageId}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GET /holds/active — holds as </a:t>
                      </a:r>
                      <a:r>
                        <a:rPr sz="1050" b="0" i="1">
                          <a:solidFill>
                            <a:srgbClr val="1A1D21"/>
                          </a:solidFill>
                          <a:latin typeface="Helvetica Neue"/>
                        </a:rPr>
                        <a:t>scope</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POST /cases/evidence/lookup, GET /cases/stats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POST /holds/evidence-check, GET /holds/stats</a:t>
                      </a:r>
                    </a:p>
                  </a:txBody>
                  <a:tcPr marL="64008" marR="64008" marT="32004" marB="32004" anchor="t">
                    <a:solidFill>
                      <a:srgbClr val="F4F7FA"/>
                    </a:solidFill>
                  </a:tcPr>
                </a:tc>
              </a:tr>
            </a:tbl>
          </a:graphicData>
        </a:graphic>
      </p:graphicFrame>
      <p:sp>
        <p:nvSpPr>
          <p:cNvPr id="7" name="TextBox 6"/>
          <p:cNvSpPr txBox="1"/>
          <p:nvPr/>
        </p:nvSpPr>
        <p:spPr>
          <a:xfrm>
            <a:off x="566928" y="4142232"/>
            <a:ext cx="11057839" cy="699516"/>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The split is why the UI shows two badges rather than one 'P4'. A case list that loads while every hold check fails is a real state, and one badge could not express it. Closing a case publishes to </a:t>
            </a:r>
            <a:r>
              <a:rPr sz="1300" b="0" i="0">
                <a:solidFill>
                  <a:srgbClr val="9C2C4E"/>
                </a:solidFill>
                <a:latin typeface="Menlo"/>
              </a:rPr>
              <a:t>cases.events</a:t>
            </a:r>
            <a:r>
              <a:rPr sz="1300" b="0" i="0">
                <a:solidFill>
                  <a:srgbClr val="1A1D21"/>
                </a:solidFill>
                <a:latin typeface="Helvetica Neue"/>
              </a:rPr>
              <a:t>; hold-service consumes it and releases that case's holds.</a:t>
            </a:r>
          </a:p>
        </p:txBody>
      </p:sp>
      <p:sp>
        <p:nvSpPr>
          <p:cNvPr id="8" name="TextBox 7"/>
          <p:cNvSpPr txBox="1"/>
          <p:nvPr/>
        </p:nvSpPr>
        <p:spPr>
          <a:xfrm>
            <a:off x="566928" y="4933188"/>
            <a:ext cx="11057839" cy="306323"/>
          </a:xfrm>
          <a:prstGeom prst="rect">
            <a:avLst/>
          </a:prstGeom>
          <a:noFill/>
        </p:spPr>
        <p:txBody>
          <a:bodyPr wrap="square" lIns="0" rIns="0" tIns="0" bIns="0">
            <a:spAutoFit/>
          </a:bodyPr>
          <a:lstStyle/>
          <a:p>
            <a:pPr>
              <a:lnSpc>
                <a:spcPct val="106000"/>
              </a:lnSpc>
              <a:spcAft>
                <a:spcPts val="200"/>
              </a:spcAft>
            </a:pPr>
            <a:r>
              <a:rPr sz="1300" b="1" i="0">
                <a:solidFill>
                  <a:srgbClr val="1A1D21"/>
                </a:solidFill>
                <a:latin typeface="Helvetica Neue"/>
              </a:rPr>
              <a:t>Overlapping holds — the part that is easy to get wrong.</a:t>
            </a:r>
          </a:p>
        </p:txBody>
      </p:sp>
      <p:sp>
        <p:nvSpPr>
          <p:cNvPr id="9" name="TextBox 8"/>
          <p:cNvSpPr txBox="1"/>
          <p:nvPr/>
        </p:nvSpPr>
        <p:spPr>
          <a:xfrm>
            <a:off x="566928" y="5330952"/>
            <a:ext cx="11057839" cy="896112"/>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Two holds routinely cover the same message: 'Rahul's mailbox' and 'the Phoenix investigation' are different scopes on different cases that overlap on whatever Rahul sent about Phoenix. Releasing one does not unprotect the message; only the last release does. P4 owns that decision in one place, </a:t>
            </a:r>
            <a:r>
              <a:rPr sz="1300" b="0" i="0">
                <a:solidFill>
                  <a:srgbClr val="9C2C4E"/>
                </a:solidFill>
                <a:latin typeface="Menlo"/>
              </a:rPr>
              <a:t>HoldReleasePlan</a:t>
            </a:r>
            <a:r>
              <a:rPr sz="1300" b="0" i="0">
                <a:solidFill>
                  <a:srgbClr val="1A1D21"/>
                </a:solidFill>
                <a:latin typeface="Helvetica Neue"/>
              </a:rPr>
              <a:t>: a release publishes </a:t>
            </a:r>
            <a:r>
              <a:rPr sz="1300" b="0" i="0">
                <a:solidFill>
                  <a:srgbClr val="9C2C4E"/>
                </a:solidFill>
                <a:latin typeface="Menlo"/>
              </a:rPr>
              <a:t>held=false</a:t>
            </a:r>
            <a:r>
              <a:rPr sz="1300" b="0" i="0">
                <a:solidFill>
                  <a:srgbClr val="1A1D21"/>
                </a:solidFill>
                <a:latin typeface="Helvetica Neue"/>
              </a:rPr>
              <a:t> only for messages no other ACTIVE hold covers, and the </a:t>
            </a:r>
            <a:r>
              <a:rPr sz="1300" b="0" i="0">
                <a:solidFill>
                  <a:srgbClr val="9C2C4E"/>
                </a:solidFill>
                <a:latin typeface="Menlo"/>
              </a:rPr>
              <a:t>hold.released</a:t>
            </a:r>
            <a:r>
              <a:rPr sz="1300" b="0" i="0">
                <a:solidFill>
                  <a:srgbClr val="1A1D21"/>
                </a:solidFill>
                <a:latin typeface="Helvetica Neue"/>
              </a:rPr>
              <a:t> audit records both </a:t>
            </a:r>
            <a:r>
              <a:rPr sz="1300" b="0" i="0">
                <a:solidFill>
                  <a:srgbClr val="9C2C4E"/>
                </a:solidFill>
                <a:latin typeface="Menlo"/>
              </a:rPr>
              <a:t>unprotectedMessages</a:t>
            </a:r>
            <a:r>
              <a:rPr sz="1300" b="0" i="0">
                <a:solidFill>
                  <a:srgbClr val="1A1D21"/>
                </a:solidFill>
                <a:latin typeface="Helvetica Neue"/>
              </a:rPr>
              <a:t> and </a:t>
            </a:r>
            <a:r>
              <a:rPr sz="1300" b="0" i="0">
                <a:solidFill>
                  <a:srgbClr val="9C2C4E"/>
                </a:solidFill>
                <a:latin typeface="Menlo"/>
              </a:rPr>
              <a:t>stillHeldMessages</a:t>
            </a:r>
            <a:r>
              <a:rPr sz="1300" b="0" i="0">
                <a:solidFill>
                  <a:srgbClr val="1A1D21"/>
                </a:solidFill>
                <a:latin typeface="Helvetica Neue"/>
              </a:rPr>
              <a:t>.</a:t>
            </a:r>
          </a:p>
        </p:txBody>
      </p:sp>
      <p:sp>
        <p:nvSpPr>
          <p:cNvPr id="10" name="TextBox 9"/>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11" name="TextBox 10"/>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10   </a:t>
            </a:r>
            <a:r>
              <a:rPr sz="2200" b="1">
                <a:solidFill>
                  <a:srgbClr val="14304A"/>
                </a:solidFill>
                <a:latin typeface="Helvetica Neue"/>
              </a:rPr>
              <a:t>P4 — Case  :8084  and  Hold  :8086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1810512"/>
          </a:xfrm>
          <a:prstGeom prst="rect">
            <a:avLst/>
          </a:prstGeom>
          <a:noFill/>
        </p:spPr>
        <p:txBody>
          <a:bodyPr wrap="square" lIns="0" rIns="0" tIns="0" bIns="0">
            <a:spAutoFit/>
          </a:bodyPr>
          <a:lstStyle/>
          <a:p>
            <a:pPr>
              <a:lnSpc>
                <a:spcPct val="106000"/>
              </a:lnSpc>
              <a:spcAft>
                <a:spcPts val="500"/>
              </a:spcAft>
            </a:pPr>
            <a:r>
              <a:rPr sz="1300">
                <a:solidFill>
                  <a:srgbClr val="C9A227"/>
                </a:solidFill>
                <a:latin typeface="Helvetica Neue"/>
              </a:rPr>
              <a:t>▪  </a:t>
            </a:r>
            <a:r>
              <a:rPr sz="1300" b="1" i="0">
                <a:solidFill>
                  <a:srgbClr val="9C2C4E"/>
                </a:solidFill>
                <a:latin typeface="Menlo"/>
              </a:rPr>
              <a:t>held=false</a:t>
            </a:r>
            <a:r>
              <a:rPr sz="1300" b="1" i="0">
                <a:solidFill>
                  <a:srgbClr val="1A1D21"/>
                </a:solidFill>
                <a:latin typeface="Helvetica Neue"/>
              </a:rPr>
              <a:t> is state, not a decrement.</a:t>
            </a:r>
            <a:r>
              <a:rPr sz="1300" b="0" i="0">
                <a:solidFill>
                  <a:srgbClr val="1A1D21"/>
                </a:solidFill>
                <a:latin typeface="Helvetica Neue"/>
              </a:rPr>
              <a:t> P2's mirror sets </a:t>
            </a:r>
            <a:r>
              <a:rPr sz="1300" b="0" i="0">
                <a:solidFill>
                  <a:srgbClr val="9C2C4E"/>
                </a:solidFill>
                <a:latin typeface="Menlo"/>
              </a:rPr>
              <a:t>on_hold = false, hold_count = 0</a:t>
            </a:r>
            <a:r>
              <a:rPr sz="1300" b="0" i="0">
                <a:solidFill>
                  <a:srgbClr val="1A1D21"/>
                </a:solidFill>
                <a:latin typeface="Helvetica Neue"/>
              </a:rPr>
              <a:t> outright, because P4 has already established nothing else covers the message. A decrementing mirror would never reach zero for a message that was ever held twice — it would sit at 1, permanently on hold, permanently exempt from retention.</a:t>
            </a:r>
          </a:p>
          <a:p>
            <a:pPr>
              <a:lnSpc>
                <a:spcPct val="106000"/>
              </a:lnSpc>
              <a:spcAft>
                <a:spcPts val="500"/>
              </a:spcAft>
            </a:pPr>
            <a:r>
              <a:rPr sz="1300">
                <a:solidFill>
                  <a:srgbClr val="C9A227"/>
                </a:solidFill>
                <a:latin typeface="Helvetica Neue"/>
              </a:rPr>
              <a:t>▪  </a:t>
            </a:r>
            <a:r>
              <a:rPr sz="1300" b="1" i="0">
                <a:solidFill>
                  <a:srgbClr val="9C2C4E"/>
                </a:solidFill>
                <a:latin typeface="Menlo"/>
              </a:rPr>
              <a:t>GET /holds/check</a:t>
            </a:r>
            <a:r>
              <a:rPr sz="1300" b="1" i="0">
                <a:solidFill>
                  <a:srgbClr val="1A1D21"/>
                </a:solidFill>
                <a:latin typeface="Helvetica Neue"/>
              </a:rPr>
              <a:t> was always right about overlap.</a:t>
            </a:r>
            <a:r>
              <a:rPr sz="1300" b="0" i="0">
                <a:solidFill>
                  <a:srgbClr val="1A1D21"/>
                </a:solidFill>
                <a:latin typeface="Helvetica Neue"/>
              </a:rPr>
              <a:t> It joins coverage to ACTIVE holds, so it refused deletes even while the published events were wrong. That is why the bug was survivable — and why it was invisible: nothing was ever deleted, the flags were just quietly wrong.</a:t>
            </a:r>
          </a:p>
          <a:p>
            <a:pPr>
              <a:lnSpc>
                <a:spcPct val="106000"/>
              </a:lnSpc>
              <a:spcAft>
                <a:spcPts val="500"/>
              </a:spcAft>
            </a:pPr>
            <a:r>
              <a:rPr sz="1300">
                <a:solidFill>
                  <a:srgbClr val="C9A227"/>
                </a:solidFill>
                <a:latin typeface="Helvetica Neue"/>
              </a:rPr>
              <a:t>▪  </a:t>
            </a:r>
            <a:r>
              <a:rPr sz="1300" b="1" i="0">
                <a:solidFill>
                  <a:srgbClr val="9C2C4E"/>
                </a:solidFill>
                <a:latin typeface="Menlo"/>
              </a:rPr>
              <a:t>GET /holds/covering</a:t>
            </a:r>
            <a:r>
              <a:rPr sz="1300" b="1" i="0">
                <a:solidFill>
                  <a:srgbClr val="1A1D21"/>
                </a:solidFill>
                <a:latin typeface="Helvetica Neue"/>
              </a:rPr>
              <a:t> answers the question that follows.</a:t>
            </a:r>
            <a:r>
              <a:rPr sz="1300" b="0" i="0">
                <a:solidFill>
                  <a:srgbClr val="1A1D21"/>
                </a:solidFill>
                <a:latin typeface="Helvetica Neue"/>
              </a:rPr>
              <a:t> An investigator who releases their hold and finds the message still held wants to know </a:t>
            </a:r>
            <a:r>
              <a:rPr sz="1300" b="0" i="1">
                <a:solidFill>
                  <a:srgbClr val="1A1D21"/>
                </a:solidFill>
                <a:latin typeface="Helvetica Neue"/>
              </a:rPr>
              <a:t>which</a:t>
            </a:r>
            <a:r>
              <a:rPr sz="1300" b="0" i="0">
                <a:solidFill>
                  <a:srgbClr val="1A1D21"/>
                </a:solidFill>
                <a:latin typeface="Helvetica Neue"/>
              </a:rPr>
              <a:t> hold is responsible.</a:t>
            </a:r>
          </a:p>
        </p:txBody>
      </p:sp>
      <p:sp>
        <p:nvSpPr>
          <p:cNvPr id="5" name="Rectangle 4"/>
          <p:cNvSpPr/>
          <p:nvPr/>
        </p:nvSpPr>
        <p:spPr>
          <a:xfrm>
            <a:off x="566928" y="3035808"/>
            <a:ext cx="11057839" cy="772668"/>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3035808"/>
            <a:ext cx="50292" cy="77266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3136392"/>
            <a:ext cx="10710367" cy="571500"/>
          </a:xfrm>
          <a:prstGeom prst="rect">
            <a:avLst/>
          </a:prstGeom>
          <a:noFill/>
        </p:spPr>
        <p:txBody>
          <a:bodyPr wrap="square" lIns="0" rIns="0" tIns="0" bIns="0">
            <a:spAutoFit/>
          </a:bodyPr>
          <a:lstStyle/>
          <a:p>
            <a:pPr>
              <a:lnSpc>
                <a:spcPct val="106000"/>
              </a:lnSpc>
              <a:spcAft>
                <a:spcPts val="200"/>
              </a:spcAft>
            </a:pPr>
            <a:r>
              <a:rPr sz="1200" b="1" i="0">
                <a:solidFill>
                  <a:srgbClr val="5C4500"/>
                </a:solidFill>
                <a:latin typeface="Helvetica Neue"/>
              </a:rPr>
              <a:t>A new hold protects nothing yet.</a:t>
            </a:r>
            <a:r>
              <a:rPr sz="1200" b="0" i="0">
                <a:solidFill>
                  <a:srgbClr val="5C4500"/>
                </a:solidFill>
                <a:latin typeface="Helvetica Neue"/>
              </a:rPr>
              <a:t> </a:t>
            </a:r>
            <a:r>
              <a:rPr sz="1200" b="0" i="0">
                <a:solidFill>
                  <a:srgbClr val="9C2C4E"/>
                </a:solidFill>
                <a:latin typeface="Menlo"/>
              </a:rPr>
              <a:t>POST /holds</a:t>
            </a:r>
            <a:r>
              <a:rPr sz="1200" b="0" i="0">
                <a:solidFill>
                  <a:srgbClr val="5C4500"/>
                </a:solidFill>
                <a:latin typeface="Helvetica Neue"/>
              </a:rPr>
              <a:t> returns 202 and a </a:t>
            </a:r>
            <a:r>
              <a:rPr sz="1200" b="0" i="0">
                <a:solidFill>
                  <a:srgbClr val="9C2C4E"/>
                </a:solidFill>
                <a:latin typeface="Menlo"/>
              </a:rPr>
              <a:t>RESOLVING</a:t>
            </a:r>
            <a:r>
              <a:rPr sz="1200" b="0" i="0">
                <a:solidFill>
                  <a:srgbClr val="5C4500"/>
                </a:solidFill>
                <a:latin typeface="Helvetica Neue"/>
              </a:rPr>
              <a:t> hold; a worker expands the scope over </a:t>
            </a:r>
            <a:r>
              <a:rPr sz="1200" b="0" i="0">
                <a:solidFill>
                  <a:srgbClr val="9C2C4E"/>
                </a:solidFill>
                <a:latin typeface="Menlo"/>
              </a:rPr>
              <a:t>holds.commands</a:t>
            </a:r>
            <a:r>
              <a:rPr sz="1200" b="0" i="0">
                <a:solidFill>
                  <a:srgbClr val="5C4500"/>
                </a:solidFill>
                <a:latin typeface="Helvetica Neue"/>
              </a:rPr>
              <a:t> and flips it to ACTIVE with a messageCount. FR-4.3 requires this propagation to be asynchronous — which is precisely what creates the window that disposition guard 2 exists to close.</a:t>
            </a:r>
          </a:p>
        </p:txBody>
      </p:sp>
      <p:sp>
        <p:nvSpPr>
          <p:cNvPr id="8" name="TextBox 7"/>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9" name="TextBox 8"/>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11   </a:t>
            </a:r>
            <a:r>
              <a:rPr sz="2200" b="1">
                <a:solidFill>
                  <a:srgbClr val="14304A"/>
                </a:solidFill>
                <a:latin typeface="Helvetica Neue"/>
              </a:rPr>
              <a:t>Legal hold: five guards between a candidate and deletion</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41148" cy="3383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133856"/>
            <a:ext cx="10902391" cy="429768"/>
          </a:xfrm>
          <a:prstGeom prst="rect">
            <a:avLst/>
          </a:prstGeom>
          <a:noFill/>
        </p:spPr>
        <p:txBody>
          <a:bodyPr wrap="square" lIns="0" rIns="0" tIns="0" bIns="0">
            <a:spAutoFit/>
          </a:bodyPr>
          <a:lstStyle/>
          <a:p>
            <a:pPr>
              <a:lnSpc>
                <a:spcPct val="106000"/>
              </a:lnSpc>
              <a:spcAft>
                <a:spcPts val="200"/>
              </a:spcAft>
            </a:pPr>
            <a:r>
              <a:rPr sz="1450" b="1" i="0">
                <a:solidFill>
                  <a:srgbClr val="37506A"/>
                </a:solidFill>
                <a:latin typeface="Helvetica Neue"/>
              </a:rPr>
              <a:t>They are redundant on purpose. Each catches something the others structurally cannot.</a:t>
            </a:r>
          </a:p>
        </p:txBody>
      </p:sp>
      <p:graphicFrame>
        <p:nvGraphicFramePr>
          <p:cNvPr id="6" name="Table 5"/>
          <p:cNvGraphicFramePr>
            <a:graphicFrameLocks noGrp="1"/>
          </p:cNvGraphicFramePr>
          <p:nvPr/>
        </p:nvGraphicFramePr>
        <p:xfrm>
          <a:off x="566928" y="1655064"/>
          <a:ext cx="11057837" cy="1988820"/>
        </p:xfrm>
        <a:graphic>
          <a:graphicData uri="http://schemas.openxmlformats.org/drawingml/2006/table">
            <a:tbl>
              <a:tblPr firstRow="1">
                <a:tableStyleId>{5C22544A-7EE6-4342-B048-85BDC9FD1C3A}</a:tableStyleId>
              </a:tblPr>
              <a:tblGrid>
                <a:gridCol w="548970"/>
                <a:gridCol w="1490063"/>
                <a:gridCol w="3215400"/>
                <a:gridCol w="5803404"/>
              </a:tblGrid>
              <a:tr h="274320">
                <a:tc>
                  <a:txBody>
                    <a:bodyPr wrap="square"/>
                    <a:lstStyle/>
                    <a:p>
                      <a:pPr algn="l">
                        <a:lnSpc>
                          <a:spcPct val="104000"/>
                        </a:lnSpc>
                      </a:pPr>
                      <a:r>
                        <a:rPr sz="1050" b="1" i="0">
                          <a:solidFill>
                            <a:srgbClr val="FFFFFF"/>
                          </a:solidFill>
                          <a:latin typeface="Helvetica Neue"/>
                        </a:rPr>
                        <a:t>#</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Guard</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Where</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Catches</a:t>
                      </a:r>
                    </a:p>
                  </a:txBody>
                  <a:tcPr marL="64008" marR="64008" marT="32004" marB="32004" anchor="t">
                    <a:solidFill>
                      <a:srgbClr val="1F4E79"/>
                    </a:solidFill>
                  </a:tcPr>
                </a:tc>
              </a:tr>
              <a:tr h="278892">
                <a:tc>
                  <a:txBody>
                    <a:bodyPr wrap="square"/>
                    <a:lstStyle/>
                    <a:p>
                      <a:pPr algn="l">
                        <a:lnSpc>
                          <a:spcPct val="104000"/>
                        </a:lnSpc>
                      </a:pPr>
                      <a:r>
                        <a:rPr sz="1050" b="0" i="0">
                          <a:solidFill>
                            <a:srgbClr val="1A1D21"/>
                          </a:solidFill>
                          <a:latin typeface="Helvetica Neue"/>
                        </a:rPr>
                        <a:t>1</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Menlo"/>
                        </a:rPr>
                        <a:t>on_hold</a:t>
                      </a:r>
                      <a:r>
                        <a:rPr sz="1050" b="0" i="0">
                          <a:solidFill>
                            <a:srgbClr val="1A1D21"/>
                          </a:solidFill>
                          <a:latin typeface="Helvetica Neue"/>
                        </a:rPr>
                        <a:t> flag</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P2's row, mirrored from holds.events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Almost everything, for free</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2</a:t>
                      </a:r>
                    </a:p>
                  </a:txBody>
                  <a:tcPr marL="64008" marR="64008" marT="32004" marB="32004" anchor="t">
                    <a:solidFill>
                      <a:srgbClr val="F4F7FA"/>
                    </a:solidFill>
                  </a:tcPr>
                </a:tc>
                <a:tc>
                  <a:txBody>
                    <a:bodyPr wrap="square"/>
                    <a:lstStyle/>
                    <a:p>
                      <a:pPr algn="l">
                        <a:lnSpc>
                          <a:spcPct val="104000"/>
                        </a:lnSpc>
                      </a:pPr>
                      <a:r>
                        <a:rPr sz="1050" b="1" i="0">
                          <a:solidFill>
                            <a:srgbClr val="1A1D21"/>
                          </a:solidFill>
                          <a:latin typeface="Helvetica Neue"/>
                        </a:rPr>
                        <a:t>Active hold scope</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GET /holds/active — once per run</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A hold on a case P4 has not yet expanded to messages</a:t>
                      </a:r>
                    </a:p>
                  </a:txBody>
                  <a:tcPr marL="64008" marR="64008" marT="32004" marB="32004" anchor="t">
                    <a:solidFill>
                      <a:srgbClr val="F4F7FA"/>
                    </a:solidFill>
                  </a:tcPr>
                </a:tc>
              </a:tr>
              <a:tr h="438912">
                <a:tc>
                  <a:txBody>
                    <a:bodyPr wrap="square"/>
                    <a:lstStyle/>
                    <a:p>
                      <a:pPr algn="l">
                        <a:lnSpc>
                          <a:spcPct val="104000"/>
                        </a:lnSpc>
                      </a:pPr>
                      <a:r>
                        <a:rPr sz="1050" b="0" i="0">
                          <a:solidFill>
                            <a:srgbClr val="1A1D21"/>
                          </a:solidFill>
                          <a:latin typeface="Helvetica Neue"/>
                        </a:rPr>
                        <a:t>3</a:t>
                      </a:r>
                    </a:p>
                  </a:txBody>
                  <a:tcPr marL="64008" marR="64008" marT="32004" marB="32004" anchor="t">
                    <a:solidFill>
                      <a:srgbClr val="FFFFFF"/>
                    </a:solidFill>
                  </a:tcPr>
                </a:tc>
                <a:tc>
                  <a:txBody>
                    <a:bodyPr wrap="square"/>
                    <a:lstStyle/>
                    <a:p>
                      <a:pPr algn="l">
                        <a:lnSpc>
                          <a:spcPct val="104000"/>
                        </a:lnSpc>
                      </a:pPr>
                      <a:r>
                        <a:rPr sz="1050" b="1" i="0">
                          <a:solidFill>
                            <a:srgbClr val="1A1D21"/>
                          </a:solidFill>
                          <a:latin typeface="Helvetica Neue"/>
                        </a:rPr>
                        <a:t>Held-case evidence</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POST /holds/evidence-check — once per run</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A message attached to a held case that the hold's own scope does not cover</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4</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Menlo"/>
                        </a:rPr>
                        <a:t>GET /holds/check</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Synchronous, per message</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The backstop for anything neither run-level answer expressed</a:t>
                      </a:r>
                    </a:p>
                  </a:txBody>
                  <a:tcPr marL="64008" marR="64008" marT="32004" marB="32004" anchor="t">
                    <a:solidFill>
                      <a:srgbClr val="F4F7FA"/>
                    </a:solidFill>
                  </a:tcPr>
                </a:tc>
              </a:tr>
              <a:tr h="438912">
                <a:tc>
                  <a:txBody>
                    <a:bodyPr wrap="square"/>
                    <a:lstStyle/>
                    <a:p>
                      <a:pPr algn="l">
                        <a:lnSpc>
                          <a:spcPct val="104000"/>
                        </a:lnSpc>
                      </a:pPr>
                      <a:r>
                        <a:rPr sz="1050" b="0" i="0">
                          <a:solidFill>
                            <a:srgbClr val="1A1D21"/>
                          </a:solidFill>
                          <a:latin typeface="Helvetica Neue"/>
                        </a:rPr>
                        <a:t>5</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Menlo"/>
                        </a:rPr>
                        <a:t>AND on_hold = false</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Inside the DELETE statement</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A hold placed </a:t>
                      </a:r>
                      <a:r>
                        <a:rPr sz="1050" b="0" i="1">
                          <a:solidFill>
                            <a:srgbClr val="1A1D21"/>
                          </a:solidFill>
                          <a:latin typeface="Helvetica Neue"/>
                        </a:rPr>
                        <a:t>after</a:t>
                      </a:r>
                      <a:r>
                        <a:rPr sz="1050" b="0" i="0">
                          <a:solidFill>
                            <a:srgbClr val="1A1D21"/>
                          </a:solidFill>
                          <a:latin typeface="Helvetica Neue"/>
                        </a:rPr>
                        <a:t> the check, milliseconds before the write</a:t>
                      </a:r>
                    </a:p>
                  </a:txBody>
                  <a:tcPr marL="64008" marR="64008" marT="32004" marB="32004" anchor="t">
                    <a:solidFill>
                      <a:srgbClr val="FFFFFF"/>
                    </a:solidFill>
                  </a:tcPr>
                </a:tc>
              </a:tr>
            </a:tbl>
          </a:graphicData>
        </a:graphic>
      </p:graphicFrame>
      <p:sp>
        <p:nvSpPr>
          <p:cNvPr id="7" name="TextBox 6"/>
          <p:cNvSpPr txBox="1"/>
          <p:nvPr/>
        </p:nvSpPr>
        <p:spPr>
          <a:xfrm>
            <a:off x="566928" y="3918204"/>
            <a:ext cx="11057839" cy="502920"/>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Only the fifth is evaluated atomically with the write, which is why it exists even though four checks already passed. A message refused there is recorded as </a:t>
            </a:r>
            <a:r>
              <a:rPr sz="1300" b="0" i="0">
                <a:solidFill>
                  <a:srgbClr val="9C2C4E"/>
                </a:solidFill>
                <a:latin typeface="Menlo"/>
              </a:rPr>
              <a:t>SKIPPED_HOLD</a:t>
            </a:r>
            <a:r>
              <a:rPr sz="1300" b="0" i="0">
                <a:solidFill>
                  <a:srgbClr val="1A1D21"/>
                </a:solidFill>
                <a:latin typeface="Helvetica Neue"/>
              </a:rPr>
              <a:t> and audited as </a:t>
            </a:r>
            <a:r>
              <a:rPr sz="1300" b="0" i="0">
                <a:solidFill>
                  <a:srgbClr val="9C2C4E"/>
                </a:solidFill>
                <a:latin typeface="Menlo"/>
              </a:rPr>
              <a:t>disposition.refused</a:t>
            </a:r>
            <a:r>
              <a:rPr sz="1300" b="0" i="0">
                <a:solidFill>
                  <a:srgbClr val="1A1D21"/>
                </a:solidFill>
                <a:latin typeface="Helvetica Neue"/>
              </a:rPr>
              <a:t> — the demonstrable proof FR-4.6 asks for.</a:t>
            </a:r>
          </a:p>
        </p:txBody>
      </p:sp>
      <p:sp>
        <p:nvSpPr>
          <p:cNvPr id="8" name="TextBox 7"/>
          <p:cNvSpPr txBox="1"/>
          <p:nvPr/>
        </p:nvSpPr>
        <p:spPr>
          <a:xfrm>
            <a:off x="566928" y="4512564"/>
            <a:ext cx="11057839" cy="896112"/>
          </a:xfrm>
          <a:prstGeom prst="rect">
            <a:avLst/>
          </a:prstGeom>
          <a:noFill/>
        </p:spPr>
        <p:txBody>
          <a:bodyPr wrap="square" lIns="0" rIns="0" tIns="0" bIns="0">
            <a:spAutoFit/>
          </a:bodyPr>
          <a:lstStyle/>
          <a:p>
            <a:pPr>
              <a:lnSpc>
                <a:spcPct val="106000"/>
              </a:lnSpc>
              <a:spcAft>
                <a:spcPts val="200"/>
              </a:spcAft>
            </a:pPr>
            <a:r>
              <a:rPr sz="1300" b="1" i="0">
                <a:solidFill>
                  <a:srgbClr val="1A1D21"/>
                </a:solidFill>
                <a:latin typeface="Helvetica Neue"/>
              </a:rPr>
              <a:t>Why guard 2 exists.</a:t>
            </a:r>
            <a:r>
              <a:rPr sz="1300" b="0" i="0">
                <a:solidFill>
                  <a:srgbClr val="1A1D21"/>
                </a:solidFill>
                <a:latin typeface="Helvetica Neue"/>
              </a:rPr>
              <a:t> Guards 1, 3 and 4 all read per-message state, and FR-4.3 makes propagation asynchronous. Between an investigator placing a hold and every message in scope being flagged, every per-message signal correctly reports 'not held'. A sweep landing in that window would destroy exactly the evidence the hold was placed to preserve. Guard 2 evaluates the hold's </a:t>
            </a:r>
            <a:r>
              <a:rPr sz="1300" b="0" i="1">
                <a:solidFill>
                  <a:srgbClr val="1A1D21"/>
                </a:solidFill>
                <a:latin typeface="Helvetica Neue"/>
              </a:rPr>
              <a:t>scope</a:t>
            </a:r>
            <a:r>
              <a:rPr sz="1300" b="0" i="0">
                <a:solidFill>
                  <a:srgbClr val="1A1D21"/>
                </a:solidFill>
                <a:latin typeface="Helvetica Neue"/>
              </a:rPr>
              <a:t> — custodians, dates, case — so the hold is enough, expanded or not.</a:t>
            </a:r>
          </a:p>
        </p:txBody>
      </p:sp>
      <p:sp>
        <p:nvSpPr>
          <p:cNvPr id="9" name="TextBox 8"/>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10" name="TextBox 9"/>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11   </a:t>
            </a:r>
            <a:r>
              <a:rPr sz="2200" b="1">
                <a:solidFill>
                  <a:srgbClr val="14304A"/>
                </a:solidFill>
                <a:latin typeface="Helvetica Neue"/>
              </a:rPr>
              <a:t>Legal hold: five guards between a candidate and deletion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1417320"/>
          </a:xfrm>
          <a:prstGeom prst="rect">
            <a:avLst/>
          </a:prstGeom>
          <a:noFill/>
        </p:spPr>
        <p:txBody>
          <a:bodyPr wrap="square" lIns="0" rIns="0" tIns="0" bIns="0">
            <a:spAutoFit/>
          </a:bodyPr>
          <a:lstStyle/>
          <a:p>
            <a:pPr>
              <a:lnSpc>
                <a:spcPct val="106000"/>
              </a:lnSpc>
              <a:spcAft>
                <a:spcPts val="500"/>
              </a:spcAft>
            </a:pPr>
            <a:r>
              <a:rPr sz="1300">
                <a:solidFill>
                  <a:srgbClr val="C9A227"/>
                </a:solidFill>
                <a:latin typeface="Helvetica Neue"/>
              </a:rPr>
              <a:t>▪  </a:t>
            </a:r>
            <a:r>
              <a:rPr sz="1300" b="1" i="0">
                <a:solidFill>
                  <a:srgbClr val="1A1D21"/>
                </a:solidFill>
                <a:latin typeface="Helvetica Neue"/>
              </a:rPr>
              <a:t>Custodians match exactly, and an </a:t>
            </a:r>
            <a:r>
              <a:rPr sz="1300" b="1" i="1">
                <a:solidFill>
                  <a:srgbClr val="1A1D21"/>
                </a:solidFill>
                <a:latin typeface="Helvetica Neue"/>
              </a:rPr>
              <a:t>empty</a:t>
            </a:r>
            <a:r>
              <a:rPr sz="1300" b="1" i="0">
                <a:solidFill>
                  <a:srgbClr val="1A1D21"/>
                </a:solidFill>
                <a:latin typeface="Helvetica Neue"/>
              </a:rPr>
              <a:t> custodian set means every custodian</a:t>
            </a:r>
            <a:r>
              <a:rPr sz="1300" b="0" i="0">
                <a:solidFill>
                  <a:srgbClr val="1A1D21"/>
                </a:solidFill>
                <a:latin typeface="Helvetica Neue"/>
              </a:rPr>
              <a:t> — a hold placed without narrowing to people covers the whole corpus. If you mean 'no one', do not return the hold.</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Date ranges are exact and inclusive</a:t>
            </a:r>
            <a:r>
              <a:rPr sz="1300" b="0" i="0">
                <a:solidFill>
                  <a:srgbClr val="1A1D21"/>
                </a:solidFill>
                <a:latin typeface="Helvetica Neue"/>
              </a:rPr>
              <a:t>, either end may be unbounded.</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Search terms are not evaluated.</a:t>
            </a:r>
            <a:r>
              <a:rPr sz="1300" b="0" i="0">
                <a:solidFill>
                  <a:srgbClr val="1A1D21"/>
                </a:solidFill>
                <a:latin typeface="Helvetica Neue"/>
              </a:rPr>
              <a:t> This service has identities and timestamps, not bodies. A term-scoped hold therefore protects everything within its custodian and date range — over-protecting by design. Under-protecting means deleting evidence and being unable to say so; over-protecting means a message survives one cycle longer. Not comparable costs.</a:t>
            </a:r>
          </a:p>
        </p:txBody>
      </p:sp>
      <p:sp>
        <p:nvSpPr>
          <p:cNvPr id="5" name="TextBox 4"/>
          <p:cNvSpPr txBox="1"/>
          <p:nvPr/>
        </p:nvSpPr>
        <p:spPr>
          <a:xfrm>
            <a:off x="566928" y="2642616"/>
            <a:ext cx="11057839" cy="1092707"/>
          </a:xfrm>
          <a:prstGeom prst="rect">
            <a:avLst/>
          </a:prstGeom>
          <a:noFill/>
        </p:spPr>
        <p:txBody>
          <a:bodyPr wrap="square" lIns="0" rIns="0" tIns="0" bIns="0">
            <a:spAutoFit/>
          </a:bodyPr>
          <a:lstStyle/>
          <a:p>
            <a:pPr>
              <a:lnSpc>
                <a:spcPct val="106000"/>
              </a:lnSpc>
              <a:spcAft>
                <a:spcPts val="200"/>
              </a:spcAft>
            </a:pPr>
            <a:r>
              <a:rPr sz="1300" b="1" i="0">
                <a:solidFill>
                  <a:srgbClr val="1A1D21"/>
                </a:solidFill>
                <a:latin typeface="Helvetica Neue"/>
              </a:rPr>
              <a:t>Why guard 3 exists.</a:t>
            </a:r>
            <a:r>
              <a:rPr sz="1300" b="0" i="0">
                <a:solidFill>
                  <a:srgbClr val="1A1D21"/>
                </a:solidFill>
                <a:latin typeface="Helvetica Neue"/>
              </a:rPr>
              <a:t> A hold's scope and a case's contents are different sets. A hold is written as custodians plus dates, but FR-2.4 lets an investigator add </a:t>
            </a:r>
            <a:r>
              <a:rPr sz="1300" b="0" i="1">
                <a:solidFill>
                  <a:srgbClr val="1A1D21"/>
                </a:solidFill>
                <a:latin typeface="Helvetica Neue"/>
              </a:rPr>
              <a:t>any</a:t>
            </a:r>
            <a:r>
              <a:rPr sz="1300" b="0" i="0">
                <a:solidFill>
                  <a:srgbClr val="1A1D21"/>
                </a:solidFill>
                <a:latin typeface="Helvetica Neue"/>
              </a:rPr>
              <a:t> message to a case. A hold covering two custodians for 2019–2021 genuinely does not cover a 2024 message from a third custodian — and yet if a human pulled that message into the matter, deleting it destroys part of a production someone already selected. Scope alone would delete out-of-scope evidence; evidence alone would delete everything a broad custodian hold was placed to freeze before anyone reviewed it.</a:t>
            </a:r>
          </a:p>
        </p:txBody>
      </p:sp>
      <p:sp>
        <p:nvSpPr>
          <p:cNvPr id="6" name="Rectangle 5"/>
          <p:cNvSpPr/>
          <p:nvPr/>
        </p:nvSpPr>
        <p:spPr>
          <a:xfrm>
            <a:off x="566928" y="3826764"/>
            <a:ext cx="11057839" cy="772668"/>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3826764"/>
            <a:ext cx="50292" cy="77266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3927348"/>
            <a:ext cx="10710367" cy="571500"/>
          </a:xfrm>
          <a:prstGeom prst="rect">
            <a:avLst/>
          </a:prstGeom>
          <a:noFill/>
        </p:spPr>
        <p:txBody>
          <a:bodyPr wrap="square" lIns="0" rIns="0" tIns="0" bIns="0">
            <a:spAutoFit/>
          </a:bodyPr>
          <a:lstStyle/>
          <a:p>
            <a:pPr>
              <a:lnSpc>
                <a:spcPct val="106000"/>
              </a:lnSpc>
              <a:spcAft>
                <a:spcPts val="200"/>
              </a:spcAft>
            </a:pPr>
            <a:r>
              <a:rPr sz="1200" b="1" i="0">
                <a:solidFill>
                  <a:srgbClr val="5C4500"/>
                </a:solidFill>
                <a:latin typeface="Helvetica Neue"/>
              </a:rPr>
              <a:t>Evidence membership protects only while the case is under hold.</a:t>
            </a:r>
            <a:r>
              <a:rPr sz="1200" b="0" i="0">
                <a:solidFill>
                  <a:srgbClr val="5C4500"/>
                </a:solidFill>
                <a:latin typeface="Helvetica Neue"/>
              </a:rPr>
              <a:t> A message in a case with no hold stays deletable — otherwise adding anything to any case would silently switch retention off for it, and retention would decay to nothing as the system got used.</a:t>
            </a:r>
          </a:p>
        </p:txBody>
      </p:sp>
      <p:sp>
        <p:nvSpPr>
          <p:cNvPr id="9" name="Rectangle 8"/>
          <p:cNvSpPr/>
          <p:nvPr/>
        </p:nvSpPr>
        <p:spPr>
          <a:xfrm>
            <a:off x="566928" y="4764024"/>
            <a:ext cx="11057839" cy="969264"/>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4764024"/>
            <a:ext cx="50292" cy="9692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4864608"/>
            <a:ext cx="10710367" cy="768096"/>
          </a:xfrm>
          <a:prstGeom prst="rect">
            <a:avLst/>
          </a:prstGeom>
          <a:noFill/>
        </p:spPr>
        <p:txBody>
          <a:bodyPr wrap="square" lIns="0" rIns="0" tIns="0" bIns="0">
            <a:spAutoFit/>
          </a:bodyPr>
          <a:lstStyle/>
          <a:p>
            <a:pPr>
              <a:lnSpc>
                <a:spcPct val="106000"/>
              </a:lnSpc>
              <a:spcAft>
                <a:spcPts val="200"/>
              </a:spcAft>
            </a:pPr>
            <a:r>
              <a:rPr sz="1200" b="1" i="0">
                <a:solidFill>
                  <a:srgbClr val="5C4500"/>
                </a:solidFill>
                <a:latin typeface="Helvetica Neue"/>
              </a:rPr>
              <a:t>Fail closed, and partial knowledge counts as no knowledge.</a:t>
            </a:r>
            <a:r>
              <a:rPr sz="1200" b="0" i="0">
                <a:solidFill>
                  <a:srgbClr val="5C4500"/>
                </a:solidFill>
                <a:latin typeface="Helvetica Neue"/>
              </a:rPr>
              <a:t> </a:t>
            </a:r>
            <a:r>
              <a:rPr sz="1200" b="0" i="0">
                <a:solidFill>
                  <a:srgbClr val="9C2C4E"/>
                </a:solidFill>
                <a:latin typeface="Menlo"/>
              </a:rPr>
              <a:t>HoldContext</a:t>
            </a:r>
            <a:r>
              <a:rPr sz="1200" b="0" i="0">
                <a:solidFill>
                  <a:srgbClr val="5C4500"/>
                </a:solidFill>
                <a:latin typeface="Helvetica Neue"/>
              </a:rPr>
              <a:t> keeps 'nothing is under hold' and 'P4 could not be asked' as distinct states in the type, because an empty collection is the most dangerous available reading of a network error. If the scopes come back but the evidence check fails, the whole context is unavailable — knowing scopes but not evidence membership would let the sweep delete an out-of-scope evidence item with full confidence.</a:t>
            </a:r>
          </a:p>
        </p:txBody>
      </p:sp>
      <p:sp>
        <p:nvSpPr>
          <p:cNvPr id="12" name="TextBox 11"/>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13" name="TextBox 12"/>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12   </a:t>
            </a:r>
            <a:r>
              <a:rPr sz="2200" b="1">
                <a:solidFill>
                  <a:srgbClr val="14304A"/>
                </a:solidFill>
                <a:latin typeface="Helvetica Neue"/>
              </a:rPr>
              <a:t>P2.2 — Retention and Disposition  :8087</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41148" cy="33832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133856"/>
            <a:ext cx="10902391" cy="429768"/>
          </a:xfrm>
          <a:prstGeom prst="rect">
            <a:avLst/>
          </a:prstGeom>
          <a:noFill/>
        </p:spPr>
        <p:txBody>
          <a:bodyPr wrap="square" lIns="0" rIns="0" tIns="0" bIns="0">
            <a:spAutoFit/>
          </a:bodyPr>
          <a:lstStyle/>
          <a:p>
            <a:pPr>
              <a:lnSpc>
                <a:spcPct val="106000"/>
              </a:lnSpc>
              <a:spcAft>
                <a:spcPts val="200"/>
              </a:spcAft>
            </a:pPr>
            <a:r>
              <a:rPr sz="1450" b="1" i="0">
                <a:solidFill>
                  <a:srgbClr val="37506A"/>
                </a:solidFill>
                <a:latin typeface="Helvetica Neue"/>
              </a:rPr>
              <a:t>Owns the retention policy, the sweep that destroys expired messages, and the ledger that proves what it did.</a:t>
            </a:r>
          </a:p>
        </p:txBody>
      </p:sp>
      <p:sp>
        <p:nvSpPr>
          <p:cNvPr id="6" name="TextBox 5"/>
          <p:cNvSpPr txBox="1"/>
          <p:nvPr/>
        </p:nvSpPr>
        <p:spPr>
          <a:xfrm>
            <a:off x="566928" y="1655064"/>
            <a:ext cx="11057839" cy="1078992"/>
          </a:xfrm>
          <a:prstGeom prst="rect">
            <a:avLst/>
          </a:prstGeom>
          <a:noFill/>
        </p:spPr>
        <p:txBody>
          <a:bodyPr wrap="square" lIns="0" rIns="0" tIns="0" bIns="0">
            <a:spAutoFit/>
          </a:bodyPr>
          <a:lstStyle/>
          <a:p>
            <a:pPr>
              <a:lnSpc>
                <a:spcPct val="106000"/>
              </a:lnSpc>
              <a:spcAft>
                <a:spcPts val="500"/>
              </a:spcAft>
            </a:pPr>
            <a:r>
              <a:rPr sz="1300">
                <a:solidFill>
                  <a:srgbClr val="C9A227"/>
                </a:solidFill>
                <a:latin typeface="Helvetica Neue"/>
              </a:rPr>
              <a:t>▪  </a:t>
            </a:r>
            <a:r>
              <a:rPr sz="1300" b="0" i="0">
                <a:solidFill>
                  <a:srgbClr val="1A1D21"/>
                </a:solidFill>
                <a:latin typeface="Helvetica Neue"/>
              </a:rPr>
              <a:t>Reads the retention period per communication type from </a:t>
            </a:r>
            <a:r>
              <a:rPr sz="1300" b="1" i="0">
                <a:solidFill>
                  <a:srgbClr val="1A1D21"/>
                </a:solidFill>
                <a:latin typeface="Helvetica Neue"/>
              </a:rPr>
              <a:t>its own database</a:t>
            </a:r>
            <a:r>
              <a:rPr sz="1300" b="0" i="0">
                <a:solidFill>
                  <a:srgbClr val="1A1D21"/>
                </a:solidFill>
                <a:latin typeface="Helvetica Neue"/>
              </a:rPr>
              <a:t> (FR-5.1).</a:t>
            </a:r>
          </a:p>
          <a:p>
            <a:pPr>
              <a:lnSpc>
                <a:spcPct val="106000"/>
              </a:lnSpc>
              <a:spcAft>
                <a:spcPts val="500"/>
              </a:spcAft>
            </a:pPr>
            <a:r>
              <a:rPr sz="1300">
                <a:solidFill>
                  <a:srgbClr val="C9A227"/>
                </a:solidFill>
                <a:latin typeface="Helvetica Neue"/>
              </a:rPr>
              <a:t>▪  </a:t>
            </a:r>
            <a:r>
              <a:rPr sz="1300" b="0" i="0">
                <a:solidFill>
                  <a:srgbClr val="1A1D21"/>
                </a:solidFill>
                <a:latin typeface="Helvetica Neue"/>
              </a:rPr>
              <a:t>Asks P2's archive for messages whose </a:t>
            </a:r>
            <a:r>
              <a:rPr sz="1300" b="0" i="0">
                <a:solidFill>
                  <a:srgbClr val="9C2C4E"/>
                </a:solidFill>
                <a:latin typeface="Menlo"/>
              </a:rPr>
              <a:t>sentAt</a:t>
            </a:r>
            <a:r>
              <a:rPr sz="1300" b="0" i="0">
                <a:solidFill>
                  <a:srgbClr val="1A1D21"/>
                </a:solidFill>
                <a:latin typeface="Helvetica Neue"/>
              </a:rPr>
              <a:t> is past their type's cutoff.</a:t>
            </a:r>
          </a:p>
          <a:p>
            <a:pPr>
              <a:lnSpc>
                <a:spcPct val="106000"/>
              </a:lnSpc>
              <a:spcAft>
                <a:spcPts val="500"/>
              </a:spcAft>
            </a:pPr>
            <a:r>
              <a:rPr sz="1300">
                <a:solidFill>
                  <a:srgbClr val="C9A227"/>
                </a:solidFill>
                <a:latin typeface="Helvetica Neue"/>
              </a:rPr>
              <a:t>▪  </a:t>
            </a:r>
            <a:r>
              <a:rPr sz="1300" b="0" i="0">
                <a:solidFill>
                  <a:srgbClr val="1A1D21"/>
                </a:solidFill>
                <a:latin typeface="Helvetica Neue"/>
              </a:rPr>
              <a:t>Checks every hold guard; skips anything covered.</a:t>
            </a:r>
          </a:p>
          <a:p>
            <a:pPr>
              <a:lnSpc>
                <a:spcPct val="106000"/>
              </a:lnSpc>
              <a:spcAft>
                <a:spcPts val="500"/>
              </a:spcAft>
            </a:pPr>
            <a:r>
              <a:rPr sz="1300">
                <a:solidFill>
                  <a:srgbClr val="C9A227"/>
                </a:solidFill>
                <a:latin typeface="Helvetica Neue"/>
              </a:rPr>
              <a:t>▪  </a:t>
            </a:r>
            <a:r>
              <a:rPr sz="1300" b="0" i="0">
                <a:solidFill>
                  <a:srgbClr val="1A1D21"/>
                </a:solidFill>
                <a:latin typeface="Helvetica Neue"/>
              </a:rPr>
              <a:t>Deletes the rest and records every decision — deleted, skipped, failed — in a ledger that outlives the messages themselves.</a:t>
            </a:r>
          </a:p>
        </p:txBody>
      </p:sp>
      <p:sp>
        <p:nvSpPr>
          <p:cNvPr id="7" name="TextBox 6"/>
          <p:cNvSpPr txBox="1"/>
          <p:nvPr/>
        </p:nvSpPr>
        <p:spPr>
          <a:xfrm>
            <a:off x="566928" y="2825496"/>
            <a:ext cx="11057839" cy="896112"/>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Eligibility is computed per run, never stored per message. Change a retention period and the next sweep picks it up with no backfill. The policy lives in the </a:t>
            </a:r>
            <a:r>
              <a:rPr sz="1300" b="0" i="0">
                <a:solidFill>
                  <a:srgbClr val="9C2C4E"/>
                </a:solidFill>
                <a:latin typeface="Menlo"/>
              </a:rPr>
              <a:t>retention_policies</a:t>
            </a:r>
            <a:r>
              <a:rPr sz="1300" b="0" i="0">
                <a:solidFill>
                  <a:srgbClr val="1A1D21"/>
                </a:solidFill>
                <a:latin typeface="Helvetica Neue"/>
              </a:rPr>
              <a:t> table rather than </a:t>
            </a:r>
            <a:r>
              <a:rPr sz="1300" b="0" i="0">
                <a:solidFill>
                  <a:srgbClr val="9C2C4E"/>
                </a:solidFill>
                <a:latin typeface="Menlo"/>
              </a:rPr>
              <a:t>application.yml</a:t>
            </a:r>
            <a:r>
              <a:rPr sz="1300" b="0" i="0">
                <a:solidFill>
                  <a:srgbClr val="1A1D21"/>
                </a:solidFill>
                <a:latin typeface="Helvetica Neue"/>
              </a:rPr>
              <a:t>, because a restart to change a number is not configurable in any useful sense, and a value that exists only in a container's environment cannot be shown in the UI or audited when it changes.</a:t>
            </a:r>
          </a:p>
        </p:txBody>
      </p:sp>
      <p:sp>
        <p:nvSpPr>
          <p:cNvPr id="8" name="Rectangle 7"/>
          <p:cNvSpPr/>
          <p:nvPr/>
        </p:nvSpPr>
        <p:spPr>
          <a:xfrm>
            <a:off x="566928" y="3813048"/>
            <a:ext cx="11057839" cy="982980"/>
          </a:xfrm>
          <a:prstGeom prst="rect">
            <a:avLst/>
          </a:prstGeom>
          <a:solidFill>
            <a:srgbClr val="17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3904487"/>
            <a:ext cx="10765231" cy="800100"/>
          </a:xfrm>
          <a:prstGeom prst="rect">
            <a:avLst/>
          </a:prstGeom>
          <a:noFill/>
        </p:spPr>
        <p:txBody>
          <a:bodyPr wrap="none" lIns="0" rIns="0" tIns="0" bIns="0">
            <a:spAutoFit/>
          </a:bodyPr>
          <a:lstStyle/>
          <a:p>
            <a:pPr>
              <a:lnSpc>
                <a:spcPct val="100000"/>
              </a:lnSpc>
              <a:spcAft>
                <a:spcPts val="0"/>
              </a:spcAft>
            </a:pPr>
            <a:r>
              <a:rPr sz="1000">
                <a:solidFill>
                  <a:srgbClr val="DBE6F0"/>
                </a:solidFill>
                <a:latin typeface="Menlo"/>
              </a:rPr>
              <a:t>curl localhost:8087/retention/policies</a:t>
            </a:r>
          </a:p>
          <a:p>
            <a:pPr>
              <a:lnSpc>
                <a:spcPct val="100000"/>
              </a:lnSpc>
              <a:spcAft>
                <a:spcPts val="0"/>
              </a:spcAft>
            </a:pPr>
            <a:r>
              <a:rPr sz="1000">
                <a:solidFill>
                  <a:srgbClr val="DBE6F0"/>
                </a:solidFill>
                <a:latin typeface="Menlo"/>
              </a:rPr>
              <a:t> </a:t>
            </a:r>
          </a:p>
          <a:p>
            <a:pPr>
              <a:lnSpc>
                <a:spcPct val="100000"/>
              </a:lnSpc>
              <a:spcAft>
                <a:spcPts val="0"/>
              </a:spcAft>
            </a:pPr>
            <a:r>
              <a:rPr sz="1000">
                <a:solidFill>
                  <a:srgbClr val="DBE6F0"/>
                </a:solidFill>
                <a:latin typeface="Menlo"/>
              </a:rPr>
              <a:t># ISO-8601 durations. P2555D = seven years, PT2M = two minutes.</a:t>
            </a:r>
          </a:p>
          <a:p>
            <a:pPr>
              <a:lnSpc>
                <a:spcPct val="100000"/>
              </a:lnSpc>
              <a:spcAft>
                <a:spcPts val="0"/>
              </a:spcAft>
            </a:pPr>
            <a:r>
              <a:rPr sz="1000">
                <a:solidFill>
                  <a:srgbClr val="DBE6F0"/>
                </a:solidFill>
                <a:latin typeface="Menlo"/>
              </a:rPr>
              <a:t>curl -X PUT "localhost:8087/retention/policies/EMAIL?actor=saketh" \</a:t>
            </a:r>
          </a:p>
          <a:p>
            <a:pPr>
              <a:lnSpc>
                <a:spcPct val="100000"/>
              </a:lnSpc>
              <a:spcAft>
                <a:spcPts val="0"/>
              </a:spcAft>
            </a:pPr>
            <a:r>
              <a:rPr sz="1000">
                <a:solidFill>
                  <a:srgbClr val="DBE6F0"/>
                </a:solidFill>
                <a:latin typeface="Menlo"/>
              </a:rPr>
              <a:t>  -H 'Content-Type: application/json' -d '{"period":"PT2M"}'</a:t>
            </a:r>
          </a:p>
        </p:txBody>
      </p:sp>
      <p:sp>
        <p:nvSpPr>
          <p:cNvPr id="10" name="TextBox 9"/>
          <p:cNvSpPr txBox="1"/>
          <p:nvPr/>
        </p:nvSpPr>
        <p:spPr>
          <a:xfrm>
            <a:off x="566928" y="4960620"/>
            <a:ext cx="11057839" cy="502920"/>
          </a:xfrm>
          <a:prstGeom prst="rect">
            <a:avLst/>
          </a:prstGeom>
          <a:noFill/>
        </p:spPr>
        <p:txBody>
          <a:bodyPr wrap="square" lIns="0" rIns="0" tIns="0" bIns="0">
            <a:spAutoFit/>
          </a:bodyPr>
          <a:lstStyle/>
          <a:p>
            <a:pPr>
              <a:lnSpc>
                <a:spcPct val="106000"/>
              </a:lnSpc>
              <a:spcAft>
                <a:spcPts val="200"/>
              </a:spcAft>
            </a:pPr>
            <a:r>
              <a:rPr sz="1300" b="1" i="0">
                <a:solidFill>
                  <a:srgbClr val="1A1D21"/>
                </a:solidFill>
                <a:latin typeface="Helvetica Neue"/>
              </a:rPr>
              <a:t>How it deletes — the command/receipt loop.</a:t>
            </a:r>
            <a:r>
              <a:rPr sz="1300" b="0" i="0">
                <a:solidFill>
                  <a:srgbClr val="1A1D21"/>
                </a:solidFill>
                <a:latin typeface="Helvetica Neue"/>
              </a:rPr>
              <a:t> P2 owns the messages, and NFR-1 says one datastore one owner, so P2.2 does not write to them:</a:t>
            </a:r>
          </a:p>
        </p:txBody>
      </p:sp>
      <p:sp>
        <p:nvSpPr>
          <p:cNvPr id="11" name="TextBox 10"/>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12" name="TextBox 11"/>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12   </a:t>
            </a:r>
            <a:r>
              <a:rPr sz="2200" b="1">
                <a:solidFill>
                  <a:srgbClr val="14304A"/>
                </a:solidFill>
                <a:latin typeface="Helvetica Neue"/>
              </a:rPr>
              <a:t>P2.2 — Retention and Disposition  :8087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11057839" cy="982980"/>
          </a:xfrm>
          <a:prstGeom prst="rect">
            <a:avLst/>
          </a:prstGeom>
          <a:solidFill>
            <a:srgbClr val="F7F9FB"/>
          </a:solidFill>
          <a:ln w="9525">
            <a:solidFill>
              <a:srgbClr val="DD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225296"/>
            <a:ext cx="10765231" cy="800100"/>
          </a:xfrm>
          <a:prstGeom prst="rect">
            <a:avLst/>
          </a:prstGeom>
          <a:noFill/>
        </p:spPr>
        <p:txBody>
          <a:bodyPr wrap="none" lIns="0" rIns="0" tIns="0" bIns="0">
            <a:spAutoFit/>
          </a:bodyPr>
          <a:lstStyle/>
          <a:p>
            <a:pPr>
              <a:lnSpc>
                <a:spcPct val="100000"/>
              </a:lnSpc>
              <a:spcAft>
                <a:spcPts val="0"/>
              </a:spcAft>
            </a:pPr>
            <a:r>
              <a:rPr sz="900">
                <a:solidFill>
                  <a:srgbClr val="37506A"/>
                </a:solidFill>
                <a:latin typeface="Menlo"/>
              </a:rPr>
              <a:t>P2.2 sweep ──DeleteCommand──▶ disposition.commands ──▶ P2 DispositionCommandListener</a:t>
            </a:r>
          </a:p>
          <a:p>
            <a:pPr>
              <a:lnSpc>
                <a:spcPct val="100000"/>
              </a:lnSpc>
              <a:spcAft>
                <a:spcPts val="0"/>
              </a:spcAft>
            </a:pPr>
            <a:r>
              <a:rPr sz="900">
                <a:solidFill>
                  <a:srgbClr val="37506A"/>
                </a:solidFill>
                <a:latin typeface="Menlo"/>
              </a:rPr>
              <a:t>                                                        ├ on_hold flag?       refuse</a:t>
            </a:r>
          </a:p>
          <a:p>
            <a:pPr>
              <a:lnSpc>
                <a:spcPct val="100000"/>
              </a:lnSpc>
              <a:spcAft>
                <a:spcPts val="0"/>
              </a:spcAft>
            </a:pPr>
            <a:r>
              <a:rPr sz="900">
                <a:solidFill>
                  <a:srgbClr val="37506A"/>
                </a:solidFill>
                <a:latin typeface="Menlo"/>
              </a:rPr>
              <a:t>                                                        ├ P4 held/unreachable? refuse</a:t>
            </a:r>
          </a:p>
          <a:p>
            <a:pPr>
              <a:lnSpc>
                <a:spcPct val="100000"/>
              </a:lnSpc>
              <a:spcAft>
                <a:spcPts val="0"/>
              </a:spcAft>
            </a:pPr>
            <a:r>
              <a:rPr sz="900">
                <a:solidFill>
                  <a:srgbClr val="37506A"/>
                </a:solidFill>
                <a:latin typeface="Menlo"/>
              </a:rPr>
              <a:t>                                                        └ otherwise           DELETE</a:t>
            </a:r>
          </a:p>
          <a:p>
            <a:pPr>
              <a:lnSpc>
                <a:spcPct val="100000"/>
              </a:lnSpc>
              <a:spcAft>
                <a:spcPts val="0"/>
              </a:spcAft>
            </a:pPr>
            <a:r>
              <a:rPr sz="900">
                <a:solidFill>
                  <a:srgbClr val="37506A"/>
                </a:solidFill>
                <a:latin typeface="Menlo"/>
              </a:rPr>
              <a:t>P2.2 DeleteReceiptListener ◀── disposition.results ◀──DeleteReceipt──┘</a:t>
            </a:r>
          </a:p>
        </p:txBody>
      </p:sp>
      <p:sp>
        <p:nvSpPr>
          <p:cNvPr id="6" name="TextBox 5"/>
          <p:cNvSpPr txBox="1"/>
          <p:nvPr/>
        </p:nvSpPr>
        <p:spPr>
          <a:xfrm>
            <a:off x="566928" y="2281428"/>
            <a:ext cx="11057839" cy="502920"/>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The sweep records </a:t>
            </a:r>
            <a:r>
              <a:rPr sz="1300" b="0" i="0">
                <a:solidFill>
                  <a:srgbClr val="9C2C4E"/>
                </a:solidFill>
                <a:latin typeface="Menlo"/>
              </a:rPr>
              <a:t>DELETE_REQUESTED</a:t>
            </a:r>
            <a:r>
              <a:rPr sz="1300" b="0" i="0">
                <a:solidFill>
                  <a:srgbClr val="1A1D21"/>
                </a:solidFill>
                <a:latin typeface="Helvetica Neue"/>
              </a:rPr>
              <a:t>, which is all it can honestly claim at that moment — the message is not gone, it has been asked about. The receipt settles the row to what P2 actually did.</a:t>
            </a:r>
          </a:p>
        </p:txBody>
      </p:sp>
      <p:graphicFrame>
        <p:nvGraphicFramePr>
          <p:cNvPr id="7" name="Table 6"/>
          <p:cNvGraphicFramePr>
            <a:graphicFrameLocks noGrp="1"/>
          </p:cNvGraphicFramePr>
          <p:nvPr/>
        </p:nvGraphicFramePr>
        <p:xfrm>
          <a:off x="566928" y="2875788"/>
          <a:ext cx="11057838" cy="1709928"/>
        </p:xfrm>
        <a:graphic>
          <a:graphicData uri="http://schemas.openxmlformats.org/drawingml/2006/table">
            <a:tbl>
              <a:tblPr firstRow="1">
                <a:tableStyleId>{5C22544A-7EE6-4342-B048-85BDC9FD1C3A}</a:tableStyleId>
              </a:tblPr>
              <a:tblGrid>
                <a:gridCol w="1275904"/>
                <a:gridCol w="1488555"/>
                <a:gridCol w="8293379"/>
              </a:tblGrid>
              <a:tr h="274320">
                <a:tc>
                  <a:txBody>
                    <a:bodyPr wrap="square"/>
                    <a:lstStyle/>
                    <a:p>
                      <a:pPr algn="l">
                        <a:lnSpc>
                          <a:spcPct val="104000"/>
                        </a:lnSpc>
                      </a:pPr>
                      <a:r>
                        <a:rPr sz="1050" b="1" i="0">
                          <a:solidFill>
                            <a:srgbClr val="FFFFFF"/>
                          </a:solidFill>
                          <a:latin typeface="Helvetica Neue"/>
                        </a:rPr>
                        <a:t>Receipt</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Ledger becomes</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Reading</a:t>
                      </a:r>
                    </a:p>
                  </a:txBody>
                  <a:tcPr marL="64008" marR="64008" marT="32004" marB="32004" anchor="t">
                    <a:solidFill>
                      <a:srgbClr val="1F4E79"/>
                    </a:solidFill>
                  </a:tcPr>
                </a:tc>
              </a:tr>
              <a:tr h="278892">
                <a:tc>
                  <a:txBody>
                    <a:bodyPr wrap="square"/>
                    <a:lstStyle/>
                    <a:p>
                      <a:pPr algn="l">
                        <a:lnSpc>
                          <a:spcPct val="104000"/>
                        </a:lnSpc>
                      </a:pPr>
                      <a:r>
                        <a:rPr sz="1050" b="0" i="0">
                          <a:solidFill>
                            <a:srgbClr val="1A1D21"/>
                          </a:solidFill>
                          <a:latin typeface="Helvetica Neue"/>
                        </a:rPr>
                        <a:t>DELETED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DELETED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Gone, confirmed</a:t>
                      </a:r>
                    </a:p>
                  </a:txBody>
                  <a:tcPr marL="64008" marR="64008" marT="32004" marB="32004" anchor="t">
                    <a:solidFill>
                      <a:srgbClr val="FFFFFF"/>
                    </a:solidFill>
                  </a:tcPr>
                </a:tc>
              </a:tr>
              <a:tr h="438912">
                <a:tc>
                  <a:txBody>
                    <a:bodyPr wrap="square"/>
                    <a:lstStyle/>
                    <a:p>
                      <a:pPr algn="l">
                        <a:lnSpc>
                          <a:spcPct val="104000"/>
                        </a:lnSpc>
                      </a:pPr>
                      <a:r>
                        <a:rPr sz="1050" b="0" i="0">
                          <a:solidFill>
                            <a:srgbClr val="1A1D21"/>
                          </a:solidFill>
                          <a:latin typeface="Helvetica Neue"/>
                        </a:rPr>
                        <a:t>REFUSED_HOLD</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SKIPPED_HOLD</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A hold landed between the check and the delete, and P2's own guard caught it. The rarest and most reassuring outcome in the system</a:t>
                      </a:r>
                    </a:p>
                  </a:txBody>
                  <a:tcPr marL="64008" marR="64008" marT="32004" marB="32004" anchor="t">
                    <a:solidFill>
                      <a:srgbClr val="F4F7FA"/>
                    </a:solidFill>
                  </a:tcPr>
                </a:tc>
              </a:tr>
              <a:tr h="438912">
                <a:tc>
                  <a:txBody>
                    <a:bodyPr wrap="square"/>
                    <a:lstStyle/>
                    <a:p>
                      <a:pPr algn="l">
                        <a:lnSpc>
                          <a:spcPct val="104000"/>
                        </a:lnSpc>
                      </a:pPr>
                      <a:r>
                        <a:rPr sz="1050" b="0" i="0">
                          <a:solidFill>
                            <a:srgbClr val="1A1D21"/>
                          </a:solidFill>
                          <a:latin typeface="Helvetica Neue"/>
                        </a:rPr>
                        <a:t>NOT_FOUND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DELETED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Already absent. The desired state holds; recording a failure would make the next run look like it is retrying something broken</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FAILED</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FAILED</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Still there. The next sweep finds it expired again and retries</a:t>
                      </a:r>
                    </a:p>
                  </a:txBody>
                  <a:tcPr marL="64008" marR="64008" marT="32004" marB="32004" anchor="t">
                    <a:solidFill>
                      <a:srgbClr val="F4F7FA"/>
                    </a:solidFill>
                  </a:tcPr>
                </a:tc>
              </a:tr>
            </a:tbl>
          </a:graphicData>
        </a:graphic>
      </p:graphicFrame>
      <p:sp>
        <p:nvSpPr>
          <p:cNvPr id="8" name="TextBox 7"/>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9" name="TextBox 8"/>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12   </a:t>
            </a:r>
            <a:r>
              <a:rPr sz="2200" b="1">
                <a:solidFill>
                  <a:srgbClr val="14304A"/>
                </a:solidFill>
                <a:latin typeface="Helvetica Neue"/>
              </a:rPr>
              <a:t>P2.2 — Retention and Disposition  :8087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1668780"/>
          </a:xfrm>
          <a:prstGeom prst="rect">
            <a:avLst/>
          </a:prstGeom>
          <a:noFill/>
        </p:spPr>
        <p:txBody>
          <a:bodyPr wrap="square" lIns="0" rIns="0" tIns="0" bIns="0">
            <a:spAutoFit/>
          </a:bodyPr>
          <a:lstStyle/>
          <a:p>
            <a:pPr>
              <a:lnSpc>
                <a:spcPct val="106000"/>
              </a:lnSpc>
              <a:spcAft>
                <a:spcPts val="500"/>
              </a:spcAft>
            </a:pPr>
            <a:r>
              <a:rPr sz="1300">
                <a:solidFill>
                  <a:srgbClr val="C9A227"/>
                </a:solidFill>
                <a:latin typeface="Helvetica Neue"/>
              </a:rPr>
              <a:t>▪  </a:t>
            </a:r>
            <a:r>
              <a:rPr sz="1300" b="1" i="0">
                <a:solidFill>
                  <a:srgbClr val="1A1D21"/>
                </a:solidFill>
                <a:latin typeface="Helvetica Neue"/>
              </a:rPr>
              <a:t>Settling is guarded.</a:t>
            </a:r>
            <a:r>
              <a:rPr sz="1300" b="0" i="0">
                <a:solidFill>
                  <a:srgbClr val="1A1D21"/>
                </a:solidFill>
                <a:latin typeface="Helvetica Neue"/>
              </a:rPr>
              <a:t> Only a row still awaiting a receipt can move, so a redelivered receipt on an at-least-once topic cannot turn a recorded refusal back into a deletion.</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A row still at DELETE_REQUESTED hours later means P2 is not consuming.</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The sweep is deliberately not </a:t>
            </a:r>
            <a:r>
              <a:rPr sz="1300" b="1" i="0">
                <a:solidFill>
                  <a:srgbClr val="9C2C4E"/>
                </a:solidFill>
                <a:latin typeface="Menlo"/>
              </a:rPr>
              <a:t>@Transactional</a:t>
            </a:r>
            <a:r>
              <a:rPr sz="1300" b="1" i="0">
                <a:solidFill>
                  <a:srgbClr val="1A1D21"/>
                </a:solidFill>
                <a:latin typeface="Helvetica Neue"/>
              </a:rPr>
              <a:t>.</a:t>
            </a:r>
            <a:r>
              <a:rPr sz="1300" b="0" i="0">
                <a:solidFill>
                  <a:srgbClr val="1A1D21"/>
                </a:solidFill>
                <a:latin typeface="Helvetica Neue"/>
              </a:rPr>
              <a:t> A rollback would erase the ledger record of deletions that already happened in P2's database, which no transaction of ours can undo. The ledger has to survive the failure that makes it interesting.</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A second concurrent run is refused with 409, not queued.</a:t>
            </a:r>
            <a:r>
              <a:rPr sz="1300" b="0" i="0">
                <a:solidFill>
                  <a:srgbClr val="1A1D21"/>
                </a:solidFill>
                <a:latin typeface="Helvetica Neue"/>
              </a:rPr>
              <a:t> Two sweeps would evaluate the same candidates and race on the same rows, and whatever a dropped tick skipped is still expired at the next one.</a:t>
            </a:r>
          </a:p>
        </p:txBody>
      </p:sp>
      <p:sp>
        <p:nvSpPr>
          <p:cNvPr id="5" name="TextBox 4"/>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6" name="TextBox 5"/>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13   </a:t>
            </a:r>
            <a:r>
              <a:rPr sz="2200" b="1">
                <a:solidFill>
                  <a:srgbClr val="14304A"/>
                </a:solidFill>
                <a:latin typeface="Helvetica Neue"/>
              </a:rPr>
              <a:t>P2.2 — API and watching a sweep</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133856"/>
          <a:ext cx="11057838" cy="3104388"/>
        </p:xfrm>
        <a:graphic>
          <a:graphicData uri="http://schemas.openxmlformats.org/drawingml/2006/table">
            <a:tbl>
              <a:tblPr firstRow="1">
                <a:tableStyleId>{5C22544A-7EE6-4342-B048-85BDC9FD1C3A}</a:tableStyleId>
              </a:tblPr>
              <a:tblGrid>
                <a:gridCol w="4621186"/>
                <a:gridCol w="6436652"/>
              </a:tblGrid>
              <a:tr h="274320">
                <a:tc>
                  <a:txBody>
                    <a:bodyPr wrap="square"/>
                    <a:lstStyle/>
                    <a:p>
                      <a:pPr algn="l">
                        <a:lnSpc>
                          <a:spcPct val="104000"/>
                        </a:lnSpc>
                      </a:pPr>
                      <a:r>
                        <a:rPr sz="1050" b="1" i="0">
                          <a:solidFill>
                            <a:srgbClr val="FFFFFF"/>
                          </a:solidFill>
                          <a:latin typeface="Helvetica Neue"/>
                        </a:rPr>
                        <a:t>Endpoint</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Purpose</a:t>
                      </a:r>
                    </a:p>
                  </a:txBody>
                  <a:tcPr marL="64008" marR="64008" marT="32004" marB="32004" anchor="t">
                    <a:solidFill>
                      <a:srgbClr val="1F4E79"/>
                    </a:solidFill>
                  </a:tcPr>
                </a:tc>
              </a:tr>
              <a:tr h="278892">
                <a:tc>
                  <a:txBody>
                    <a:bodyPr wrap="square"/>
                    <a:lstStyle/>
                    <a:p>
                      <a:pPr algn="l">
                        <a:lnSpc>
                          <a:spcPct val="104000"/>
                        </a:lnSpc>
                      </a:pPr>
                      <a:r>
                        <a:rPr sz="1050" b="0" i="0">
                          <a:solidFill>
                            <a:srgbClr val="1A1D21"/>
                          </a:solidFill>
                          <a:latin typeface="Helvetica Neue"/>
                        </a:rPr>
                        <a:t>POST /disposition/runs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Sweep now, synchronously. </a:t>
                      </a:r>
                      <a:r>
                        <a:rPr sz="1050" b="0" i="0">
                          <a:solidFill>
                            <a:srgbClr val="1A1D21"/>
                          </a:solidFill>
                          <a:latin typeface="Menlo"/>
                        </a:rPr>
                        <a:t>?dryRun=true</a:t>
                      </a:r>
                      <a:r>
                        <a:rPr sz="1050" b="0" i="0">
                          <a:solidFill>
                            <a:srgbClr val="1A1D21"/>
                          </a:solidFill>
                          <a:latin typeface="Helvetica Neue"/>
                        </a:rPr>
                        <a:t> decides everything, deletes nothing</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POST /disposition/runs?async=true</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202 with a QUEUED run id</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GET /disposition/runs/stream</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Live progress as server-sent events; closes when the run finishes</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GET /disposition/runs/progress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The same snapshot, polled once</a:t>
                      </a:r>
                    </a:p>
                  </a:txBody>
                  <a:tcPr marL="64008" marR="64008" marT="32004" marB="32004" anchor="t">
                    <a:solidFill>
                      <a:srgbClr val="F4F7FA"/>
                    </a:solidFill>
                  </a:tcPr>
                </a:tc>
              </a:tr>
              <a:tr h="438912">
                <a:tc>
                  <a:txBody>
                    <a:bodyPr wrap="square"/>
                    <a:lstStyle/>
                    <a:p>
                      <a:pPr algn="l">
                        <a:lnSpc>
                          <a:spcPct val="104000"/>
                        </a:lnSpc>
                      </a:pPr>
                      <a:r>
                        <a:rPr sz="1050" b="0" i="0">
                          <a:solidFill>
                            <a:srgbClr val="1A1D21"/>
                          </a:solidFill>
                          <a:latin typeface="Helvetica Neue"/>
                        </a:rPr>
                        <a:t>GET /disposition/runs · /runs/{id} · /runs/{id}/items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History, summary, per-message ledger. </a:t>
                      </a:r>
                      <a:r>
                        <a:rPr sz="1050" b="0" i="0">
                          <a:solidFill>
                            <a:srgbClr val="1A1D21"/>
                          </a:solidFill>
                          <a:latin typeface="Menlo"/>
                        </a:rPr>
                        <a:t>?outcome=SKIPPED_HOLD</a:t>
                      </a:r>
                      <a:r>
                        <a:rPr sz="1050" b="0" i="0">
                          <a:solidFill>
                            <a:srgbClr val="1A1D21"/>
                          </a:solidFill>
                          <a:latin typeface="Helvetica Neue"/>
                        </a:rPr>
                        <a:t> is the 'what did holds save?' view</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GET /disposition/messages/{messageId}</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Every decision ever recorded about one message. </a:t>
                      </a:r>
                      <a:r>
                        <a:rPr sz="1050" b="1" i="0">
                          <a:solidFill>
                            <a:srgbClr val="1A1D21"/>
                          </a:solidFill>
                          <a:latin typeface="Helvetica Neue"/>
                        </a:rPr>
                        <a:t>Survives the message</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GET /disposition/cases/{caseId}/protected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Everything this case's holds have saved, across every run</a:t>
                      </a:r>
                    </a:p>
                  </a:txBody>
                  <a:tcPr marL="64008" marR="64008" marT="32004" marB="32004" anchor="t">
                    <a:solidFill>
                      <a:srgbClr val="FFFFFF"/>
                    </a:solidFill>
                  </a:tcPr>
                </a:tc>
              </a:tr>
              <a:tr h="438912">
                <a:tc>
                  <a:txBody>
                    <a:bodyPr wrap="square"/>
                    <a:lstStyle/>
                    <a:p>
                      <a:pPr algn="l">
                        <a:lnSpc>
                          <a:spcPct val="104000"/>
                        </a:lnSpc>
                      </a:pPr>
                      <a:r>
                        <a:rPr sz="1050" b="0" i="0">
                          <a:solidFill>
                            <a:srgbClr val="1A1D21"/>
                          </a:solidFill>
                          <a:latin typeface="Helvetica Neue"/>
                        </a:rPr>
                        <a:t>GET /retention/policies · PUT /retention/policies/{type}</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Retention policy (FR-5.1)</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GET /disposition/stats · /stats/candidates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Dashboard counts; what the next sweep would touch</a:t>
                      </a:r>
                    </a:p>
                  </a:txBody>
                  <a:tcPr marL="64008" marR="64008" marT="32004" marB="32004" anchor="t">
                    <a:solidFill>
                      <a:srgbClr val="FFFFFF"/>
                    </a:solidFill>
                  </a:tcPr>
                </a:tc>
              </a:tr>
            </a:tbl>
          </a:graphicData>
        </a:graphic>
      </p:graphicFrame>
      <p:sp>
        <p:nvSpPr>
          <p:cNvPr id="5" name="TextBox 4"/>
          <p:cNvSpPr txBox="1"/>
          <p:nvPr/>
        </p:nvSpPr>
        <p:spPr>
          <a:xfrm>
            <a:off x="566928" y="4512564"/>
            <a:ext cx="11057839" cy="699516"/>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A sweep makes one HTTP call to P4 per candidate and considers up to </a:t>
            </a:r>
            <a:r>
              <a:rPr sz="1300" b="0" i="0">
                <a:solidFill>
                  <a:srgbClr val="9C2C4E"/>
                </a:solidFill>
                <a:latin typeface="Menlo"/>
              </a:rPr>
              <a:t>batch-size</a:t>
            </a:r>
            <a:r>
              <a:rPr sz="1300" b="0" i="0">
                <a:solidFill>
                  <a:srgbClr val="1A1D21"/>
                </a:solidFill>
                <a:latin typeface="Helvetica Neue"/>
              </a:rPr>
              <a:t> of them, so the synchronous form holds the connection for the length of the work — over the full corpus that is exactly the bulk operation NFR-3 says must not time out the UI. Start it asynchronously and watch it:</a:t>
            </a:r>
          </a:p>
        </p:txBody>
      </p:sp>
      <p:sp>
        <p:nvSpPr>
          <p:cNvPr id="6" name="TextBox 5"/>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7" name="TextBox 6"/>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13   </a:t>
            </a:r>
            <a:r>
              <a:rPr sz="2200" b="1">
                <a:solidFill>
                  <a:srgbClr val="14304A"/>
                </a:solidFill>
                <a:latin typeface="Helvetica Neue"/>
              </a:rPr>
              <a:t>P2.2 — API and watching a sweep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11057839" cy="1142999"/>
          </a:xfrm>
          <a:prstGeom prst="rect">
            <a:avLst/>
          </a:prstGeom>
          <a:solidFill>
            <a:srgbClr val="17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225296"/>
            <a:ext cx="10765231" cy="960119"/>
          </a:xfrm>
          <a:prstGeom prst="rect">
            <a:avLst/>
          </a:prstGeom>
          <a:noFill/>
        </p:spPr>
        <p:txBody>
          <a:bodyPr wrap="none" lIns="0" rIns="0" tIns="0" bIns="0">
            <a:spAutoFit/>
          </a:bodyPr>
          <a:lstStyle/>
          <a:p>
            <a:pPr>
              <a:lnSpc>
                <a:spcPct val="100000"/>
              </a:lnSpc>
              <a:spcAft>
                <a:spcPts val="0"/>
              </a:spcAft>
            </a:pPr>
            <a:r>
              <a:rPr sz="1000">
                <a:solidFill>
                  <a:srgbClr val="DBE6F0"/>
                </a:solidFill>
                <a:latin typeface="Menlo"/>
              </a:rPr>
              <a:t>curl -X POST "localhost:8087/disposition/runs?async=true&amp;actor=sahithi"</a:t>
            </a:r>
          </a:p>
          <a:p>
            <a:pPr>
              <a:lnSpc>
                <a:spcPct val="100000"/>
              </a:lnSpc>
              <a:spcAft>
                <a:spcPts val="0"/>
              </a:spcAft>
            </a:pPr>
            <a:r>
              <a:rPr sz="1000">
                <a:solidFill>
                  <a:srgbClr val="DBE6F0"/>
                </a:solidFill>
                <a:latin typeface="Menlo"/>
              </a:rPr>
              <a:t>curl -N localhost:8087/disposition/runs/stream</a:t>
            </a:r>
          </a:p>
          <a:p>
            <a:pPr>
              <a:lnSpc>
                <a:spcPct val="100000"/>
              </a:lnSpc>
              <a:spcAft>
                <a:spcPts val="0"/>
              </a:spcAft>
            </a:pPr>
            <a:r>
              <a:rPr sz="1000">
                <a:solidFill>
                  <a:srgbClr val="DBE6F0"/>
                </a:solidFill>
                <a:latin typeface="Menlo"/>
              </a:rPr>
              <a:t> </a:t>
            </a:r>
          </a:p>
          <a:p>
            <a:pPr>
              <a:lnSpc>
                <a:spcPct val="100000"/>
              </a:lnSpc>
              <a:spcAft>
                <a:spcPts val="0"/>
              </a:spcAft>
            </a:pPr>
            <a:r>
              <a:rPr sz="1000">
                <a:solidFill>
                  <a:srgbClr val="DBE6F0"/>
                </a:solidFill>
                <a:latin typeface="Menlo"/>
              </a:rPr>
              <a:t>event:progress</a:t>
            </a:r>
          </a:p>
          <a:p>
            <a:pPr>
              <a:lnSpc>
                <a:spcPct val="100000"/>
              </a:lnSpc>
              <a:spcAft>
                <a:spcPts val="0"/>
              </a:spcAft>
            </a:pPr>
            <a:r>
              <a:rPr sz="1000">
                <a:solidFill>
                  <a:srgbClr val="DBE6F0"/>
                </a:solidFill>
                <a:latin typeface="Menlo"/>
              </a:rPr>
              <a:t>data:{"runId":"37956dfd…","status":"RUNNING","processed":3,"total":5,</a:t>
            </a:r>
          </a:p>
          <a:p>
            <a:pPr>
              <a:lnSpc>
                <a:spcPct val="100000"/>
              </a:lnSpc>
              <a:spcAft>
                <a:spcPts val="0"/>
              </a:spcAft>
            </a:pPr>
            <a:r>
              <a:rPr sz="1000">
                <a:solidFill>
                  <a:srgbClr val="DBE6F0"/>
                </a:solidFill>
                <a:latin typeface="Menlo"/>
              </a:rPr>
              <a:t>      "deleted":1,"skippedHold":2,"percent":60,"terminal":false}</a:t>
            </a:r>
          </a:p>
        </p:txBody>
      </p:sp>
      <p:sp>
        <p:nvSpPr>
          <p:cNvPr id="6" name="TextBox 5"/>
          <p:cNvSpPr txBox="1"/>
          <p:nvPr/>
        </p:nvSpPr>
        <p:spPr>
          <a:xfrm>
            <a:off x="566928" y="2441448"/>
            <a:ext cx="11057839" cy="1417320"/>
          </a:xfrm>
          <a:prstGeom prst="rect">
            <a:avLst/>
          </a:prstGeom>
          <a:noFill/>
        </p:spPr>
        <p:txBody>
          <a:bodyPr wrap="square" lIns="0" rIns="0" tIns="0" bIns="0">
            <a:spAutoFit/>
          </a:bodyPr>
          <a:lstStyle/>
          <a:p>
            <a:pPr>
              <a:lnSpc>
                <a:spcPct val="106000"/>
              </a:lnSpc>
              <a:spcAft>
                <a:spcPts val="500"/>
              </a:spcAft>
            </a:pPr>
            <a:r>
              <a:rPr sz="1300">
                <a:solidFill>
                  <a:srgbClr val="C9A227"/>
                </a:solidFill>
                <a:latin typeface="Helvetica Neue"/>
              </a:rPr>
              <a:t>▪  </a:t>
            </a:r>
            <a:r>
              <a:rPr sz="1300" b="0" i="0">
                <a:solidFill>
                  <a:srgbClr val="1A1D21"/>
                </a:solidFill>
                <a:latin typeface="Helvetica Neue"/>
              </a:rPr>
              <a:t>The current snapshot is sent on connect, so a client attaching mid-sweep — or just after one finished — sees state immediately rather than an empty stream.</a:t>
            </a:r>
          </a:p>
          <a:p>
            <a:pPr>
              <a:lnSpc>
                <a:spcPct val="106000"/>
              </a:lnSpc>
              <a:spcAft>
                <a:spcPts val="500"/>
              </a:spcAft>
            </a:pPr>
            <a:r>
              <a:rPr sz="1300">
                <a:solidFill>
                  <a:srgbClr val="C9A227"/>
                </a:solidFill>
                <a:latin typeface="Helvetica Neue"/>
              </a:rPr>
              <a:t>▪  </a:t>
            </a:r>
            <a:r>
              <a:rPr sz="1300" b="0" i="0">
                <a:solidFill>
                  <a:srgbClr val="1A1D21"/>
                </a:solidFill>
                <a:latin typeface="Helvetica Neue"/>
              </a:rPr>
              <a:t>Progress is in memory and for the current run only. The ledger is the durable record; a per-message counter written to the chain-of-custody table would be write traffic for something nobody reads tomorrow.</a:t>
            </a:r>
          </a:p>
          <a:p>
            <a:pPr>
              <a:lnSpc>
                <a:spcPct val="106000"/>
              </a:lnSpc>
              <a:spcAft>
                <a:spcPts val="500"/>
              </a:spcAft>
            </a:pPr>
            <a:r>
              <a:rPr sz="1300">
                <a:solidFill>
                  <a:srgbClr val="C9A227"/>
                </a:solidFill>
                <a:latin typeface="Helvetica Neue"/>
              </a:rPr>
              <a:t>▪  </a:t>
            </a:r>
            <a:r>
              <a:rPr sz="1300" b="0" i="0">
                <a:solidFill>
                  <a:srgbClr val="9C2C4E"/>
                </a:solidFill>
                <a:latin typeface="Menlo"/>
              </a:rPr>
              <a:t>blocking_hold_id</a:t>
            </a:r>
            <a:r>
              <a:rPr sz="1300" b="0" i="0">
                <a:solidFill>
                  <a:srgbClr val="1A1D21"/>
                </a:solidFill>
                <a:latin typeface="Helvetica Neue"/>
              </a:rPr>
              <a:t> and </a:t>
            </a:r>
            <a:r>
              <a:rPr sz="1300" b="0" i="0">
                <a:solidFill>
                  <a:srgbClr val="9C2C4E"/>
                </a:solidFill>
                <a:latin typeface="Menlo"/>
              </a:rPr>
              <a:t>blocking_case_id</a:t>
            </a:r>
            <a:r>
              <a:rPr sz="1300" b="0" i="0">
                <a:solidFill>
                  <a:srgbClr val="1A1D21"/>
                </a:solidFill>
                <a:latin typeface="Helvetica Neue"/>
              </a:rPr>
              <a:t> are </a:t>
            </a:r>
            <a:r>
              <a:rPr sz="1300" b="1" i="0">
                <a:solidFill>
                  <a:srgbClr val="1A1D21"/>
                </a:solidFill>
                <a:latin typeface="Helvetica Neue"/>
              </a:rPr>
              <a:t>copied onto the ledger row</a:t>
            </a:r>
            <a:r>
              <a:rPr sz="1300" b="0" i="0">
                <a:solidFill>
                  <a:srgbClr val="1A1D21"/>
                </a:solidFill>
                <a:latin typeface="Helvetica Neue"/>
              </a:rPr>
              <a:t>, not joined from P4, so the protection record outlives both the release of the hold and the closing of the case.</a:t>
            </a:r>
          </a:p>
        </p:txBody>
      </p:sp>
      <p:sp>
        <p:nvSpPr>
          <p:cNvPr id="7" name="Rectangle 6"/>
          <p:cNvSpPr/>
          <p:nvPr/>
        </p:nvSpPr>
        <p:spPr>
          <a:xfrm>
            <a:off x="566928" y="3950208"/>
            <a:ext cx="11057839" cy="576072"/>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3950208"/>
            <a:ext cx="50292" cy="5760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4050792"/>
            <a:ext cx="10710367" cy="374904"/>
          </a:xfrm>
          <a:prstGeom prst="rect">
            <a:avLst/>
          </a:prstGeom>
          <a:noFill/>
        </p:spPr>
        <p:txBody>
          <a:bodyPr wrap="square" lIns="0" rIns="0" tIns="0" bIns="0">
            <a:spAutoFit/>
          </a:bodyPr>
          <a:lstStyle/>
          <a:p>
            <a:pPr>
              <a:lnSpc>
                <a:spcPct val="106000"/>
              </a:lnSpc>
              <a:spcAft>
                <a:spcPts val="200"/>
              </a:spcAft>
            </a:pPr>
            <a:r>
              <a:rPr sz="1200" b="1" i="0">
                <a:solidFill>
                  <a:srgbClr val="9C2C4E"/>
                </a:solidFill>
                <a:latin typeface="Menlo"/>
              </a:rPr>
              <a:t>/cases/{caseId}/protected</a:t>
            </a:r>
            <a:r>
              <a:rPr sz="1200" b="1" i="0">
                <a:solidFill>
                  <a:srgbClr val="5C4500"/>
                </a:solidFill>
                <a:latin typeface="Helvetica Neue"/>
              </a:rPr>
              <a:t> is the money endpoint for a demo.</a:t>
            </a:r>
            <a:r>
              <a:rPr sz="1200" b="0" i="0">
                <a:solidFill>
                  <a:srgbClr val="5C4500"/>
                </a:solidFill>
                <a:latin typeface="Helvetica Neue"/>
              </a:rPr>
              <a:t> It answers 'what did this hold actually save?' with per-message evidence, across every run, after the fact.</a:t>
            </a:r>
          </a:p>
        </p:txBody>
      </p:sp>
      <p:sp>
        <p:nvSpPr>
          <p:cNvPr id="10" name="TextBox 9"/>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11" name="TextBox 10"/>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14   </a:t>
            </a:r>
            <a:r>
              <a:rPr sz="2200" b="1">
                <a:solidFill>
                  <a:srgbClr val="14304A"/>
                </a:solidFill>
                <a:latin typeface="Helvetica Neue"/>
              </a:rPr>
              <a:t>P5 — Evidence Export and Chain of Custody  :8085</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4114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133856"/>
            <a:ext cx="10902391" cy="694944"/>
          </a:xfrm>
          <a:prstGeom prst="rect">
            <a:avLst/>
          </a:prstGeom>
          <a:noFill/>
        </p:spPr>
        <p:txBody>
          <a:bodyPr wrap="square" lIns="0" rIns="0" tIns="0" bIns="0">
            <a:spAutoFit/>
          </a:bodyPr>
          <a:lstStyle/>
          <a:p>
            <a:pPr>
              <a:lnSpc>
                <a:spcPct val="106000"/>
              </a:lnSpc>
              <a:spcAft>
                <a:spcPts val="200"/>
              </a:spcAft>
            </a:pPr>
            <a:r>
              <a:rPr sz="1450" b="1" i="0">
                <a:solidFill>
                  <a:srgbClr val="37506A"/>
                </a:solidFill>
                <a:latin typeface="Helvetica Neue"/>
              </a:rPr>
              <a:t>Two responsibilities, one owner, one datastore: prove what happened (FR-7), and hand over a package that can be proven unaltered (FR-6).</a:t>
            </a:r>
          </a:p>
        </p:txBody>
      </p:sp>
      <p:sp>
        <p:nvSpPr>
          <p:cNvPr id="6" name="TextBox 5"/>
          <p:cNvSpPr txBox="1"/>
          <p:nvPr/>
        </p:nvSpPr>
        <p:spPr>
          <a:xfrm>
            <a:off x="566928" y="1920240"/>
            <a:ext cx="11057839" cy="502920"/>
          </a:xfrm>
          <a:prstGeom prst="rect">
            <a:avLst/>
          </a:prstGeom>
          <a:noFill/>
        </p:spPr>
        <p:txBody>
          <a:bodyPr wrap="square" lIns="0" rIns="0" tIns="0" bIns="0">
            <a:spAutoFit/>
          </a:bodyPr>
          <a:lstStyle/>
          <a:p>
            <a:pPr>
              <a:lnSpc>
                <a:spcPct val="106000"/>
              </a:lnSpc>
              <a:spcAft>
                <a:spcPts val="200"/>
              </a:spcAft>
            </a:pPr>
            <a:r>
              <a:rPr sz="1300" b="1" i="0">
                <a:solidFill>
                  <a:srgbClr val="1A1D21"/>
                </a:solidFill>
                <a:latin typeface="Helvetica Neue"/>
              </a:rPr>
              <a:t>Chain of custody.</a:t>
            </a:r>
            <a:r>
              <a:rPr sz="1300" b="0" i="0">
                <a:solidFill>
                  <a:srgbClr val="1A1D21"/>
                </a:solidFill>
                <a:latin typeface="Helvetica Neue"/>
              </a:rPr>
              <a:t> Every service publishes to </a:t>
            </a:r>
            <a:r>
              <a:rPr sz="1300" b="0" i="0">
                <a:solidFill>
                  <a:srgbClr val="9C2C4E"/>
                </a:solidFill>
                <a:latin typeface="Menlo"/>
              </a:rPr>
              <a:t>audit.events</a:t>
            </a:r>
            <a:r>
              <a:rPr sz="1300" b="0" i="0">
                <a:solidFill>
                  <a:srgbClr val="1A1D21"/>
                </a:solidFill>
                <a:latin typeface="Helvetica Neue"/>
              </a:rPr>
              <a:t>; P5 is the only consumer and the only durable store. It is insert-only — there is no update or delete endpoint anywhere in the service, and that absence is the entire enforcement mechanism for FR-7.3.</a:t>
            </a:r>
          </a:p>
        </p:txBody>
      </p:sp>
      <p:sp>
        <p:nvSpPr>
          <p:cNvPr id="7" name="TextBox 6"/>
          <p:cNvSpPr txBox="1"/>
          <p:nvPr/>
        </p:nvSpPr>
        <p:spPr>
          <a:xfrm>
            <a:off x="566928" y="2514600"/>
            <a:ext cx="11057839" cy="306323"/>
          </a:xfrm>
          <a:prstGeom prst="rect">
            <a:avLst/>
          </a:prstGeom>
          <a:noFill/>
        </p:spPr>
        <p:txBody>
          <a:bodyPr wrap="square" lIns="0" rIns="0" tIns="0" bIns="0">
            <a:spAutoFit/>
          </a:bodyPr>
          <a:lstStyle/>
          <a:p>
            <a:pPr>
              <a:lnSpc>
                <a:spcPct val="106000"/>
              </a:lnSpc>
              <a:spcAft>
                <a:spcPts val="200"/>
              </a:spcAft>
            </a:pPr>
            <a:r>
              <a:rPr sz="1300" b="1" i="0">
                <a:solidFill>
                  <a:srgbClr val="1A1D21"/>
                </a:solidFill>
                <a:latin typeface="Helvetica Neue"/>
              </a:rPr>
              <a:t>Export, and why it can never produce a partial package:</a:t>
            </a:r>
          </a:p>
        </p:txBody>
      </p:sp>
      <p:sp>
        <p:nvSpPr>
          <p:cNvPr id="8" name="TextBox 7"/>
          <p:cNvSpPr txBox="1"/>
          <p:nvPr/>
        </p:nvSpPr>
        <p:spPr>
          <a:xfrm>
            <a:off x="566928" y="2912364"/>
            <a:ext cx="11057839" cy="2061972"/>
          </a:xfrm>
          <a:prstGeom prst="rect">
            <a:avLst/>
          </a:prstGeom>
          <a:noFill/>
        </p:spPr>
        <p:txBody>
          <a:bodyPr wrap="square" lIns="0" rIns="0" tIns="0" bIns="0">
            <a:spAutoFit/>
          </a:bodyPr>
          <a:lstStyle/>
          <a:p>
            <a:pPr>
              <a:lnSpc>
                <a:spcPct val="106000"/>
              </a:lnSpc>
              <a:spcAft>
                <a:spcPts val="500"/>
              </a:spcAft>
            </a:pPr>
            <a:r>
              <a:rPr sz="1300">
                <a:solidFill>
                  <a:srgbClr val="C9A227"/>
                </a:solidFill>
                <a:latin typeface="Helvetica Neue"/>
              </a:rPr>
              <a:t>▪  </a:t>
            </a:r>
            <a:r>
              <a:rPr sz="1300" b="0" i="0">
                <a:solidFill>
                  <a:srgbClr val="9C2C4E"/>
                </a:solidFill>
                <a:latin typeface="Menlo"/>
              </a:rPr>
              <a:t>POST /exports</a:t>
            </a:r>
            <a:r>
              <a:rPr sz="1300" b="0" i="0">
                <a:solidFill>
                  <a:srgbClr val="1A1D21"/>
                </a:solidFill>
                <a:latin typeface="Helvetica Neue"/>
              </a:rPr>
              <a:t> does the minimum synchronous work: validate, persist a QUEUED row, publish the job id, return 202 with a Location header. The build happens on the </a:t>
            </a:r>
            <a:r>
              <a:rPr sz="1300" b="0" i="0">
                <a:solidFill>
                  <a:srgbClr val="9C2C4E"/>
                </a:solidFill>
                <a:latin typeface="Menlo"/>
              </a:rPr>
              <a:t>export.jobs</a:t>
            </a:r>
            <a:r>
              <a:rPr sz="1300" b="0" i="0">
                <a:solidFill>
                  <a:srgbClr val="1A1D21"/>
                </a:solidFill>
                <a:latin typeface="Helvetica Neue"/>
              </a:rPr>
              <a:t> consumer thread.</a:t>
            </a:r>
          </a:p>
          <a:p>
            <a:pPr>
              <a:lnSpc>
                <a:spcPct val="106000"/>
              </a:lnSpc>
              <a:spcAft>
                <a:spcPts val="500"/>
              </a:spcAft>
            </a:pPr>
            <a:r>
              <a:rPr sz="1300">
                <a:solidFill>
                  <a:srgbClr val="C9A227"/>
                </a:solidFill>
                <a:latin typeface="Helvetica Neue"/>
              </a:rPr>
              <a:t>▪  </a:t>
            </a:r>
            <a:r>
              <a:rPr sz="1300" b="0" i="0">
                <a:solidFill>
                  <a:srgbClr val="9C2C4E"/>
                </a:solidFill>
                <a:latin typeface="Menlo"/>
              </a:rPr>
              <a:t>process</a:t>
            </a:r>
            <a:r>
              <a:rPr sz="1300" b="0" i="0">
                <a:solidFill>
                  <a:srgbClr val="1A1D21"/>
                </a:solidFill>
                <a:latin typeface="Helvetica Neue"/>
              </a:rPr>
              <a:t> is idempotent against redelivery — a job already past QUEUED is left alone, so a rebalance cannot rebuild or clobber an existing package.</a:t>
            </a:r>
          </a:p>
          <a:p>
            <a:pPr>
              <a:lnSpc>
                <a:spcPct val="106000"/>
              </a:lnSpc>
              <a:spcAft>
                <a:spcPts val="500"/>
              </a:spcAft>
            </a:pPr>
            <a:r>
              <a:rPr sz="1300">
                <a:solidFill>
                  <a:srgbClr val="C9A227"/>
                </a:solidFill>
                <a:latin typeface="Helvetica Neue"/>
              </a:rPr>
              <a:t>▪  </a:t>
            </a:r>
            <a:r>
              <a:rPr sz="1300" b="0" i="0">
                <a:solidFill>
                  <a:srgbClr val="1A1D21"/>
                </a:solidFill>
                <a:latin typeface="Helvetica Neue"/>
              </a:rPr>
              <a:t>The packages bucket gains an object only once the whole package is built successfully </a:t>
            </a:r>
            <a:r>
              <a:rPr sz="1300" b="0" i="1">
                <a:solidFill>
                  <a:srgbClr val="1A1D21"/>
                </a:solidFill>
                <a:latin typeface="Helvetica Neue"/>
              </a:rPr>
              <a:t>and</a:t>
            </a:r>
            <a:r>
              <a:rPr sz="1300" b="0" i="0">
                <a:solidFill>
                  <a:srgbClr val="1A1D21"/>
                </a:solidFill>
                <a:latin typeface="Helvetica Neue"/>
              </a:rPr>
              <a:t> copied server-side from </a:t>
            </a:r>
            <a:r>
              <a:rPr sz="1300" b="0" i="0">
                <a:solidFill>
                  <a:srgbClr val="9C2C4E"/>
                </a:solidFill>
                <a:latin typeface="Menlo"/>
              </a:rPr>
              <a:t>export-staging</a:t>
            </a:r>
            <a:r>
              <a:rPr sz="1300" b="0" i="0">
                <a:solidFill>
                  <a:srgbClr val="1A1D21"/>
                </a:solidFill>
                <a:latin typeface="Helvetica Neue"/>
              </a:rPr>
              <a:t> to </a:t>
            </a:r>
            <a:r>
              <a:rPr sz="1300" b="0" i="0">
                <a:solidFill>
                  <a:srgbClr val="9C2C4E"/>
                </a:solidFill>
                <a:latin typeface="Menlo"/>
              </a:rPr>
              <a:t>export-packages</a:t>
            </a:r>
            <a:r>
              <a:rPr sz="1300" b="0" i="0">
                <a:solidFill>
                  <a:srgbClr val="1A1D21"/>
                </a:solidFill>
                <a:latin typeface="Helvetica Neue"/>
              </a:rPr>
              <a:t>. If anything fails before that copy, the job is FAILED, staged objects are discarded, and nothing ever appears under the job's key.</a:t>
            </a:r>
          </a:p>
          <a:p>
            <a:pPr>
              <a:lnSpc>
                <a:spcPct val="106000"/>
              </a:lnSpc>
              <a:spcAft>
                <a:spcPts val="500"/>
              </a:spcAft>
            </a:pPr>
            <a:r>
              <a:rPr sz="1300">
                <a:solidFill>
                  <a:srgbClr val="C9A227"/>
                </a:solidFill>
                <a:latin typeface="Helvetica Neue"/>
              </a:rPr>
              <a:t>▪  </a:t>
            </a:r>
            <a:r>
              <a:rPr sz="1300" b="0" i="0">
                <a:solidFill>
                  <a:srgbClr val="9C2C4E"/>
                </a:solidFill>
                <a:latin typeface="Menlo"/>
              </a:rPr>
              <a:t>POST /exports/{jobId}/retry</a:t>
            </a:r>
            <a:r>
              <a:rPr sz="1300" b="0" i="0">
                <a:solidFill>
                  <a:srgbClr val="1A1D21"/>
                </a:solidFill>
                <a:latin typeface="Helvetica Neue"/>
              </a:rPr>
              <a:t> is accepted only for a FAILED job and starts the build over. It cannot duplicate or corrupt, because there is nothing to conflict with until the retry itself succeeds.</a:t>
            </a:r>
          </a:p>
        </p:txBody>
      </p:sp>
      <p:sp>
        <p:nvSpPr>
          <p:cNvPr id="9" name="TextBox 8"/>
          <p:cNvSpPr txBox="1"/>
          <p:nvPr/>
        </p:nvSpPr>
        <p:spPr>
          <a:xfrm>
            <a:off x="566928" y="5065776"/>
            <a:ext cx="11057839" cy="306323"/>
          </a:xfrm>
          <a:prstGeom prst="rect">
            <a:avLst/>
          </a:prstGeom>
          <a:noFill/>
        </p:spPr>
        <p:txBody>
          <a:bodyPr wrap="square" lIns="0" rIns="0" tIns="0" bIns="0">
            <a:spAutoFit/>
          </a:bodyPr>
          <a:lstStyle/>
          <a:p>
            <a:pPr>
              <a:lnSpc>
                <a:spcPct val="106000"/>
              </a:lnSpc>
              <a:spcAft>
                <a:spcPts val="200"/>
              </a:spcAft>
            </a:pPr>
            <a:r>
              <a:rPr sz="1300" b="1" i="0">
                <a:solidFill>
                  <a:srgbClr val="1A1D21"/>
                </a:solidFill>
                <a:latin typeface="Helvetica Neue"/>
              </a:rPr>
              <a:t>Checksums — the part that makes it evidence rather than a zip file:</a:t>
            </a:r>
          </a:p>
        </p:txBody>
      </p:sp>
      <p:sp>
        <p:nvSpPr>
          <p:cNvPr id="10" name="TextBox 9"/>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11" name="TextBox 10"/>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14   </a:t>
            </a:r>
            <a:r>
              <a:rPr sz="2200" b="1">
                <a:solidFill>
                  <a:srgbClr val="14304A"/>
                </a:solidFill>
                <a:latin typeface="Helvetica Neue"/>
              </a:rPr>
              <a:t>P5 — Evidence Export and Chain of Custody  :8085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1417320"/>
          </a:xfrm>
          <a:prstGeom prst="rect">
            <a:avLst/>
          </a:prstGeom>
          <a:noFill/>
        </p:spPr>
        <p:txBody>
          <a:bodyPr wrap="square" lIns="0" rIns="0" tIns="0" bIns="0">
            <a:spAutoFit/>
          </a:bodyPr>
          <a:lstStyle/>
          <a:p>
            <a:pPr>
              <a:lnSpc>
                <a:spcPct val="106000"/>
              </a:lnSpc>
              <a:spcAft>
                <a:spcPts val="500"/>
              </a:spcAft>
            </a:pPr>
            <a:r>
              <a:rPr sz="1300">
                <a:solidFill>
                  <a:srgbClr val="C9A227"/>
                </a:solidFill>
                <a:latin typeface="Helvetica Neue"/>
              </a:rPr>
              <a:t>▪  </a:t>
            </a:r>
            <a:r>
              <a:rPr sz="1300" b="0" i="0">
                <a:solidFill>
                  <a:srgbClr val="1A1D21"/>
                </a:solidFill>
                <a:latin typeface="Helvetica Neue"/>
              </a:rPr>
              <a:t>Every attachment's bytes are </a:t>
            </a:r>
            <a:r>
              <a:rPr sz="1300" b="1" i="0">
                <a:solidFill>
                  <a:srgbClr val="1A1D21"/>
                </a:solidFill>
                <a:latin typeface="Helvetica Neue"/>
              </a:rPr>
              <a:t>re-fetched from P2 and re-hashed</a:t>
            </a:r>
            <a:r>
              <a:rPr sz="1300" b="0" i="0">
                <a:solidFill>
                  <a:srgbClr val="1A1D21"/>
                </a:solidFill>
                <a:latin typeface="Helvetica Neue"/>
              </a:rPr>
              <a:t>, never trusted from the archive's own metadata. If the fetched bytes do not match the recorded sha256, the export refuses outright — that is the chain of custody breaking.</a:t>
            </a:r>
          </a:p>
          <a:p>
            <a:pPr>
              <a:lnSpc>
                <a:spcPct val="106000"/>
              </a:lnSpc>
              <a:spcAft>
                <a:spcPts val="500"/>
              </a:spcAft>
            </a:pPr>
            <a:r>
              <a:rPr sz="1300">
                <a:solidFill>
                  <a:srgbClr val="C9A227"/>
                </a:solidFill>
                <a:latin typeface="Helvetica Neue"/>
              </a:rPr>
              <a:t>▪  </a:t>
            </a:r>
            <a:r>
              <a:rPr sz="1300" b="0" i="0">
                <a:solidFill>
                  <a:srgbClr val="9C2C4E"/>
                </a:solidFill>
                <a:latin typeface="Menlo"/>
              </a:rPr>
              <a:t>manifest.json</a:t>
            </a:r>
            <a:r>
              <a:rPr sz="1300" b="0" i="0">
                <a:solidFill>
                  <a:srgbClr val="1A1D21"/>
                </a:solidFill>
                <a:latin typeface="Helvetica Neue"/>
              </a:rPr>
              <a:t> inside the package lists every message and attachment with the checksum computed from the exact bytes written into the package.</a:t>
            </a:r>
          </a:p>
          <a:p>
            <a:pPr>
              <a:lnSpc>
                <a:spcPct val="106000"/>
              </a:lnSpc>
              <a:spcAft>
                <a:spcPts val="500"/>
              </a:spcAft>
            </a:pPr>
            <a:r>
              <a:rPr sz="1300">
                <a:solidFill>
                  <a:srgbClr val="C9A227"/>
                </a:solidFill>
                <a:latin typeface="Helvetica Neue"/>
              </a:rPr>
              <a:t>▪  </a:t>
            </a:r>
            <a:r>
              <a:rPr sz="1300" b="0" i="0">
                <a:solidFill>
                  <a:srgbClr val="9C2C4E"/>
                </a:solidFill>
                <a:latin typeface="Menlo"/>
              </a:rPr>
              <a:t>GET /exports/{jobId}/verify</a:t>
            </a:r>
            <a:r>
              <a:rPr sz="1300" b="0" i="0">
                <a:solidFill>
                  <a:srgbClr val="1A1D21"/>
                </a:solidFill>
                <a:latin typeface="Helvetica Neue"/>
              </a:rPr>
              <a:t> re-downloads the package and re-derives every checksum </a:t>
            </a:r>
            <a:r>
              <a:rPr sz="1300" b="1" i="0">
                <a:solidFill>
                  <a:srgbClr val="1A1D21"/>
                </a:solidFill>
                <a:latin typeface="Helvetica Neue"/>
              </a:rPr>
              <a:t>from its own bytes, with no call back to P2</a:t>
            </a:r>
            <a:r>
              <a:rPr sz="1300" b="0" i="0">
                <a:solidFill>
                  <a:srgbClr val="1A1D21"/>
                </a:solidFill>
                <a:latin typeface="Helvetica Neue"/>
              </a:rPr>
              <a:t>. That independence is what makes tampering detectable rather than merely claimed to be detectable.</a:t>
            </a:r>
          </a:p>
        </p:txBody>
      </p:sp>
      <p:sp>
        <p:nvSpPr>
          <p:cNvPr id="5" name="Rectangle 4"/>
          <p:cNvSpPr/>
          <p:nvPr/>
        </p:nvSpPr>
        <p:spPr>
          <a:xfrm>
            <a:off x="566928" y="2642616"/>
            <a:ext cx="11057839" cy="982980"/>
          </a:xfrm>
          <a:prstGeom prst="rect">
            <a:avLst/>
          </a:prstGeom>
          <a:solidFill>
            <a:srgbClr val="17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2734056"/>
            <a:ext cx="10765231" cy="800100"/>
          </a:xfrm>
          <a:prstGeom prst="rect">
            <a:avLst/>
          </a:prstGeom>
          <a:noFill/>
        </p:spPr>
        <p:txBody>
          <a:bodyPr wrap="none" lIns="0" rIns="0" tIns="0" bIns="0">
            <a:spAutoFit/>
          </a:bodyPr>
          <a:lstStyle/>
          <a:p>
            <a:pPr>
              <a:lnSpc>
                <a:spcPct val="100000"/>
              </a:lnSpc>
              <a:spcAft>
                <a:spcPts val="0"/>
              </a:spcAft>
            </a:pPr>
            <a:r>
              <a:rPr sz="1000">
                <a:solidFill>
                  <a:srgbClr val="DBE6F0"/>
                </a:solidFill>
                <a:latin typeface="Menlo"/>
              </a:rPr>
              <a:t>JOB=$(curl -s -X POST localhost:8085/exports -H 'Content-Type: application/json' \</a:t>
            </a:r>
          </a:p>
          <a:p>
            <a:pPr>
              <a:lnSpc>
                <a:spcPct val="100000"/>
              </a:lnSpc>
              <a:spcAft>
                <a:spcPts val="0"/>
              </a:spcAft>
            </a:pPr>
            <a:r>
              <a:rPr sz="1000">
                <a:solidFill>
                  <a:srgbClr val="DBE6F0"/>
                </a:solidFill>
                <a:latin typeface="Menlo"/>
              </a:rPr>
              <a:t>  -d '{"caseId":"demo","custodianId":"cust-001"}' | jq -r .jobId)</a:t>
            </a:r>
          </a:p>
          <a:p>
            <a:pPr>
              <a:lnSpc>
                <a:spcPct val="100000"/>
              </a:lnSpc>
              <a:spcAft>
                <a:spcPts val="0"/>
              </a:spcAft>
            </a:pPr>
            <a:r>
              <a:rPr sz="1000">
                <a:solidFill>
                  <a:srgbClr val="DBE6F0"/>
                </a:solidFill>
                <a:latin typeface="Menlo"/>
              </a:rPr>
              <a:t>curl -s localhost:8085/exports/$JOB          # QUEUED → RUNNING → COMPLETED</a:t>
            </a:r>
          </a:p>
          <a:p>
            <a:pPr>
              <a:lnSpc>
                <a:spcPct val="100000"/>
              </a:lnSpc>
              <a:spcAft>
                <a:spcPts val="0"/>
              </a:spcAft>
            </a:pPr>
            <a:r>
              <a:rPr sz="1000">
                <a:solidFill>
                  <a:srgbClr val="DBE6F0"/>
                </a:solidFill>
                <a:latin typeface="Menlo"/>
              </a:rPr>
              <a:t>curl -s localhost:8085/exports/$JOB/verify   # re-hash from the delivered bytes</a:t>
            </a:r>
          </a:p>
          <a:p>
            <a:pPr>
              <a:lnSpc>
                <a:spcPct val="100000"/>
              </a:lnSpc>
              <a:spcAft>
                <a:spcPts val="0"/>
              </a:spcAft>
            </a:pPr>
            <a:r>
              <a:rPr sz="1000">
                <a:solidFill>
                  <a:srgbClr val="DBE6F0"/>
                </a:solidFill>
                <a:latin typeface="Menlo"/>
              </a:rPr>
              <a:t>curl -s "localhost:8085/audit?action=export.completed"</a:t>
            </a:r>
          </a:p>
        </p:txBody>
      </p:sp>
      <p:sp>
        <p:nvSpPr>
          <p:cNvPr id="7" name="TextBox 6"/>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8" name="TextBox 7"/>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15   </a:t>
            </a:r>
            <a:r>
              <a:rPr sz="2200" b="1">
                <a:solidFill>
                  <a:srgbClr val="14304A"/>
                </a:solidFill>
                <a:latin typeface="Helvetica Neue"/>
              </a:rPr>
              <a:t>Kafka: the nine topics and what flows over them</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133856"/>
          <a:ext cx="11057837" cy="2784348"/>
        </p:xfrm>
        <a:graphic>
          <a:graphicData uri="http://schemas.openxmlformats.org/drawingml/2006/table">
            <a:tbl>
              <a:tblPr firstRow="1">
                <a:tableStyleId>{5C22544A-7EE6-4342-B048-85BDC9FD1C3A}</a:tableStyleId>
              </a:tblPr>
              <a:tblGrid>
                <a:gridCol w="1827742"/>
                <a:gridCol w="2467451"/>
                <a:gridCol w="6122935"/>
                <a:gridCol w="639709"/>
              </a:tblGrid>
              <a:tr h="274320">
                <a:tc>
                  <a:txBody>
                    <a:bodyPr wrap="square"/>
                    <a:lstStyle/>
                    <a:p>
                      <a:pPr algn="l">
                        <a:lnSpc>
                          <a:spcPct val="104000"/>
                        </a:lnSpc>
                      </a:pPr>
                      <a:r>
                        <a:rPr sz="1050" b="1" i="0">
                          <a:solidFill>
                            <a:srgbClr val="FFFFFF"/>
                          </a:solidFill>
                          <a:latin typeface="Helvetica Neue"/>
                        </a:rPr>
                        <a:t>Topic</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From → To</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Carries</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Parts</a:t>
                      </a:r>
                    </a:p>
                  </a:txBody>
                  <a:tcPr marL="64008" marR="64008" marT="32004" marB="32004" anchor="t">
                    <a:solidFill>
                      <a:srgbClr val="1F4E79"/>
                    </a:solidFill>
                  </a:tcPr>
                </a:tc>
              </a:tr>
              <a:tr h="278892">
                <a:tc>
                  <a:txBody>
                    <a:bodyPr wrap="square"/>
                    <a:lstStyle/>
                    <a:p>
                      <a:pPr algn="l">
                        <a:lnSpc>
                          <a:spcPct val="104000"/>
                        </a:lnSpc>
                      </a:pPr>
                      <a:r>
                        <a:rPr sz="1050" b="0" i="0">
                          <a:solidFill>
                            <a:srgbClr val="1A1D21"/>
                          </a:solidFill>
                          <a:latin typeface="Helvetica Neue"/>
                        </a:rPr>
                        <a:t>messages.ingested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P1 → P2</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Accepted, deduped, not yet stored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6</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messages.archived</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P2 → P3</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Written to the archive, ready to index</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6</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holds.commands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P4 → its own workers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Fan-out over a hold scope too large to resolve synchronously</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3</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holds.events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P4 → P2, P3</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A custodian or message came under hold, or came off it</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3</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disposition.commands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P2.2 → P2</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One message past retention, to be removed. </a:t>
                      </a:r>
                      <a:r>
                        <a:rPr sz="1050" b="1" i="0">
                          <a:solidFill>
                            <a:srgbClr val="1A1D21"/>
                          </a:solidFill>
                          <a:latin typeface="Helvetica Neue"/>
                        </a:rPr>
                        <a:t>A request, not a warrant</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3</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disposition.results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P2 → P2.2</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What actually became of a DeleteCommand</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3</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cases.events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case-service → hold-service</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Case created, transitioned, closed → release its holds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3</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export.jobs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P5 → its own workers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One export job to build</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3</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audit.events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everyone → P5</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Chain of custody</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6</a:t>
                      </a:r>
                    </a:p>
                  </a:txBody>
                  <a:tcPr marL="64008" marR="64008" marT="32004" marB="32004" anchor="t">
                    <a:solidFill>
                      <a:srgbClr val="FFFFFF"/>
                    </a:solidFill>
                  </a:tcPr>
                </a:tc>
              </a:tr>
            </a:tbl>
          </a:graphicData>
        </a:graphic>
      </p:graphicFrame>
      <p:sp>
        <p:nvSpPr>
          <p:cNvPr id="5" name="TextBox 4"/>
          <p:cNvSpPr txBox="1"/>
          <p:nvPr/>
        </p:nvSpPr>
        <p:spPr>
          <a:xfrm>
            <a:off x="566928" y="4192524"/>
            <a:ext cx="11057839" cy="1417320"/>
          </a:xfrm>
          <a:prstGeom prst="rect">
            <a:avLst/>
          </a:prstGeom>
          <a:noFill/>
        </p:spPr>
        <p:txBody>
          <a:bodyPr wrap="square" lIns="0" rIns="0" tIns="0" bIns="0">
            <a:spAutoFit/>
          </a:bodyPr>
          <a:lstStyle/>
          <a:p>
            <a:pPr>
              <a:lnSpc>
                <a:spcPct val="106000"/>
              </a:lnSpc>
              <a:spcAft>
                <a:spcPts val="500"/>
              </a:spcAft>
            </a:pPr>
            <a:r>
              <a:rPr sz="1300">
                <a:solidFill>
                  <a:srgbClr val="C9A227"/>
                </a:solidFill>
                <a:latin typeface="Helvetica Neue"/>
              </a:rPr>
              <a:t>▪  </a:t>
            </a:r>
            <a:r>
              <a:rPr sz="1300" b="1" i="0">
                <a:solidFill>
                  <a:srgbClr val="1A1D21"/>
                </a:solidFill>
                <a:latin typeface="Helvetica Neue"/>
              </a:rPr>
              <a:t>Auto-create is off.</a:t>
            </a:r>
            <a:r>
              <a:rPr sz="1300" b="0" i="0">
                <a:solidFill>
                  <a:srgbClr val="1A1D21"/>
                </a:solidFill>
                <a:latin typeface="Helvetica Neue"/>
              </a:rPr>
              <a:t> A typo fails loudly instead of quietly creating a one-partition topic nothing produces to. New topics go in </a:t>
            </a:r>
            <a:r>
              <a:rPr sz="1300" b="0" i="0">
                <a:solidFill>
                  <a:srgbClr val="9C2C4E"/>
                </a:solidFill>
                <a:latin typeface="Menlo"/>
              </a:rPr>
              <a:t>infra/kafka/create-topics.sh</a:t>
            </a:r>
            <a:r>
              <a:rPr sz="1300" b="0" i="0">
                <a:solidFill>
                  <a:srgbClr val="1A1D21"/>
                </a:solidFill>
                <a:latin typeface="Helvetica Neue"/>
              </a:rPr>
              <a:t> </a:t>
            </a:r>
            <a:r>
              <a:rPr sz="1300" b="0" i="1">
                <a:solidFill>
                  <a:srgbClr val="1A1D21"/>
                </a:solidFill>
                <a:latin typeface="Helvetica Neue"/>
              </a:rPr>
              <a:t>and</a:t>
            </a:r>
            <a:r>
              <a:rPr sz="1300" b="0" i="0">
                <a:solidFill>
                  <a:srgbClr val="1A1D21"/>
                </a:solidFill>
                <a:latin typeface="Helvetica Neue"/>
              </a:rPr>
              <a:t> in </a:t>
            </a:r>
            <a:r>
              <a:rPr sz="1300" b="0" i="0">
                <a:solidFill>
                  <a:srgbClr val="9C2C4E"/>
                </a:solidFill>
                <a:latin typeface="Menlo"/>
              </a:rPr>
              <a:t>Topics.java</a:t>
            </a:r>
            <a:r>
              <a:rPr sz="1300" b="0" i="0">
                <a:solidFill>
                  <a:srgbClr val="1A1D21"/>
                </a:solidFill>
                <a:latin typeface="Helvetica Neue"/>
              </a:rPr>
              <a:t>.</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Kafka advertises two listeners:</a:t>
            </a:r>
            <a:r>
              <a:rPr sz="1300" b="0" i="0">
                <a:solidFill>
                  <a:srgbClr val="1A1D21"/>
                </a:solidFill>
                <a:latin typeface="Helvetica Neue"/>
              </a:rPr>
              <a:t> </a:t>
            </a:r>
            <a:r>
              <a:rPr sz="1300" b="0" i="0">
                <a:solidFill>
                  <a:srgbClr val="9C2C4E"/>
                </a:solidFill>
                <a:latin typeface="Menlo"/>
              </a:rPr>
              <a:t>kafka:19092</a:t>
            </a:r>
            <a:r>
              <a:rPr sz="1300" b="0" i="0">
                <a:solidFill>
                  <a:srgbClr val="1A1D21"/>
                </a:solidFill>
                <a:latin typeface="Helvetica Neue"/>
              </a:rPr>
              <a:t> for containers, </a:t>
            </a:r>
            <a:r>
              <a:rPr sz="1300" b="0" i="0">
                <a:solidFill>
                  <a:srgbClr val="9C2C4E"/>
                </a:solidFill>
                <a:latin typeface="Menlo"/>
              </a:rPr>
              <a:t>localhost:9092</a:t>
            </a:r>
            <a:r>
              <a:rPr sz="1300" b="0" i="0">
                <a:solidFill>
                  <a:srgbClr val="1A1D21"/>
                </a:solidFill>
                <a:latin typeface="Helvetica Neue"/>
              </a:rPr>
              <a:t> for services run from your IDE. Use the right one for where the process actually lives.</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A Homebrew Kafka on 9092 is a silent disaster.</a:t>
            </a:r>
            <a:r>
              <a:rPr sz="1300" b="0" i="0">
                <a:solidFill>
                  <a:srgbClr val="1A1D21"/>
                </a:solidFill>
                <a:latin typeface="Helvetica Neue"/>
              </a:rPr>
              <a:t> Two brokers means your producer succeeds, your consumer receives nothing, and both configs look correct. </a:t>
            </a:r>
            <a:r>
              <a:rPr sz="1300" b="0" i="0">
                <a:solidFill>
                  <a:srgbClr val="9C2C4E"/>
                </a:solidFill>
                <a:latin typeface="Menlo"/>
              </a:rPr>
              <a:t>brew services stop kafka</a:t>
            </a:r>
            <a:r>
              <a:rPr sz="1300" b="0" i="0">
                <a:solidFill>
                  <a:srgbClr val="1A1D21"/>
                </a:solidFill>
                <a:latin typeface="Helvetica Neue"/>
              </a:rPr>
              <a:t>.</a:t>
            </a:r>
          </a:p>
        </p:txBody>
      </p:sp>
      <p:sp>
        <p:nvSpPr>
          <p:cNvPr id="6" name="TextBox 5"/>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7" name="TextBox 6"/>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15   </a:t>
            </a:r>
            <a:r>
              <a:rPr sz="2200" b="1">
                <a:solidFill>
                  <a:srgbClr val="14304A"/>
                </a:solidFill>
                <a:latin typeface="Helvetica Neue"/>
              </a:rPr>
              <a:t>Kafka: the nine topics and what flows over them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11057839" cy="1165860"/>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133856"/>
            <a:ext cx="50292" cy="11658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234440"/>
            <a:ext cx="10710367" cy="964692"/>
          </a:xfrm>
          <a:prstGeom prst="rect">
            <a:avLst/>
          </a:prstGeom>
          <a:noFill/>
        </p:spPr>
        <p:txBody>
          <a:bodyPr wrap="square" lIns="0" rIns="0" tIns="0" bIns="0">
            <a:spAutoFit/>
          </a:bodyPr>
          <a:lstStyle/>
          <a:p>
            <a:pPr>
              <a:lnSpc>
                <a:spcPct val="106000"/>
              </a:lnSpc>
              <a:spcAft>
                <a:spcPts val="200"/>
              </a:spcAft>
            </a:pPr>
            <a:r>
              <a:rPr sz="1200" b="1" i="0">
                <a:solidFill>
                  <a:srgbClr val="9C2C4E"/>
                </a:solidFill>
                <a:latin typeface="Menlo"/>
              </a:rPr>
              <a:t>disposition.commands</a:t>
            </a:r>
            <a:r>
              <a:rPr sz="1200" b="1" i="0">
                <a:solidFill>
                  <a:srgbClr val="5C4500"/>
                </a:solidFill>
                <a:latin typeface="Helvetica Neue"/>
              </a:rPr>
              <a:t> is a loaded gun if you are not careful.</a:t>
            </a:r>
            <a:r>
              <a:rPr sz="1200" b="0" i="0">
                <a:solidFill>
                  <a:srgbClr val="5C4500"/>
                </a:solidFill>
                <a:latin typeface="Helvetica Neue"/>
              </a:rPr>
              <a:t> During testing, a ten-second cron completed two sweeps of </a:t>
            </a:r>
            <a:r>
              <a:rPr sz="1200" b="0" i="0">
                <a:solidFill>
                  <a:srgbClr val="9C2C4E"/>
                </a:solidFill>
                <a:latin typeface="Menlo"/>
              </a:rPr>
              <a:t>candidates=500, deleted=499</a:t>
            </a:r>
            <a:r>
              <a:rPr sz="1200" b="0" i="0">
                <a:solidFill>
                  <a:srgbClr val="5C4500"/>
                </a:solidFill>
                <a:latin typeface="Helvetica Neue"/>
              </a:rPr>
              <a:t> before anyone could intervene. It was in KAFKA mode, so the commands were </a:t>
            </a:r>
            <a:r>
              <a:rPr sz="1200" b="0" i="1">
                <a:solidFill>
                  <a:srgbClr val="5C4500"/>
                </a:solidFill>
                <a:latin typeface="Helvetica Neue"/>
              </a:rPr>
              <a:t>published</a:t>
            </a:r>
            <a:r>
              <a:rPr sz="1200" b="0" i="0">
                <a:solidFill>
                  <a:srgbClr val="5C4500"/>
                </a:solidFill>
                <a:latin typeface="Helvetica Neue"/>
              </a:rPr>
              <a:t> rather than executed and the corpus survived — then sat on the topic waiting for whoever added P2's consumer with </a:t>
            </a:r>
            <a:r>
              <a:rPr sz="1200" b="0" i="0">
                <a:solidFill>
                  <a:srgbClr val="9C2C4E"/>
                </a:solidFill>
                <a:latin typeface="Menlo"/>
              </a:rPr>
              <a:t>auto-offset-reset: earliest</a:t>
            </a:r>
            <a:r>
              <a:rPr sz="1200" b="0" i="0">
                <a:solidFill>
                  <a:srgbClr val="5C4500"/>
                </a:solidFill>
                <a:latin typeface="Helvetica Neue"/>
              </a:rPr>
              <a:t>. The topic had to be deleted and recreated. That consumer now exists, so the reprieve is gone: a stray command is a real deletion, subject only to P2's hold guard.</a:t>
            </a:r>
          </a:p>
        </p:txBody>
      </p:sp>
      <p:sp>
        <p:nvSpPr>
          <p:cNvPr id="7" name="TextBox 6"/>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8" name="TextBox 7"/>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16   </a:t>
            </a:r>
            <a:r>
              <a:rPr sz="2200" b="1">
                <a:solidFill>
                  <a:srgbClr val="14304A"/>
                </a:solidFill>
                <a:latin typeface="Helvetica Neue"/>
              </a:rPr>
              <a:t>Datastores and who owns them</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133856"/>
          <a:ext cx="11057837" cy="3063240"/>
        </p:xfrm>
        <a:graphic>
          <a:graphicData uri="http://schemas.openxmlformats.org/drawingml/2006/table">
            <a:tbl>
              <a:tblPr firstRow="1">
                <a:tableStyleId>{5C22544A-7EE6-4342-B048-85BDC9FD1C3A}</a:tableStyleId>
              </a:tblPr>
              <a:tblGrid>
                <a:gridCol w="797988"/>
                <a:gridCol w="2507963"/>
                <a:gridCol w="797988"/>
                <a:gridCol w="6953898"/>
              </a:tblGrid>
              <a:tr h="274320">
                <a:tc>
                  <a:txBody>
                    <a:bodyPr wrap="square"/>
                    <a:lstStyle/>
                    <a:p>
                      <a:pPr algn="l">
                        <a:lnSpc>
                          <a:spcPct val="104000"/>
                        </a:lnSpc>
                      </a:pPr>
                      <a:r>
                        <a:rPr sz="1050" b="1" i="0">
                          <a:solidFill>
                            <a:srgbClr val="FFFFFF"/>
                          </a:solidFill>
                          <a:latin typeface="Helvetica Neue"/>
                        </a:rPr>
                        <a:t>Port</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Store</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Owner</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Holds</a:t>
                      </a:r>
                    </a:p>
                  </a:txBody>
                  <a:tcPr marL="64008" marR="64008" marT="32004" marB="32004" anchor="t">
                    <a:solidFill>
                      <a:srgbClr val="1F4E79"/>
                    </a:solidFill>
                  </a:tcPr>
                </a:tc>
              </a:tr>
              <a:tr h="278892">
                <a:tc>
                  <a:txBody>
                    <a:bodyPr wrap="square"/>
                    <a:lstStyle/>
                    <a:p>
                      <a:pPr algn="l">
                        <a:lnSpc>
                          <a:spcPct val="104000"/>
                        </a:lnSpc>
                      </a:pPr>
                      <a:r>
                        <a:rPr sz="1050" b="0" i="0">
                          <a:solidFill>
                            <a:srgbClr val="1A1D21"/>
                          </a:solidFill>
                          <a:latin typeface="Helvetica Neue"/>
                        </a:rPr>
                        <a:t>5437</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PostgreSQL </a:t>
                      </a:r>
                      <a:r>
                        <a:rPr sz="1050" b="0" i="0">
                          <a:solidFill>
                            <a:srgbClr val="1A1D21"/>
                          </a:solidFill>
                          <a:latin typeface="Menlo"/>
                        </a:rPr>
                        <a:t>ingestion</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P1</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message_id_map — the idempotency backstop</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6379</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Redis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P1</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Dedupe keys, 7-day TTL. Fails open</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27017</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MongoDB </a:t>
                      </a:r>
                      <a:r>
                        <a:rPr sz="1050" b="0" i="0">
                          <a:solidFill>
                            <a:srgbClr val="1A1D21"/>
                          </a:solidFill>
                          <a:latin typeface="Menlo"/>
                        </a:rPr>
                        <a:t>archive</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P2</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Message content, attachment bytes included</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5433</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PostgreSQL </a:t>
                      </a:r>
                      <a:r>
                        <a:rPr sz="1050" b="0" i="0">
                          <a:solidFill>
                            <a:srgbClr val="1A1D21"/>
                          </a:solidFill>
                          <a:latin typeface="Menlo"/>
                        </a:rPr>
                        <a:t>archive</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P2</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message_hold_status — hold state + retention bookkeeping only</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9200</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Elasticsearch</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P3</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communications, search-history, saved-searches</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5434</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PostgreSQL </a:t>
                      </a:r>
                      <a:r>
                        <a:rPr sz="1050" b="0" i="0">
                          <a:solidFill>
                            <a:srgbClr val="1A1D21"/>
                          </a:solidFill>
                          <a:latin typeface="Menlo"/>
                        </a:rPr>
                        <a:t>cases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P4 case</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Cases, custodians, evidence items</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5436</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PostgreSQL </a:t>
                      </a:r>
                      <a:r>
                        <a:rPr sz="1050" b="0" i="0">
                          <a:solidFill>
                            <a:srgbClr val="1A1D21"/>
                          </a:solidFill>
                          <a:latin typeface="Menlo"/>
                        </a:rPr>
                        <a:t>holds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P4 hold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Holds and hold_coverage</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5435</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PostgreSQL </a:t>
                      </a:r>
                      <a:r>
                        <a:rPr sz="1050" b="0" i="0">
                          <a:solidFill>
                            <a:srgbClr val="1A1D21"/>
                          </a:solidFill>
                          <a:latin typeface="Menlo"/>
                        </a:rPr>
                        <a:t>audit</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P5</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Audit log (insert-only) and export jobs</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9000</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MinIO</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P5</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export-staging, export-packages, archive-attachments</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5438</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PostgreSQL </a:t>
                      </a:r>
                      <a:r>
                        <a:rPr sz="1050" b="0" i="0">
                          <a:solidFill>
                            <a:srgbClr val="1A1D21"/>
                          </a:solidFill>
                          <a:latin typeface="Menlo"/>
                        </a:rPr>
                        <a:t>disposition</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P2.2</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Retention policies, runs, the per-message ledger</a:t>
                      </a:r>
                    </a:p>
                  </a:txBody>
                  <a:tcPr marL="64008" marR="64008" marT="32004" marB="32004" anchor="t">
                    <a:solidFill>
                      <a:srgbClr val="F4F7FA"/>
                    </a:solidFill>
                  </a:tcPr>
                </a:tc>
              </a:tr>
            </a:tbl>
          </a:graphicData>
        </a:graphic>
      </p:graphicFrame>
      <p:sp>
        <p:nvSpPr>
          <p:cNvPr id="5" name="TextBox 4"/>
          <p:cNvSpPr txBox="1"/>
          <p:nvPr/>
        </p:nvSpPr>
        <p:spPr>
          <a:xfrm>
            <a:off x="566928" y="4471416"/>
            <a:ext cx="11057839" cy="1220724"/>
          </a:xfrm>
          <a:prstGeom prst="rect">
            <a:avLst/>
          </a:prstGeom>
          <a:noFill/>
        </p:spPr>
        <p:txBody>
          <a:bodyPr wrap="square" lIns="0" rIns="0" tIns="0" bIns="0">
            <a:spAutoFit/>
          </a:bodyPr>
          <a:lstStyle/>
          <a:p>
            <a:pPr>
              <a:lnSpc>
                <a:spcPct val="106000"/>
              </a:lnSpc>
              <a:spcAft>
                <a:spcPts val="500"/>
              </a:spcAft>
            </a:pPr>
            <a:r>
              <a:rPr sz="1300">
                <a:solidFill>
                  <a:srgbClr val="C9A227"/>
                </a:solidFill>
                <a:latin typeface="Helvetica Neue"/>
              </a:rPr>
              <a:t>▪  </a:t>
            </a:r>
            <a:r>
              <a:rPr sz="1300" b="1" i="0">
                <a:solidFill>
                  <a:srgbClr val="1A1D21"/>
                </a:solidFill>
                <a:latin typeface="Helvetica Neue"/>
              </a:rPr>
              <a:t>Schema comes from Flyway migrations, never from Hibernate.</a:t>
            </a:r>
            <a:r>
              <a:rPr sz="1300" b="0" i="0">
                <a:solidFill>
                  <a:srgbClr val="1A1D21"/>
                </a:solidFill>
                <a:latin typeface="Helvetica Neue"/>
              </a:rPr>
              <a:t> </a:t>
            </a:r>
            <a:r>
              <a:rPr sz="1300" b="0" i="0">
                <a:solidFill>
                  <a:srgbClr val="9C2C4E"/>
                </a:solidFill>
                <a:latin typeface="Menlo"/>
              </a:rPr>
              <a:t>ddl-auto</a:t>
            </a:r>
            <a:r>
              <a:rPr sz="1300" b="0" i="0">
                <a:solidFill>
                  <a:srgbClr val="1A1D21"/>
                </a:solidFill>
                <a:latin typeface="Helvetica Neue"/>
              </a:rPr>
              <a:t> stays at </a:t>
            </a:r>
            <a:r>
              <a:rPr sz="1300" b="0" i="0">
                <a:solidFill>
                  <a:srgbClr val="9C2C4E"/>
                </a:solidFill>
                <a:latin typeface="Menlo"/>
              </a:rPr>
              <a:t>validate</a:t>
            </a:r>
            <a:r>
              <a:rPr sz="1300" b="0" i="0">
                <a:solidFill>
                  <a:srgbClr val="1A1D21"/>
                </a:solidFill>
                <a:latin typeface="Helvetica Neue"/>
              </a:rPr>
              <a:t>, so booting the context is itself an assertion that migrations and entities agree.</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Inside the compose network every Postgres is on 5432.</a:t>
            </a:r>
            <a:r>
              <a:rPr sz="1300" b="0" i="0">
                <a:solidFill>
                  <a:srgbClr val="1A1D21"/>
                </a:solidFill>
                <a:latin typeface="Helvetica Neue"/>
              </a:rPr>
              <a:t> Only the </a:t>
            </a:r>
            <a:r>
              <a:rPr sz="1300" b="0" i="1">
                <a:solidFill>
                  <a:srgbClr val="1A1D21"/>
                </a:solidFill>
                <a:latin typeface="Helvetica Neue"/>
              </a:rPr>
              <a:t>host</a:t>
            </a:r>
            <a:r>
              <a:rPr sz="1300" b="0" i="0">
                <a:solidFill>
                  <a:srgbClr val="1A1D21"/>
                </a:solidFill>
                <a:latin typeface="Helvetica Neue"/>
              </a:rPr>
              <a:t> ports differ, so no service's connection string ever moved when they were renumbered.</a:t>
            </a:r>
          </a:p>
          <a:p>
            <a:pPr>
              <a:lnSpc>
                <a:spcPct val="106000"/>
              </a:lnSpc>
              <a:spcAft>
                <a:spcPts val="500"/>
              </a:spcAft>
            </a:pPr>
            <a:r>
              <a:rPr sz="1300">
                <a:solidFill>
                  <a:srgbClr val="C9A227"/>
                </a:solidFill>
                <a:latin typeface="Helvetica Neue"/>
              </a:rPr>
              <a:t>▪  </a:t>
            </a:r>
            <a:r>
              <a:rPr sz="1300" b="1" i="0">
                <a:solidFill>
                  <a:srgbClr val="9C2C4E"/>
                </a:solidFill>
                <a:latin typeface="Menlo"/>
              </a:rPr>
              <a:t>down -v</a:t>
            </a:r>
            <a:r>
              <a:rPr sz="1300" b="1" i="0">
                <a:solidFill>
                  <a:srgbClr val="1A1D21"/>
                </a:solidFill>
                <a:latin typeface="Helvetica Neue"/>
              </a:rPr>
              <a:t> deletes your data. Plain </a:t>
            </a:r>
            <a:r>
              <a:rPr sz="1300" b="1" i="0">
                <a:solidFill>
                  <a:srgbClr val="9C2C4E"/>
                </a:solidFill>
                <a:latin typeface="Menlo"/>
              </a:rPr>
              <a:t>down</a:t>
            </a:r>
            <a:r>
              <a:rPr sz="1300" b="1" i="0">
                <a:solidFill>
                  <a:srgbClr val="1A1D21"/>
                </a:solidFill>
                <a:latin typeface="Helvetica Neue"/>
              </a:rPr>
              <a:t> keeps the volumes.</a:t>
            </a:r>
          </a:p>
        </p:txBody>
      </p:sp>
      <p:sp>
        <p:nvSpPr>
          <p:cNvPr id="6" name="TextBox 5"/>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7" name="TextBox 6"/>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16   </a:t>
            </a:r>
            <a:r>
              <a:rPr sz="2200" b="1">
                <a:solidFill>
                  <a:srgbClr val="14304A"/>
                </a:solidFill>
                <a:latin typeface="Helvetica Neue"/>
              </a:rPr>
              <a:t>Datastores and who owns them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11057839" cy="772668"/>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133856"/>
            <a:ext cx="50292" cy="77266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234440"/>
            <a:ext cx="10710367" cy="571500"/>
          </a:xfrm>
          <a:prstGeom prst="rect">
            <a:avLst/>
          </a:prstGeom>
          <a:noFill/>
        </p:spPr>
        <p:txBody>
          <a:bodyPr wrap="square" lIns="0" rIns="0" tIns="0" bIns="0">
            <a:spAutoFit/>
          </a:bodyPr>
          <a:lstStyle/>
          <a:p>
            <a:pPr>
              <a:lnSpc>
                <a:spcPct val="106000"/>
              </a:lnSpc>
              <a:spcAft>
                <a:spcPts val="200"/>
              </a:spcAft>
            </a:pPr>
            <a:r>
              <a:rPr sz="1200" b="1" i="0">
                <a:solidFill>
                  <a:srgbClr val="5C4500"/>
                </a:solidFill>
                <a:latin typeface="Helvetica Neue"/>
              </a:rPr>
              <a:t>The two host ports that catch people out: 5437 and 5438.</a:t>
            </a:r>
            <a:r>
              <a:rPr sz="1200" b="0" i="0">
                <a:solidFill>
                  <a:srgbClr val="5C4500"/>
                </a:solidFill>
                <a:latin typeface="Helvetica Neue"/>
              </a:rPr>
              <a:t> 5437 belonged to disposition before P1 gained a database and took it; disposition moved to 5438. A branch that predates the move will quietly point P2.2 at P1's Postgres — and it will start, because the failure is semantic rather than a connection error.</a:t>
            </a:r>
          </a:p>
        </p:txBody>
      </p:sp>
      <p:sp>
        <p:nvSpPr>
          <p:cNvPr id="7" name="TextBox 6"/>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8" name="TextBox 7"/>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17   </a:t>
            </a:r>
            <a:r>
              <a:rPr sz="2200" b="1">
                <a:solidFill>
                  <a:srgbClr val="14304A"/>
                </a:solidFill>
                <a:latin typeface="Helvetica Neue"/>
              </a:rPr>
              <a:t>The frontend: designed around services being down</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4114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133856"/>
            <a:ext cx="10902391" cy="694944"/>
          </a:xfrm>
          <a:prstGeom prst="rect">
            <a:avLst/>
          </a:prstGeom>
          <a:noFill/>
        </p:spPr>
        <p:txBody>
          <a:bodyPr wrap="square" lIns="0" rIns="0" tIns="0" bIns="0">
            <a:spAutoFit/>
          </a:bodyPr>
          <a:lstStyle/>
          <a:p>
            <a:pPr>
              <a:lnSpc>
                <a:spcPct val="106000"/>
              </a:lnSpc>
              <a:spcAft>
                <a:spcPts val="200"/>
              </a:spcAft>
            </a:pPr>
            <a:r>
              <a:rPr sz="1450" b="1" i="0">
                <a:solidFill>
                  <a:srgbClr val="37506A"/>
                </a:solidFill>
                <a:latin typeface="Helvetica Neue"/>
              </a:rPr>
              <a:t>Angular on :4200, five pages, talking to seven ports. It works with any subset of the services running, including none.</a:t>
            </a:r>
          </a:p>
        </p:txBody>
      </p:sp>
      <p:graphicFrame>
        <p:nvGraphicFramePr>
          <p:cNvPr id="6" name="Table 5"/>
          <p:cNvGraphicFramePr>
            <a:graphicFrameLocks noGrp="1"/>
          </p:cNvGraphicFramePr>
          <p:nvPr/>
        </p:nvGraphicFramePr>
        <p:xfrm>
          <a:off x="566928" y="1920240"/>
          <a:ext cx="11057837" cy="1668780"/>
        </p:xfrm>
        <a:graphic>
          <a:graphicData uri="http://schemas.openxmlformats.org/drawingml/2006/table">
            <a:tbl>
              <a:tblPr firstRow="1">
                <a:tableStyleId>{5C22544A-7EE6-4342-B048-85BDC9FD1C3A}</a:tableStyleId>
              </a:tblPr>
              <a:tblGrid>
                <a:gridCol w="3219370"/>
                <a:gridCol w="1819644"/>
                <a:gridCol w="6018823"/>
              </a:tblGrid>
              <a:tr h="274320">
                <a:tc>
                  <a:txBody>
                    <a:bodyPr wrap="square"/>
                    <a:lstStyle/>
                    <a:p>
                      <a:pPr algn="l">
                        <a:lnSpc>
                          <a:spcPct val="104000"/>
                        </a:lnSpc>
                      </a:pPr>
                      <a:r>
                        <a:rPr sz="1050" b="1" i="0">
                          <a:solidFill>
                            <a:srgbClr val="FFFFFF"/>
                          </a:solidFill>
                          <a:latin typeface="Helvetica Neue"/>
                        </a:rPr>
                        <a:t>Page</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Route</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Reads</a:t>
                      </a:r>
                    </a:p>
                  </a:txBody>
                  <a:tcPr marL="64008" marR="64008" marT="32004" marB="32004" anchor="t">
                    <a:solidFill>
                      <a:srgbClr val="1F4E79"/>
                    </a:solidFill>
                  </a:tcPr>
                </a:tc>
              </a:tr>
              <a:tr h="278892">
                <a:tc>
                  <a:txBody>
                    <a:bodyPr wrap="square"/>
                    <a:lstStyle/>
                    <a:p>
                      <a:pPr algn="l">
                        <a:lnSpc>
                          <a:spcPct val="104000"/>
                        </a:lnSpc>
                      </a:pPr>
                      <a:r>
                        <a:rPr sz="1050" b="0" i="0">
                          <a:solidFill>
                            <a:srgbClr val="1A1D21"/>
                          </a:solidFill>
                          <a:latin typeface="Helvetica Neue"/>
                        </a:rPr>
                        <a:t>Dashboard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/home</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All of them, for counts and recent activity</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Search</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/search</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P3 :8083</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Cases &amp; Legal Hold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/cases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P4 case :8084, P4 hold :8086, P2.2 :8087</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Retention &amp; Disposition</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/retention</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P2.2 :8087, P2 :8082</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Exports &amp; Audit</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/export-audit</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P5 :8085, P4 case :8084</a:t>
                      </a:r>
                    </a:p>
                  </a:txBody>
                  <a:tcPr marL="64008" marR="64008" marT="32004" marB="32004" anchor="t">
                    <a:solidFill>
                      <a:srgbClr val="FFFFFF"/>
                    </a:solidFill>
                  </a:tcPr>
                </a:tc>
              </a:tr>
            </a:tbl>
          </a:graphicData>
        </a:graphic>
      </p:graphicFrame>
      <p:sp>
        <p:nvSpPr>
          <p:cNvPr id="7" name="TextBox 6"/>
          <p:cNvSpPr txBox="1"/>
          <p:nvPr/>
        </p:nvSpPr>
        <p:spPr>
          <a:xfrm>
            <a:off x="566928" y="3863339"/>
            <a:ext cx="11057839" cy="2061972"/>
          </a:xfrm>
          <a:prstGeom prst="rect">
            <a:avLst/>
          </a:prstGeom>
          <a:noFill/>
        </p:spPr>
        <p:txBody>
          <a:bodyPr wrap="square" lIns="0" rIns="0" tIns="0" bIns="0">
            <a:spAutoFit/>
          </a:bodyPr>
          <a:lstStyle/>
          <a:p>
            <a:pPr>
              <a:lnSpc>
                <a:spcPct val="106000"/>
              </a:lnSpc>
              <a:spcAft>
                <a:spcPts val="500"/>
              </a:spcAft>
            </a:pPr>
            <a:r>
              <a:rPr sz="1300">
                <a:solidFill>
                  <a:srgbClr val="C9A227"/>
                </a:solidFill>
                <a:latin typeface="Helvetica Neue"/>
              </a:rPr>
              <a:t>▪  </a:t>
            </a:r>
            <a:r>
              <a:rPr sz="1300" b="1" i="0">
                <a:solidFill>
                  <a:srgbClr val="1A1D21"/>
                </a:solidFill>
                <a:latin typeface="Helvetica Neue"/>
              </a:rPr>
              <a:t>One request per panel, and the panel owns its failure.</a:t>
            </a:r>
            <a:r>
              <a:rPr sz="1300" b="0" i="0">
                <a:solidFill>
                  <a:srgbClr val="1A1D21"/>
                </a:solidFill>
                <a:latin typeface="Helvetica Neue"/>
              </a:rPr>
              <a:t> Every region is an </a:t>
            </a:r>
            <a:r>
              <a:rPr sz="1300" b="0" i="0">
                <a:solidFill>
                  <a:srgbClr val="9C2C4E"/>
                </a:solidFill>
                <a:latin typeface="Menlo"/>
              </a:rPr>
              <a:t>&lt;app-panel&gt;</a:t>
            </a:r>
            <a:r>
              <a:rPr sz="1300" b="0" i="0">
                <a:solidFill>
                  <a:srgbClr val="1A1D21"/>
                </a:solidFill>
                <a:latin typeface="Helvetica Neue"/>
              </a:rPr>
              <a:t> wrapping one </a:t>
            </a:r>
            <a:r>
              <a:rPr sz="1300" b="0" i="0">
                <a:solidFill>
                  <a:srgbClr val="9C2C4E"/>
                </a:solidFill>
                <a:latin typeface="Menlo"/>
              </a:rPr>
              <a:t>httpResource</a:t>
            </a:r>
            <a:r>
              <a:rPr sz="1300" b="0" i="0">
                <a:solidFill>
                  <a:srgbClr val="1A1D21"/>
                </a:solidFill>
                <a:latin typeface="Helvetica Neue"/>
              </a:rPr>
              <a:t>, rendering its own loading, error and retry. Six panels against three services means five working and one explaining itself. No global error handler, no toast.</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No route resolvers.</a:t>
            </a:r>
            <a:r>
              <a:rPr sz="1300" b="0" i="0">
                <a:solidFill>
                  <a:srgbClr val="1A1D21"/>
                </a:solidFill>
                <a:latin typeface="Helvetica Neue"/>
              </a:rPr>
              <a:t> A resolver fetches before activating a route, so one slow service would hold up a page whose other panels are fine.</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Everything has a deadline.</a:t>
            </a:r>
            <a:r>
              <a:rPr sz="1300" b="0" i="0">
                <a:solidFill>
                  <a:srgbClr val="1A1D21"/>
                </a:solidFill>
                <a:latin typeface="Helvetica Neue"/>
              </a:rPr>
              <a:t> 8 seconds by default, 3 for search, 30 for package verification because it re-hashes a zip. A service that is </a:t>
            </a:r>
            <a:r>
              <a:rPr sz="1300" b="0" i="1">
                <a:solidFill>
                  <a:srgbClr val="1A1D21"/>
                </a:solidFill>
                <a:latin typeface="Helvetica Neue"/>
              </a:rPr>
              <a:t>down</a:t>
            </a:r>
            <a:r>
              <a:rPr sz="1300" b="0" i="0">
                <a:solidFill>
                  <a:srgbClr val="1A1D21"/>
                </a:solidFill>
                <a:latin typeface="Helvetica Neue"/>
              </a:rPr>
              <a:t> fails in milliseconds; one that is </a:t>
            </a:r>
            <a:r>
              <a:rPr sz="1300" b="0" i="1">
                <a:solidFill>
                  <a:srgbClr val="1A1D21"/>
                </a:solidFill>
                <a:latin typeface="Helvetica Neue"/>
              </a:rPr>
              <a:t>wedged</a:t>
            </a:r>
            <a:r>
              <a:rPr sz="1300" b="0" i="0">
                <a:solidFill>
                  <a:srgbClr val="1A1D21"/>
                </a:solidFill>
                <a:latin typeface="Helvetica Neue"/>
              </a:rPr>
              <a:t> holds a spinner forever.</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Live progress degrades to polling.</a:t>
            </a:r>
            <a:r>
              <a:rPr sz="1300" b="0" i="0">
                <a:solidFill>
                  <a:srgbClr val="1A1D21"/>
                </a:solidFill>
                <a:latin typeface="Helvetica Neue"/>
              </a:rPr>
              <a:t> A sweep's SSE stream that fails before delivering anything falls back to </a:t>
            </a:r>
            <a:r>
              <a:rPr sz="1300" b="0" i="0">
                <a:solidFill>
                  <a:srgbClr val="9C2C4E"/>
                </a:solidFill>
                <a:latin typeface="Menlo"/>
              </a:rPr>
              <a:t>/disposition/runs/progress</a:t>
            </a:r>
            <a:r>
              <a:rPr sz="1300" b="0" i="0">
                <a:solidFill>
                  <a:srgbClr val="1A1D21"/>
                </a:solidFill>
                <a:latin typeface="Helvetica Neue"/>
              </a:rPr>
              <a:t>, so a buffering proxy costs latency rather than the progress bar.</a:t>
            </a:r>
          </a:p>
        </p:txBody>
      </p:sp>
      <p:sp>
        <p:nvSpPr>
          <p:cNvPr id="8" name="TextBox 7"/>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9" name="TextBox 8"/>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17   </a:t>
            </a:r>
            <a:r>
              <a:rPr sz="2200" b="1">
                <a:solidFill>
                  <a:srgbClr val="14304A"/>
                </a:solidFill>
                <a:latin typeface="Helvetica Neue"/>
              </a:rPr>
              <a:t>The frontend: designed around services being down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11057839" cy="969264"/>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133856"/>
            <a:ext cx="50292" cy="9692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234440"/>
            <a:ext cx="10710367" cy="768096"/>
          </a:xfrm>
          <a:prstGeom prst="rect">
            <a:avLst/>
          </a:prstGeom>
          <a:noFill/>
        </p:spPr>
        <p:txBody>
          <a:bodyPr wrap="square" lIns="0" rIns="0" tIns="0" bIns="0">
            <a:spAutoFit/>
          </a:bodyPr>
          <a:lstStyle/>
          <a:p>
            <a:pPr>
              <a:lnSpc>
                <a:spcPct val="106000"/>
              </a:lnSpc>
              <a:spcAft>
                <a:spcPts val="200"/>
              </a:spcAft>
            </a:pPr>
            <a:r>
              <a:rPr sz="1200" b="1" i="0">
                <a:solidFill>
                  <a:srgbClr val="5C4500"/>
                </a:solidFill>
                <a:latin typeface="Helvetica Neue"/>
              </a:rPr>
              <a:t>'Empty' and 'could not ask' are never the same thing.</a:t>
            </a:r>
            <a:r>
              <a:rPr sz="1200" b="0" i="0">
                <a:solidFill>
                  <a:srgbClr val="5C4500"/>
                </a:solidFill>
                <a:latin typeface="Helvetica Neue"/>
              </a:rPr>
              <a:t> This is a correctness property, not a UX one. Upstream, an unreachable hold-service means </a:t>
            </a:r>
            <a:r>
              <a:rPr sz="1200" b="0" i="1">
                <a:solidFill>
                  <a:srgbClr val="5C4500"/>
                </a:solidFill>
                <a:latin typeface="Helvetica Neue"/>
              </a:rPr>
              <a:t>held</a:t>
            </a:r>
            <a:r>
              <a:rPr sz="1200" b="0" i="0">
                <a:solidFill>
                  <a:srgbClr val="5C4500"/>
                </a:solidFill>
                <a:latin typeface="Helvetica Neue"/>
              </a:rPr>
              <a:t> — both P2 and P2.2 fail closed. So a hold panel rendering a failed request as 'no holds are in force' would state the exact inverse of what the system is acting on. </a:t>
            </a:r>
            <a:r>
              <a:rPr sz="1200" b="0" i="0">
                <a:solidFill>
                  <a:srgbClr val="9C2C4E"/>
                </a:solidFill>
                <a:latin typeface="Menlo"/>
              </a:rPr>
              <a:t>failure.ts</a:t>
            </a:r>
            <a:r>
              <a:rPr sz="1200" b="0" i="0">
                <a:solidFill>
                  <a:srgbClr val="5C4500"/>
                </a:solidFill>
                <a:latin typeface="Helvetica Neue"/>
              </a:rPr>
              <a:t> classifies a refused connection as </a:t>
            </a:r>
            <a:r>
              <a:rPr sz="1200" b="0" i="1">
                <a:solidFill>
                  <a:srgbClr val="5C4500"/>
                </a:solidFill>
                <a:latin typeface="Helvetica Neue"/>
              </a:rPr>
              <a:t>unreachable</a:t>
            </a:r>
            <a:r>
              <a:rPr sz="1200" b="0" i="0">
                <a:solidFill>
                  <a:srgbClr val="5C4500"/>
                </a:solidFill>
                <a:latin typeface="Helvetica Neue"/>
              </a:rPr>
              <a:t> and names the service and port.</a:t>
            </a:r>
          </a:p>
        </p:txBody>
      </p:sp>
      <p:sp>
        <p:nvSpPr>
          <p:cNvPr id="7" name="Rectangle 6"/>
          <p:cNvSpPr/>
          <p:nvPr/>
        </p:nvSpPr>
        <p:spPr>
          <a:xfrm>
            <a:off x="566928" y="2267712"/>
            <a:ext cx="11057839" cy="969264"/>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2267712"/>
            <a:ext cx="50292" cy="9692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368296"/>
            <a:ext cx="10710367" cy="768096"/>
          </a:xfrm>
          <a:prstGeom prst="rect">
            <a:avLst/>
          </a:prstGeom>
          <a:noFill/>
        </p:spPr>
        <p:txBody>
          <a:bodyPr wrap="square" lIns="0" rIns="0" tIns="0" bIns="0">
            <a:spAutoFit/>
          </a:bodyPr>
          <a:lstStyle/>
          <a:p>
            <a:pPr>
              <a:lnSpc>
                <a:spcPct val="106000"/>
              </a:lnSpc>
              <a:spcAft>
                <a:spcPts val="200"/>
              </a:spcAft>
            </a:pPr>
            <a:r>
              <a:rPr sz="1200" b="1" i="0">
                <a:solidFill>
                  <a:srgbClr val="9C2C4E"/>
                </a:solidFill>
                <a:latin typeface="Menlo"/>
              </a:rPr>
              <a:t>Resource.value()</a:t>
            </a:r>
            <a:r>
              <a:rPr sz="1200" b="1" i="0">
                <a:solidFill>
                  <a:srgbClr val="5C4500"/>
                </a:solidFill>
                <a:latin typeface="Helvetica Neue"/>
              </a:rPr>
              <a:t> throws in the error state, and </a:t>
            </a:r>
            <a:r>
              <a:rPr sz="1200" b="1" i="0">
                <a:solidFill>
                  <a:srgbClr val="9C2C4E"/>
                </a:solidFill>
                <a:latin typeface="Menlo"/>
              </a:rPr>
              <a:t>defaultValue</a:t>
            </a:r>
            <a:r>
              <a:rPr sz="1200" b="1" i="0">
                <a:solidFill>
                  <a:srgbClr val="5C4500"/>
                </a:solidFill>
                <a:latin typeface="Helvetica Neue"/>
              </a:rPr>
              <a:t> does not cover it</a:t>
            </a:r>
            <a:r>
              <a:rPr sz="1200" b="0" i="0">
                <a:solidFill>
                  <a:srgbClr val="5C4500"/>
                </a:solidFill>
                <a:latin typeface="Helvetica Neue"/>
              </a:rPr>
              <a:t> — it only covers idle and loading. Angular instantiates projected content eagerly, so a panel's table is evaluated while the panel is showing a failure, and the throw blanks the whole page. Every list goes through </a:t>
            </a:r>
            <a:r>
              <a:rPr sz="1200" b="0" i="0">
                <a:solidFill>
                  <a:srgbClr val="9C2C4E"/>
                </a:solidFill>
                <a:latin typeface="Menlo"/>
              </a:rPr>
              <a:t>valueOr()</a:t>
            </a:r>
            <a:r>
              <a:rPr sz="1200" b="0" i="0">
                <a:solidFill>
                  <a:srgbClr val="5C4500"/>
                </a:solidFill>
                <a:latin typeface="Helvetica Neue"/>
              </a:rPr>
              <a:t>, and </a:t>
            </a:r>
            <a:r>
              <a:rPr sz="1200" b="0" i="0">
                <a:solidFill>
                  <a:srgbClr val="9C2C4E"/>
                </a:solidFill>
                <a:latin typeface="Menlo"/>
              </a:rPr>
              <a:t>pages.spec.ts</a:t>
            </a:r>
            <a:r>
              <a:rPr sz="1200" b="0" i="0">
                <a:solidFill>
                  <a:srgbClr val="5C4500"/>
                </a:solidFill>
                <a:latin typeface="Helvetica Neue"/>
              </a:rPr>
              <a:t> mounts every page with every service down to keep it that way. This has been introduced three times.</a:t>
            </a:r>
          </a:p>
        </p:txBody>
      </p:sp>
      <p:sp>
        <p:nvSpPr>
          <p:cNvPr id="10" name="TextBox 9"/>
          <p:cNvSpPr txBox="1"/>
          <p:nvPr/>
        </p:nvSpPr>
        <p:spPr>
          <a:xfrm>
            <a:off x="566928" y="3401568"/>
            <a:ext cx="11057839" cy="896112"/>
          </a:xfrm>
          <a:prstGeom prst="rect">
            <a:avLst/>
          </a:prstGeom>
          <a:noFill/>
        </p:spPr>
        <p:txBody>
          <a:bodyPr wrap="square" lIns="0" rIns="0" tIns="0" bIns="0">
            <a:spAutoFit/>
          </a:bodyPr>
          <a:lstStyle/>
          <a:p>
            <a:pPr>
              <a:lnSpc>
                <a:spcPct val="106000"/>
              </a:lnSpc>
              <a:spcAft>
                <a:spcPts val="200"/>
              </a:spcAft>
            </a:pPr>
            <a:r>
              <a:rPr sz="1300" b="1" i="0">
                <a:solidFill>
                  <a:srgbClr val="1A1D21"/>
                </a:solidFill>
                <a:latin typeface="Helvetica Neue"/>
              </a:rPr>
              <a:t>CORS is two settings, not one.</a:t>
            </a:r>
            <a:r>
              <a:rPr sz="1300" b="0" i="0">
                <a:solidFill>
                  <a:srgbClr val="1A1D21"/>
                </a:solidFill>
                <a:latin typeface="Helvetica Neue"/>
              </a:rPr>
              <a:t> Every service allows any loopback port in its own </a:t>
            </a:r>
            <a:r>
              <a:rPr sz="1300" b="0" i="0">
                <a:solidFill>
                  <a:srgbClr val="9C2C4E"/>
                </a:solidFill>
                <a:latin typeface="Menlo"/>
              </a:rPr>
              <a:t>CorsConfig</a:t>
            </a:r>
            <a:r>
              <a:rPr sz="1300" b="0" i="0">
                <a:solidFill>
                  <a:srgbClr val="1A1D21"/>
                </a:solidFill>
                <a:latin typeface="Helvetica Neue"/>
              </a:rPr>
              <a:t> — do not pin 4200, because an IDE preview pane and </a:t>
            </a:r>
            <a:r>
              <a:rPr sz="1300" b="0" i="0">
                <a:solidFill>
                  <a:srgbClr val="9C2C4E"/>
                </a:solidFill>
                <a:latin typeface="Menlo"/>
              </a:rPr>
              <a:t>ng serve --port 4201</a:t>
            </a:r>
            <a:r>
              <a:rPr sz="1300" b="0" i="0">
                <a:solidFill>
                  <a:srgbClr val="1A1D21"/>
                </a:solidFill>
                <a:latin typeface="Helvetica Neue"/>
              </a:rPr>
              <a:t> are different origins. Actuator endpoints use a </a:t>
            </a:r>
            <a:r>
              <a:rPr sz="1300" b="0" i="1">
                <a:solidFill>
                  <a:srgbClr val="1A1D21"/>
                </a:solidFill>
                <a:latin typeface="Helvetica Neue"/>
              </a:rPr>
              <a:t>separate handler mapping</a:t>
            </a:r>
            <a:r>
              <a:rPr sz="1300" b="0" i="0">
                <a:solidFill>
                  <a:srgbClr val="1A1D21"/>
                </a:solidFill>
                <a:latin typeface="Helvetica Neue"/>
              </a:rPr>
              <a:t> that ignores </a:t>
            </a:r>
            <a:r>
              <a:rPr sz="1300" b="0" i="0">
                <a:solidFill>
                  <a:srgbClr val="9C2C4E"/>
                </a:solidFill>
                <a:latin typeface="Menlo"/>
              </a:rPr>
              <a:t>addCorsMappings</a:t>
            </a:r>
            <a:r>
              <a:rPr sz="1300" b="0" i="0">
                <a:solidFill>
                  <a:srgbClr val="1A1D21"/>
                </a:solidFill>
                <a:latin typeface="Helvetica Neue"/>
              </a:rPr>
              <a:t>, so </a:t>
            </a:r>
            <a:r>
              <a:rPr sz="1300" b="0" i="0">
                <a:solidFill>
                  <a:srgbClr val="9C2C4E"/>
                </a:solidFill>
                <a:latin typeface="Menlo"/>
              </a:rPr>
              <a:t>management.endpoints.web.cors</a:t>
            </a:r>
            <a:r>
              <a:rPr sz="1300" b="0" i="0">
                <a:solidFill>
                  <a:srgbClr val="1A1D21"/>
                </a:solidFill>
                <a:latin typeface="Helvetica Neue"/>
              </a:rPr>
              <a:t> is set in every </a:t>
            </a:r>
            <a:r>
              <a:rPr sz="1300" b="0" i="0">
                <a:solidFill>
                  <a:srgbClr val="9C2C4E"/>
                </a:solidFill>
                <a:latin typeface="Menlo"/>
              </a:rPr>
              <a:t>application.yml</a:t>
            </a:r>
            <a:r>
              <a:rPr sz="1300" b="0" i="0">
                <a:solidFill>
                  <a:srgbClr val="1A1D21"/>
                </a:solidFill>
                <a:latin typeface="Helvetica Neue"/>
              </a:rPr>
              <a:t> too. Miss that one and the status strip shows every service DOWN while every panel loads fine.</a:t>
            </a:r>
          </a:p>
        </p:txBody>
      </p:sp>
      <p:sp>
        <p:nvSpPr>
          <p:cNvPr id="11" name="TextBox 10"/>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12" name="TextBox 11"/>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18   </a:t>
            </a:r>
            <a:r>
              <a:rPr sz="2200" b="1">
                <a:solidFill>
                  <a:srgbClr val="14304A"/>
                </a:solidFill>
                <a:latin typeface="Helvetica Neue"/>
              </a:rPr>
              <a:t>The corpus, and the traps it plants on purpose</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502920"/>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There is no real communications source, so the corpus is generated — deterministically, and seeded with cases that make specific bugs visible instead of silent.</a:t>
            </a:r>
          </a:p>
        </p:txBody>
      </p:sp>
      <p:graphicFrame>
        <p:nvGraphicFramePr>
          <p:cNvPr id="5" name="Table 4"/>
          <p:cNvGraphicFramePr>
            <a:graphicFrameLocks noGrp="1"/>
          </p:cNvGraphicFramePr>
          <p:nvPr/>
        </p:nvGraphicFramePr>
        <p:xfrm>
          <a:off x="566928" y="1728216"/>
          <a:ext cx="11057837" cy="2029967"/>
        </p:xfrm>
        <a:graphic>
          <a:graphicData uri="http://schemas.openxmlformats.org/drawingml/2006/table">
            <a:tbl>
              <a:tblPr firstRow="1">
                <a:tableStyleId>{5C22544A-7EE6-4342-B048-85BDC9FD1C3A}</a:tableStyleId>
              </a:tblPr>
              <a:tblGrid>
                <a:gridCol w="477807"/>
                <a:gridCol w="5255886"/>
                <a:gridCol w="5324144"/>
              </a:tblGrid>
              <a:tr h="274320">
                <a:tc>
                  <a:txBody>
                    <a:bodyPr wrap="square"/>
                    <a:lstStyle/>
                    <a:p>
                      <a:pPr algn="l">
                        <a:lnSpc>
                          <a:spcPct val="104000"/>
                        </a:lnSpc>
                      </a:pPr>
                      <a:r>
                        <a:rPr sz="1050" b="1" i="0">
                          <a:solidFill>
                            <a:srgbClr val="FFFFFF"/>
                          </a:solidFill>
                          <a:latin typeface="Helvetica Neue"/>
                        </a:rPr>
                        <a:t>#</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Planted case</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The bug it exposes</a:t>
                      </a:r>
                    </a:p>
                  </a:txBody>
                  <a:tcPr marL="64008" marR="64008" marT="32004" marB="32004" anchor="t">
                    <a:solidFill>
                      <a:srgbClr val="1F4E79"/>
                    </a:solidFill>
                  </a:tcPr>
                </a:tc>
              </a:tr>
              <a:tr h="438912">
                <a:tc>
                  <a:txBody>
                    <a:bodyPr wrap="square"/>
                    <a:lstStyle/>
                    <a:p>
                      <a:pPr algn="l">
                        <a:lnSpc>
                          <a:spcPct val="104000"/>
                        </a:lnSpc>
                      </a:pPr>
                      <a:r>
                        <a:rPr sz="1050" b="0" i="0">
                          <a:solidFill>
                            <a:srgbClr val="1A1D21"/>
                          </a:solidFill>
                          <a:latin typeface="Helvetica Neue"/>
                        </a:rPr>
                        <a:t>1</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25 deliberate re-sends at the end of the file</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A load that stores 12,025 has broken dedupe. Posting the file twice must still leave 12,000</a:t>
                      </a:r>
                    </a:p>
                  </a:txBody>
                  <a:tcPr marL="64008" marR="64008" marT="32004" marB="32004" anchor="t">
                    <a:solidFill>
                      <a:srgbClr val="FFFFFF"/>
                    </a:solidFill>
                  </a:tcPr>
                </a:tc>
              </a:tr>
              <a:tr h="598931">
                <a:tc>
                  <a:txBody>
                    <a:bodyPr wrap="square"/>
                    <a:lstStyle/>
                    <a:p>
                      <a:pPr algn="l">
                        <a:lnSpc>
                          <a:spcPct val="104000"/>
                        </a:lnSpc>
                      </a:pPr>
                      <a:r>
                        <a:rPr sz="1050" b="0" i="0">
                          <a:solidFill>
                            <a:srgbClr val="1A1D21"/>
                          </a:solidFill>
                          <a:latin typeface="Helvetica Neue"/>
                        </a:rPr>
                        <a:t>2</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The same conversation captured from </a:t>
                      </a:r>
                      <a:r>
                        <a:rPr sz="1050" b="1" i="0">
                          <a:solidFill>
                            <a:srgbClr val="1A1D21"/>
                          </a:solidFill>
                          <a:latin typeface="Helvetica Neue"/>
                        </a:rPr>
                        <a:t>two mailboxes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Any dedupe keyed on body hash, or on from+subject+sentAt, collapses them and destroys evidence. Planted on the smoking-gun message so the demo breaks loudly</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3</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A PRIVILEGED-labelled thread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Gives the search filter something real to exclude</a:t>
                      </a:r>
                    </a:p>
                  </a:txBody>
                  <a:tcPr marL="64008" marR="64008" marT="32004" marB="32004" anchor="t">
                    <a:solidFill>
                      <a:srgbClr val="FFFFFF"/>
                    </a:solidFill>
                  </a:tcPr>
                </a:tc>
              </a:tr>
              <a:tr h="438912">
                <a:tc>
                  <a:txBody>
                    <a:bodyPr wrap="square"/>
                    <a:lstStyle/>
                    <a:p>
                      <a:pPr algn="l">
                        <a:lnSpc>
                          <a:spcPct val="104000"/>
                        </a:lnSpc>
                      </a:pPr>
                      <a:r>
                        <a:rPr sz="1050" b="0" i="0">
                          <a:solidFill>
                            <a:srgbClr val="1A1D21"/>
                          </a:solidFill>
                          <a:latin typeface="Helvetica Neue"/>
                        </a:rPr>
                        <a:t>4</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2,115 messages past the 7-year default, under custodians who later go on hold</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Gives disposition something to delete and the hold guard something to refuse</a:t>
                      </a:r>
                    </a:p>
                  </a:txBody>
                  <a:tcPr marL="64008" marR="64008" marT="32004" marB="32004" anchor="t">
                    <a:solidFill>
                      <a:srgbClr val="F4F7FA"/>
                    </a:solidFill>
                  </a:tcPr>
                </a:tc>
              </a:tr>
            </a:tbl>
          </a:graphicData>
        </a:graphic>
      </p:graphicFrame>
      <p:sp>
        <p:nvSpPr>
          <p:cNvPr id="6" name="TextBox 5"/>
          <p:cNvSpPr txBox="1"/>
          <p:nvPr/>
        </p:nvSpPr>
        <p:spPr>
          <a:xfrm>
            <a:off x="566928" y="4032504"/>
            <a:ext cx="11057839" cy="699516"/>
          </a:xfrm>
          <a:prstGeom prst="rect">
            <a:avLst/>
          </a:prstGeom>
          <a:noFill/>
        </p:spPr>
        <p:txBody>
          <a:bodyPr wrap="square" lIns="0" rIns="0" tIns="0" bIns="0">
            <a:spAutoFit/>
          </a:bodyPr>
          <a:lstStyle/>
          <a:p>
            <a:pPr>
              <a:lnSpc>
                <a:spcPct val="106000"/>
              </a:lnSpc>
              <a:spcAft>
                <a:spcPts val="200"/>
              </a:spcAft>
            </a:pPr>
            <a:r>
              <a:rPr sz="1300" b="1" i="0">
                <a:solidFill>
                  <a:srgbClr val="1A1D21"/>
                </a:solidFill>
                <a:latin typeface="Helvetica Neue"/>
              </a:rPr>
              <a:t>Project Halyard</a:t>
            </a:r>
            <a:r>
              <a:rPr sz="1300" b="0" i="0">
                <a:solidFill>
                  <a:srgbClr val="1A1D21"/>
                </a:solidFill>
                <a:latin typeface="Helvetica Neue"/>
              </a:rPr>
              <a:t> — the demo narrative, planted across 7 threads in 2024. Meridian Dynamics bids for the Northgate transit contract, obtains the incumbent's indicative figures through a recent hire, prices just underneath, wins, and is then asked to 'do some housekeeping' on the evidence. Legal is looped in late, and that exchange is privileged.</a:t>
            </a:r>
          </a:p>
        </p:txBody>
      </p:sp>
      <p:sp>
        <p:nvSpPr>
          <p:cNvPr id="7" name="TextBox 6"/>
          <p:cNvSpPr txBox="1"/>
          <p:nvPr/>
        </p:nvSpPr>
        <p:spPr>
          <a:xfrm>
            <a:off x="566928" y="4823460"/>
            <a:ext cx="11057839" cy="1275588"/>
          </a:xfrm>
          <a:prstGeom prst="rect">
            <a:avLst/>
          </a:prstGeom>
          <a:noFill/>
        </p:spPr>
        <p:txBody>
          <a:bodyPr wrap="square" lIns="0" rIns="0" tIns="0" bIns="0">
            <a:spAutoFit/>
          </a:bodyPr>
          <a:lstStyle/>
          <a:p>
            <a:pPr>
              <a:lnSpc>
                <a:spcPct val="106000"/>
              </a:lnSpc>
              <a:spcAft>
                <a:spcPts val="500"/>
              </a:spcAft>
            </a:pPr>
            <a:r>
              <a:rPr sz="1300">
                <a:solidFill>
                  <a:srgbClr val="C9A227"/>
                </a:solidFill>
                <a:latin typeface="Helvetica Neue"/>
              </a:rPr>
              <a:t>▪  </a:t>
            </a:r>
            <a:r>
              <a:rPr sz="1300" b="0" i="0">
                <a:solidFill>
                  <a:srgbClr val="1A1D21"/>
                </a:solidFill>
                <a:latin typeface="Helvetica Neue"/>
              </a:rPr>
              <a:t>Principals: Dana Whitfield (cust-001), Marcus Ellery (cust-002), Priya Raghunathan (cust-003), Owen Castellanos (cust-004), Renee Toussaint (cust-005).</a:t>
            </a:r>
          </a:p>
          <a:p>
            <a:pPr>
              <a:lnSpc>
                <a:spcPct val="106000"/>
              </a:lnSpc>
              <a:spcAft>
                <a:spcPts val="500"/>
              </a:spcAft>
            </a:pPr>
            <a:r>
              <a:rPr sz="1300">
                <a:solidFill>
                  <a:srgbClr val="C9A227"/>
                </a:solidFill>
                <a:latin typeface="Helvetica Neue"/>
              </a:rPr>
              <a:t>▪  </a:t>
            </a:r>
            <a:r>
              <a:rPr sz="1300" b="0" i="0">
                <a:solidFill>
                  <a:srgbClr val="1A1D21"/>
                </a:solidFill>
                <a:latin typeface="Helvetica Neue"/>
              </a:rPr>
              <a:t>Searching </a:t>
            </a:r>
            <a:r>
              <a:rPr sz="1300" b="0" i="0">
                <a:solidFill>
                  <a:srgbClr val="9C2C4E"/>
                </a:solidFill>
                <a:latin typeface="Menlo"/>
              </a:rPr>
              <a:t>Halyard</a:t>
            </a:r>
            <a:r>
              <a:rPr sz="1300" b="0" i="0">
                <a:solidFill>
                  <a:srgbClr val="1A1D21"/>
                </a:solidFill>
                <a:latin typeface="Helvetica Neue"/>
              </a:rPr>
              <a:t> surfaces the spine of it — 8 mentions.</a:t>
            </a:r>
          </a:p>
          <a:p>
            <a:pPr>
              <a:lnSpc>
                <a:spcPct val="106000"/>
              </a:lnSpc>
              <a:spcAft>
                <a:spcPts val="500"/>
              </a:spcAft>
            </a:pPr>
            <a:r>
              <a:rPr sz="1300">
                <a:solidFill>
                  <a:srgbClr val="C9A227"/>
                </a:solidFill>
                <a:latin typeface="Helvetica Neue"/>
              </a:rPr>
              <a:t>▪  </a:t>
            </a:r>
            <a:r>
              <a:rPr sz="1300" b="0" i="0">
                <a:solidFill>
                  <a:srgbClr val="1A1D21"/>
                </a:solidFill>
                <a:latin typeface="Helvetica Neue"/>
              </a:rPr>
              <a:t>The centrepiece for export and checksum verification is </a:t>
            </a:r>
            <a:r>
              <a:rPr sz="1300" b="0" i="0">
                <a:solidFill>
                  <a:srgbClr val="9C2C4E"/>
                </a:solidFill>
                <a:latin typeface="Menlo"/>
              </a:rPr>
              <a:t>bridgeline-indicative-figures.csv</a:t>
            </a:r>
            <a:r>
              <a:rPr sz="1300" b="0" i="0">
                <a:solidFill>
                  <a:srgbClr val="1A1D21"/>
                </a:solidFill>
                <a:latin typeface="Helvetica Neue"/>
              </a:rPr>
              <a:t>.</a:t>
            </a:r>
          </a:p>
          <a:p>
            <a:pPr>
              <a:lnSpc>
                <a:spcPct val="106000"/>
              </a:lnSpc>
              <a:spcAft>
                <a:spcPts val="500"/>
              </a:spcAft>
            </a:pPr>
            <a:r>
              <a:rPr sz="1300">
                <a:solidFill>
                  <a:srgbClr val="C9A227"/>
                </a:solidFill>
                <a:latin typeface="Helvetica Neue"/>
              </a:rPr>
              <a:t>▪  </a:t>
            </a:r>
            <a:r>
              <a:rPr sz="1300" b="0" i="0">
                <a:solidFill>
                  <a:srgbClr val="1A1D21"/>
                </a:solidFill>
                <a:latin typeface="Helvetica Neue"/>
              </a:rPr>
              <a:t>The smoking gun — subject </a:t>
            </a:r>
            <a:r>
              <a:rPr sz="1300" b="0" i="0">
                <a:solidFill>
                  <a:srgbClr val="9C2C4E"/>
                </a:solidFill>
                <a:latin typeface="Menlo"/>
              </a:rPr>
              <a:t>Housekeeping</a:t>
            </a:r>
            <a:r>
              <a:rPr sz="1300" b="0" i="0">
                <a:solidFill>
                  <a:srgbClr val="1A1D21"/>
                </a:solidFill>
                <a:latin typeface="Helvetica Neue"/>
              </a:rPr>
              <a:t>, 11 May 2024 21:37 UTC — was sent at the weekend and </a:t>
            </a:r>
            <a:r>
              <a:rPr sz="1300" b="1" i="0">
                <a:solidFill>
                  <a:srgbClr val="1A1D21"/>
                </a:solidFill>
                <a:latin typeface="Helvetica Neue"/>
              </a:rPr>
              <a:t>exists in two mailboxes</a:t>
            </a:r>
            <a:r>
              <a:rPr sz="1300" b="0" i="0">
                <a:solidFill>
                  <a:srgbClr val="1A1D21"/>
                </a:solidFill>
                <a:latin typeface="Helvetica Neue"/>
              </a:rPr>
              <a:t>.</a:t>
            </a:r>
          </a:p>
        </p:txBody>
      </p:sp>
      <p:sp>
        <p:nvSpPr>
          <p:cNvPr id="8" name="TextBox 7"/>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9" name="TextBox 8"/>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18   </a:t>
            </a:r>
            <a:r>
              <a:rPr sz="2200" b="1">
                <a:solidFill>
                  <a:srgbClr val="14304A"/>
                </a:solidFill>
                <a:latin typeface="Helvetica Neue"/>
              </a:rPr>
              <a:t>The corpus, and the traps it plants on purpose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502920"/>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That narrative is why the demo has something specific to point at in every step: generate → ingest → search → create case → place hold → prove deletion is blocked → export → verify checksums → show the audit trail.</a:t>
            </a:r>
          </a:p>
        </p:txBody>
      </p:sp>
      <p:sp>
        <p:nvSpPr>
          <p:cNvPr id="5" name="TextBox 4"/>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6" name="TextBox 5"/>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19   </a:t>
            </a:r>
            <a:r>
              <a:rPr sz="2200" b="1">
                <a:solidFill>
                  <a:srgbClr val="14304A"/>
                </a:solidFill>
                <a:latin typeface="Helvetica Neue"/>
              </a:rPr>
              <a:t>Running it — two modes, and when to use each</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306323"/>
          </a:xfrm>
          <a:prstGeom prst="rect">
            <a:avLst/>
          </a:prstGeom>
          <a:noFill/>
        </p:spPr>
        <p:txBody>
          <a:bodyPr wrap="square" lIns="0" rIns="0" tIns="0" bIns="0">
            <a:spAutoFit/>
          </a:bodyPr>
          <a:lstStyle/>
          <a:p>
            <a:pPr>
              <a:lnSpc>
                <a:spcPct val="106000"/>
              </a:lnSpc>
              <a:spcAft>
                <a:spcPts val="200"/>
              </a:spcAft>
            </a:pPr>
            <a:r>
              <a:rPr sz="1300" b="1" i="0">
                <a:solidFill>
                  <a:srgbClr val="1A1D21"/>
                </a:solidFill>
                <a:latin typeface="Helvetica Neue"/>
              </a:rPr>
              <a:t>Everything in Docker.</a:t>
            </a:r>
            <a:r>
              <a:rPr sz="1300" b="0" i="0">
                <a:solidFill>
                  <a:srgbClr val="1A1D21"/>
                </a:solidFill>
                <a:latin typeface="Helvetica Neue"/>
              </a:rPr>
              <a:t> One command, nothing installed but Docker. Best for a demo, a clean-machine check, or sharing a stack.</a:t>
            </a:r>
          </a:p>
        </p:txBody>
      </p:sp>
      <p:sp>
        <p:nvSpPr>
          <p:cNvPr id="5" name="Rectangle 4"/>
          <p:cNvSpPr/>
          <p:nvPr/>
        </p:nvSpPr>
        <p:spPr>
          <a:xfrm>
            <a:off x="566928" y="1531619"/>
            <a:ext cx="11057839" cy="502920"/>
          </a:xfrm>
          <a:prstGeom prst="rect">
            <a:avLst/>
          </a:prstGeom>
          <a:solidFill>
            <a:srgbClr val="17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623060"/>
            <a:ext cx="10765231" cy="320040"/>
          </a:xfrm>
          <a:prstGeom prst="rect">
            <a:avLst/>
          </a:prstGeom>
          <a:noFill/>
        </p:spPr>
        <p:txBody>
          <a:bodyPr wrap="none" lIns="0" rIns="0" tIns="0" bIns="0">
            <a:spAutoFit/>
          </a:bodyPr>
          <a:lstStyle/>
          <a:p>
            <a:pPr>
              <a:lnSpc>
                <a:spcPct val="100000"/>
              </a:lnSpc>
              <a:spcAft>
                <a:spcPts val="0"/>
              </a:spcAft>
            </a:pPr>
            <a:r>
              <a:rPr sz="1000">
                <a:solidFill>
                  <a:srgbClr val="DBE6F0"/>
                </a:solidFill>
                <a:latin typeface="Menlo"/>
              </a:rPr>
              <a:t>docker compose --profile app up -d --build</a:t>
            </a:r>
          </a:p>
          <a:p>
            <a:pPr>
              <a:lnSpc>
                <a:spcPct val="100000"/>
              </a:lnSpc>
              <a:spcAft>
                <a:spcPts val="0"/>
              </a:spcAft>
            </a:pPr>
            <a:r>
              <a:rPr sz="1000">
                <a:solidFill>
                  <a:srgbClr val="DBE6F0"/>
                </a:solidFill>
                <a:latin typeface="Menlo"/>
              </a:rPr>
              <a:t># builds 8 images, starts 20 containers, UI on http://localhost:4200</a:t>
            </a:r>
          </a:p>
        </p:txBody>
      </p:sp>
      <p:sp>
        <p:nvSpPr>
          <p:cNvPr id="7" name="TextBox 6"/>
          <p:cNvSpPr txBox="1"/>
          <p:nvPr/>
        </p:nvSpPr>
        <p:spPr>
          <a:xfrm>
            <a:off x="566928" y="2199132"/>
            <a:ext cx="11057839" cy="502920"/>
          </a:xfrm>
          <a:prstGeom prst="rect">
            <a:avLst/>
          </a:prstGeom>
          <a:noFill/>
        </p:spPr>
        <p:txBody>
          <a:bodyPr wrap="square" lIns="0" rIns="0" tIns="0" bIns="0">
            <a:spAutoFit/>
          </a:bodyPr>
          <a:lstStyle/>
          <a:p>
            <a:pPr>
              <a:lnSpc>
                <a:spcPct val="106000"/>
              </a:lnSpc>
              <a:spcAft>
                <a:spcPts val="200"/>
              </a:spcAft>
            </a:pPr>
            <a:r>
              <a:rPr sz="1300" b="1" i="0">
                <a:solidFill>
                  <a:srgbClr val="1A1D21"/>
                </a:solidFill>
                <a:latin typeface="Helvetica Neue"/>
              </a:rPr>
              <a:t>Datastores in Docker, services from jars.</a:t>
            </a:r>
            <a:r>
              <a:rPr sz="1300" b="0" i="0">
                <a:solidFill>
                  <a:srgbClr val="1A1D21"/>
                </a:solidFill>
                <a:latin typeface="Helvetica Neue"/>
              </a:rPr>
              <a:t> Best when you are editing code: a change costs a restart instead of an image rebuild, and you can attach a debugger.</a:t>
            </a:r>
          </a:p>
        </p:txBody>
      </p:sp>
      <p:sp>
        <p:nvSpPr>
          <p:cNvPr id="8" name="Rectangle 7"/>
          <p:cNvSpPr/>
          <p:nvPr/>
        </p:nvSpPr>
        <p:spPr>
          <a:xfrm>
            <a:off x="566928" y="2793491"/>
            <a:ext cx="11057839" cy="1623060"/>
          </a:xfrm>
          <a:prstGeom prst="rect">
            <a:avLst/>
          </a:prstGeom>
          <a:solidFill>
            <a:srgbClr val="17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884932"/>
            <a:ext cx="10765231" cy="1440180"/>
          </a:xfrm>
          <a:prstGeom prst="rect">
            <a:avLst/>
          </a:prstGeom>
          <a:noFill/>
        </p:spPr>
        <p:txBody>
          <a:bodyPr wrap="none" lIns="0" rIns="0" tIns="0" bIns="0">
            <a:spAutoFit/>
          </a:bodyPr>
          <a:lstStyle/>
          <a:p>
            <a:pPr>
              <a:lnSpc>
                <a:spcPct val="100000"/>
              </a:lnSpc>
              <a:spcAft>
                <a:spcPts val="0"/>
              </a:spcAft>
            </a:pPr>
            <a:r>
              <a:rPr sz="1000">
                <a:solidFill>
                  <a:srgbClr val="DBE6F0"/>
                </a:solidFill>
                <a:latin typeface="Menlo"/>
              </a:rPr>
              <a:t>docker compose up -d          # datastores only</a:t>
            </a:r>
          </a:p>
          <a:p>
            <a:pPr>
              <a:lnSpc>
                <a:spcPct val="100000"/>
              </a:lnSpc>
              <a:spcAft>
                <a:spcPts val="0"/>
              </a:spcAft>
            </a:pPr>
            <a:r>
              <a:rPr sz="1000">
                <a:solidFill>
                  <a:srgbClr val="DBE6F0"/>
                </a:solidFill>
                <a:latin typeface="Menlo"/>
              </a:rPr>
              <a:t>./infra/smoke-test.sh         # reachable *from the host* — where your jar runs</a:t>
            </a:r>
          </a:p>
          <a:p>
            <a:pPr>
              <a:lnSpc>
                <a:spcPct val="100000"/>
              </a:lnSpc>
              <a:spcAft>
                <a:spcPts val="0"/>
              </a:spcAft>
            </a:pPr>
            <a:r>
              <a:rPr sz="1000">
                <a:solidFill>
                  <a:srgbClr val="DBE6F0"/>
                </a:solidFill>
                <a:latin typeface="Menlo"/>
              </a:rPr>
              <a:t>mvn -q package -DskipTests</a:t>
            </a:r>
          </a:p>
          <a:p>
            <a:pPr>
              <a:lnSpc>
                <a:spcPct val="100000"/>
              </a:lnSpc>
              <a:spcAft>
                <a:spcPts val="0"/>
              </a:spcAft>
            </a:pPr>
            <a:r>
              <a:rPr sz="1000">
                <a:solidFill>
                  <a:srgbClr val="DBE6F0"/>
                </a:solidFill>
                <a:latin typeface="Menlo"/>
              </a:rPr>
              <a:t> </a:t>
            </a:r>
          </a:p>
          <a:p>
            <a:pPr>
              <a:lnSpc>
                <a:spcPct val="100000"/>
              </a:lnSpc>
              <a:spcAft>
                <a:spcPts val="0"/>
              </a:spcAft>
            </a:pPr>
            <a:r>
              <a:rPr sz="1000">
                <a:solidFill>
                  <a:srgbClr val="DBE6F0"/>
                </a:solidFill>
                <a:latin typeface="Menlo"/>
              </a:rPr>
              <a:t>for s in ingestion storage search case hold export disposition; do</a:t>
            </a:r>
          </a:p>
          <a:p>
            <a:pPr>
              <a:lnSpc>
                <a:spcPct val="100000"/>
              </a:lnSpc>
              <a:spcAft>
                <a:spcPts val="0"/>
              </a:spcAft>
            </a:pPr>
            <a:r>
              <a:rPr sz="1000">
                <a:solidFill>
                  <a:srgbClr val="DBE6F0"/>
                </a:solidFill>
                <a:latin typeface="Menlo"/>
              </a:rPr>
              <a:t>  java -jar services/$s-service/target/$s-service-0.1.0-SNAPSHOT.jar &amp;</a:t>
            </a:r>
          </a:p>
          <a:p>
            <a:pPr>
              <a:lnSpc>
                <a:spcPct val="100000"/>
              </a:lnSpc>
              <a:spcAft>
                <a:spcPts val="0"/>
              </a:spcAft>
            </a:pPr>
            <a:r>
              <a:rPr sz="1000">
                <a:solidFill>
                  <a:srgbClr val="DBE6F0"/>
                </a:solidFill>
                <a:latin typeface="Menlo"/>
              </a:rPr>
              <a:t>done</a:t>
            </a:r>
          </a:p>
          <a:p>
            <a:pPr>
              <a:lnSpc>
                <a:spcPct val="100000"/>
              </a:lnSpc>
              <a:spcAft>
                <a:spcPts val="0"/>
              </a:spcAft>
            </a:pPr>
            <a:r>
              <a:rPr sz="1000">
                <a:solidFill>
                  <a:srgbClr val="DBE6F0"/>
                </a:solidFill>
                <a:latin typeface="Menlo"/>
              </a:rPr>
              <a:t> </a:t>
            </a:r>
          </a:p>
          <a:p>
            <a:pPr>
              <a:lnSpc>
                <a:spcPct val="100000"/>
              </a:lnSpc>
              <a:spcAft>
                <a:spcPts val="0"/>
              </a:spcAft>
            </a:pPr>
            <a:r>
              <a:rPr sz="1000">
                <a:solidFill>
                  <a:srgbClr val="DBE6F0"/>
                </a:solidFill>
                <a:latin typeface="Menlo"/>
              </a:rPr>
              <a:t>cd frontend &amp;&amp; npm start      # ng serve, live reload</a:t>
            </a:r>
          </a:p>
        </p:txBody>
      </p:sp>
      <p:sp>
        <p:nvSpPr>
          <p:cNvPr id="10" name="TextBox 9"/>
          <p:cNvSpPr txBox="1"/>
          <p:nvPr/>
        </p:nvSpPr>
        <p:spPr>
          <a:xfrm>
            <a:off x="566928" y="4581144"/>
            <a:ext cx="11057839" cy="306323"/>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Load the corpus once P1 is up — 12,000 messages, about 90 seconds through Kafka into P2 and P3:</a:t>
            </a:r>
          </a:p>
        </p:txBody>
      </p:sp>
      <p:sp>
        <p:nvSpPr>
          <p:cNvPr id="11" name="Rectangle 10"/>
          <p:cNvSpPr/>
          <p:nvPr/>
        </p:nvSpPr>
        <p:spPr>
          <a:xfrm>
            <a:off x="566928" y="4978907"/>
            <a:ext cx="11057839" cy="502920"/>
          </a:xfrm>
          <a:prstGeom prst="rect">
            <a:avLst/>
          </a:prstGeom>
          <a:solidFill>
            <a:srgbClr val="17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5070347"/>
            <a:ext cx="10765231" cy="320040"/>
          </a:xfrm>
          <a:prstGeom prst="rect">
            <a:avLst/>
          </a:prstGeom>
          <a:noFill/>
        </p:spPr>
        <p:txBody>
          <a:bodyPr wrap="none" lIns="0" rIns="0" tIns="0" bIns="0">
            <a:spAutoFit/>
          </a:bodyPr>
          <a:lstStyle/>
          <a:p>
            <a:pPr>
              <a:lnSpc>
                <a:spcPct val="100000"/>
              </a:lnSpc>
              <a:spcAft>
                <a:spcPts val="0"/>
              </a:spcAft>
            </a:pPr>
            <a:r>
              <a:rPr sz="1000">
                <a:solidFill>
                  <a:srgbClr val="DBE6F0"/>
                </a:solidFill>
                <a:latin typeface="Menlo"/>
              </a:rPr>
              <a:t>curl -F "file=@tools/corpus-generator/fixtures/messages.ndjson" \</a:t>
            </a:r>
          </a:p>
          <a:p>
            <a:pPr>
              <a:lnSpc>
                <a:spcPct val="100000"/>
              </a:lnSpc>
              <a:spcAft>
                <a:spcPts val="0"/>
              </a:spcAft>
            </a:pPr>
            <a:r>
              <a:rPr sz="1000">
                <a:solidFill>
                  <a:srgbClr val="DBE6F0"/>
                </a:solidFill>
                <a:latin typeface="Menlo"/>
              </a:rPr>
              <a:t>  "http://localhost:8081/messages/upload?async=true"</a:t>
            </a:r>
          </a:p>
        </p:txBody>
      </p:sp>
      <p:sp>
        <p:nvSpPr>
          <p:cNvPr id="13" name="TextBox 12"/>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14" name="TextBox 13"/>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19   </a:t>
            </a:r>
            <a:r>
              <a:rPr sz="2200" b="1">
                <a:solidFill>
                  <a:srgbClr val="14304A"/>
                </a:solidFill>
                <a:latin typeface="Helvetica Neue"/>
              </a:rPr>
              <a:t>Running it — two modes, and when to use each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11057839" cy="969264"/>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133856"/>
            <a:ext cx="50292" cy="9692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234440"/>
            <a:ext cx="10710367" cy="768096"/>
          </a:xfrm>
          <a:prstGeom prst="rect">
            <a:avLst/>
          </a:prstGeom>
          <a:noFill/>
        </p:spPr>
        <p:txBody>
          <a:bodyPr wrap="square" lIns="0" rIns="0" tIns="0" bIns="0">
            <a:spAutoFit/>
          </a:bodyPr>
          <a:lstStyle/>
          <a:p>
            <a:pPr>
              <a:lnSpc>
                <a:spcPct val="106000"/>
              </a:lnSpc>
              <a:spcAft>
                <a:spcPts val="200"/>
              </a:spcAft>
            </a:pPr>
            <a:r>
              <a:rPr sz="1200" b="1" i="0">
                <a:solidFill>
                  <a:srgbClr val="9C2C4E"/>
                </a:solidFill>
                <a:latin typeface="Menlo"/>
              </a:rPr>
              <a:t>smoke-test.sh</a:t>
            </a:r>
            <a:r>
              <a:rPr sz="1200" b="1" i="0">
                <a:solidFill>
                  <a:srgbClr val="5C4500"/>
                </a:solidFill>
                <a:latin typeface="Helvetica Neue"/>
              </a:rPr>
              <a:t> checks the host ports specifically</a:t>
            </a:r>
            <a:r>
              <a:rPr sz="1200" b="0" i="0">
                <a:solidFill>
                  <a:srgbClr val="5C4500"/>
                </a:solidFill>
                <a:latin typeface="Helvetica Neue"/>
              </a:rPr>
              <a:t>, and that is the point. A container reporting healthy only proves it can talk to itself. A container can be healthy with its port </a:t>
            </a:r>
            <a:r>
              <a:rPr sz="1200" b="0" i="1">
                <a:solidFill>
                  <a:srgbClr val="5C4500"/>
                </a:solidFill>
                <a:latin typeface="Helvetica Neue"/>
              </a:rPr>
              <a:t>unpublished</a:t>
            </a:r>
            <a:r>
              <a:rPr sz="1200" b="0" i="0">
                <a:solidFill>
                  <a:srgbClr val="5C4500"/>
                </a:solidFill>
                <a:latin typeface="Helvetica Neue"/>
              </a:rPr>
              <a:t> — if a bind loses a race, </a:t>
            </a:r>
            <a:r>
              <a:rPr sz="1200" b="0" i="0">
                <a:solidFill>
                  <a:srgbClr val="9C2C4E"/>
                </a:solidFill>
                <a:latin typeface="Menlo"/>
              </a:rPr>
              <a:t>docker port</a:t>
            </a:r>
            <a:r>
              <a:rPr sz="1200" b="0" i="0">
                <a:solidFill>
                  <a:srgbClr val="5C4500"/>
                </a:solidFill>
                <a:latin typeface="Helvetica Neue"/>
              </a:rPr>
              <a:t> prints nothing while every jar dies on 'connection refused'. </a:t>
            </a:r>
            <a:r>
              <a:rPr sz="1200" b="0" i="0">
                <a:solidFill>
                  <a:srgbClr val="9C2C4E"/>
                </a:solidFill>
                <a:latin typeface="Menlo"/>
              </a:rPr>
              <a:t>docker restart</a:t>
            </a:r>
            <a:r>
              <a:rPr sz="1200" b="0" i="0">
                <a:solidFill>
                  <a:srgbClr val="5C4500"/>
                </a:solidFill>
                <a:latin typeface="Helvetica Neue"/>
              </a:rPr>
              <a:t> does not repair it; </a:t>
            </a:r>
            <a:r>
              <a:rPr sz="1200" b="0" i="0">
                <a:solidFill>
                  <a:srgbClr val="9C2C4E"/>
                </a:solidFill>
                <a:latin typeface="Menlo"/>
              </a:rPr>
              <a:t>docker compose up -d --force-recreate &lt;svc&gt;</a:t>
            </a:r>
            <a:r>
              <a:rPr sz="1200" b="0" i="0">
                <a:solidFill>
                  <a:srgbClr val="5C4500"/>
                </a:solidFill>
                <a:latin typeface="Helvetica Neue"/>
              </a:rPr>
              <a:t> does, and the named volume means no data is lost.</a:t>
            </a:r>
          </a:p>
        </p:txBody>
      </p:sp>
      <p:sp>
        <p:nvSpPr>
          <p:cNvPr id="7" name="TextBox 6"/>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8" name="TextBox 7"/>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20   </a:t>
            </a:r>
            <a:r>
              <a:rPr sz="2200" b="1">
                <a:solidFill>
                  <a:srgbClr val="14304A"/>
                </a:solidFill>
                <a:latin typeface="Helvetica Neue"/>
              </a:rPr>
              <a:t>Sharing one stack — and the delete button you are sharing with it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699516"/>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Nothing syncs between machines. </a:t>
            </a:r>
            <a:r>
              <a:rPr sz="1300" b="0" i="0">
                <a:solidFill>
                  <a:srgbClr val="9C2C4E"/>
                </a:solidFill>
                <a:latin typeface="Menlo"/>
              </a:rPr>
              <a:t>docker compose up</a:t>
            </a:r>
            <a:r>
              <a:rPr sz="1300" b="0" i="0">
                <a:solidFill>
                  <a:srgbClr val="1A1D21"/>
                </a:solidFill>
                <a:latin typeface="Helvetica Neue"/>
              </a:rPr>
              <a:t> on a second laptop creates a second, empty set of databases in its own volumes — Docker packages services, it does not connect hosts. A case is shared only because everybody is pointed at the one machine that owns it.</a:t>
            </a:r>
          </a:p>
        </p:txBody>
      </p:sp>
      <p:sp>
        <p:nvSpPr>
          <p:cNvPr id="5" name="Rectangle 4"/>
          <p:cNvSpPr/>
          <p:nvPr/>
        </p:nvSpPr>
        <p:spPr>
          <a:xfrm>
            <a:off x="566928" y="1924812"/>
            <a:ext cx="11057839" cy="502920"/>
          </a:xfrm>
          <a:prstGeom prst="rect">
            <a:avLst/>
          </a:prstGeom>
          <a:solidFill>
            <a:srgbClr val="17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2016252"/>
            <a:ext cx="10765231" cy="320040"/>
          </a:xfrm>
          <a:prstGeom prst="rect">
            <a:avLst/>
          </a:prstGeom>
          <a:noFill/>
        </p:spPr>
        <p:txBody>
          <a:bodyPr wrap="none" lIns="0" rIns="0" tIns="0" bIns="0">
            <a:spAutoFit/>
          </a:bodyPr>
          <a:lstStyle/>
          <a:p>
            <a:pPr>
              <a:lnSpc>
                <a:spcPct val="100000"/>
              </a:lnSpc>
              <a:spcAft>
                <a:spcPts val="0"/>
              </a:spcAft>
            </a:pPr>
            <a:r>
              <a:rPr sz="1000">
                <a:solidFill>
                  <a:srgbClr val="DBE6F0"/>
                </a:solidFill>
                <a:latin typeface="Menlo"/>
              </a:rPr>
              <a:t>docker compose up -d &lt;datastores&gt;</a:t>
            </a:r>
          </a:p>
          <a:p>
            <a:pPr>
              <a:lnSpc>
                <a:spcPct val="100000"/>
              </a:lnSpc>
              <a:spcAft>
                <a:spcPts val="0"/>
              </a:spcAft>
            </a:pPr>
            <a:r>
              <a:rPr sz="1000">
                <a:solidFill>
                  <a:srgbClr val="DBE6F0"/>
                </a:solidFill>
                <a:latin typeface="Menlo"/>
              </a:rPr>
              <a:t>./infra/serve-lan.sh          # prints the URL to hand round</a:t>
            </a:r>
          </a:p>
        </p:txBody>
      </p:sp>
      <p:sp>
        <p:nvSpPr>
          <p:cNvPr id="7" name="TextBox 6"/>
          <p:cNvSpPr txBox="1"/>
          <p:nvPr/>
        </p:nvSpPr>
        <p:spPr>
          <a:xfrm>
            <a:off x="566928" y="2592324"/>
            <a:ext cx="11057839" cy="969264"/>
          </a:xfrm>
          <a:prstGeom prst="rect">
            <a:avLst/>
          </a:prstGeom>
          <a:noFill/>
        </p:spPr>
        <p:txBody>
          <a:bodyPr wrap="square" lIns="0" rIns="0" tIns="0" bIns="0">
            <a:spAutoFit/>
          </a:bodyPr>
          <a:lstStyle/>
          <a:p>
            <a:pPr>
              <a:lnSpc>
                <a:spcPct val="106000"/>
              </a:lnSpc>
              <a:spcAft>
                <a:spcPts val="500"/>
              </a:spcAft>
            </a:pPr>
            <a:r>
              <a:rPr sz="1300">
                <a:solidFill>
                  <a:srgbClr val="C9A227"/>
                </a:solidFill>
                <a:latin typeface="Helvetica Neue"/>
              </a:rPr>
              <a:t>▪  </a:t>
            </a:r>
            <a:r>
              <a:rPr sz="1300" b="0" i="0">
                <a:solidFill>
                  <a:srgbClr val="9C2C4E"/>
                </a:solidFill>
                <a:latin typeface="Menlo"/>
              </a:rPr>
              <a:t>frontend/public/api-config.js</a:t>
            </a:r>
            <a:r>
              <a:rPr sz="1300" b="0" i="0">
                <a:solidFill>
                  <a:srgbClr val="1A1D21"/>
                </a:solidFill>
                <a:latin typeface="Helvetica Neue"/>
              </a:rPr>
              <a:t> derives the service host from </a:t>
            </a:r>
            <a:r>
              <a:rPr sz="1300" b="0" i="0">
                <a:solidFill>
                  <a:srgbClr val="9C2C4E"/>
                </a:solidFill>
                <a:latin typeface="Menlo"/>
              </a:rPr>
              <a:t>window.location.hostname</a:t>
            </a:r>
            <a:r>
              <a:rPr sz="1300" b="0" i="0">
                <a:solidFill>
                  <a:srgbClr val="1A1D21"/>
                </a:solidFill>
                <a:latin typeface="Helvetica Neue"/>
              </a:rPr>
              <a:t>, so a visitor's browser calls the host's services instead of their own empty machine.</a:t>
            </a:r>
          </a:p>
          <a:p>
            <a:pPr>
              <a:lnSpc>
                <a:spcPct val="106000"/>
              </a:lnSpc>
              <a:spcAft>
                <a:spcPts val="500"/>
              </a:spcAft>
            </a:pPr>
            <a:r>
              <a:rPr sz="1300">
                <a:solidFill>
                  <a:srgbClr val="C9A227"/>
                </a:solidFill>
                <a:latin typeface="Helvetica Neue"/>
              </a:rPr>
              <a:t>▪  </a:t>
            </a:r>
            <a:r>
              <a:rPr sz="1300" b="0" i="0">
                <a:solidFill>
                  <a:srgbClr val="9C2C4E"/>
                </a:solidFill>
                <a:latin typeface="Menlo"/>
              </a:rPr>
              <a:t>DISCOVERYHUB_WEB_CORS_ALLOWED_ORIGINS</a:t>
            </a:r>
            <a:r>
              <a:rPr sz="1300" b="0" i="0">
                <a:solidFill>
                  <a:srgbClr val="1A1D21"/>
                </a:solidFill>
                <a:latin typeface="Helvetica Neue"/>
              </a:rPr>
              <a:t> adds the host's LAN address to the allowed origins — one variable covers both the panels and the actuator status strip.</a:t>
            </a:r>
          </a:p>
        </p:txBody>
      </p:sp>
      <p:sp>
        <p:nvSpPr>
          <p:cNvPr id="8" name="Rectangle 7"/>
          <p:cNvSpPr/>
          <p:nvPr/>
        </p:nvSpPr>
        <p:spPr>
          <a:xfrm>
            <a:off x="566928" y="3653028"/>
            <a:ext cx="11057839" cy="969264"/>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3653028"/>
            <a:ext cx="50292" cy="9692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753612"/>
            <a:ext cx="10710367" cy="768096"/>
          </a:xfrm>
          <a:prstGeom prst="rect">
            <a:avLst/>
          </a:prstGeom>
          <a:noFill/>
        </p:spPr>
        <p:txBody>
          <a:bodyPr wrap="square" lIns="0" rIns="0" tIns="0" bIns="0">
            <a:spAutoFit/>
          </a:bodyPr>
          <a:lstStyle/>
          <a:p>
            <a:pPr>
              <a:lnSpc>
                <a:spcPct val="106000"/>
              </a:lnSpc>
              <a:spcAft>
                <a:spcPts val="200"/>
              </a:spcAft>
            </a:pPr>
            <a:r>
              <a:rPr sz="1200" b="1" i="0">
                <a:solidFill>
                  <a:srgbClr val="5C4500"/>
                </a:solidFill>
                <a:latin typeface="Helvetica Neue"/>
              </a:rPr>
              <a:t>Sharing the link shares the delete button.</a:t>
            </a:r>
            <a:r>
              <a:rPr sz="1200" b="0" i="0">
                <a:solidFill>
                  <a:srgbClr val="5C4500"/>
                </a:solidFill>
                <a:latin typeface="Helvetica Neue"/>
              </a:rPr>
              <a:t> The retention page runs a real sweep. This has already happened once: a MANUAL, non-dry-run sweep took 486 messages out of the archive, and holds saved only the 14 they covered. The deletion is permanent, and P1 refuses the re-upload as duplicate because dedupe outlives the message. Restoring means clearing Redis </a:t>
            </a:r>
            <a:r>
              <a:rPr sz="1200" b="0" i="1">
                <a:solidFill>
                  <a:srgbClr val="5C4500"/>
                </a:solidFill>
                <a:latin typeface="Helvetica Neue"/>
              </a:rPr>
              <a:t>and</a:t>
            </a:r>
            <a:r>
              <a:rPr sz="1200" b="0" i="0">
                <a:solidFill>
                  <a:srgbClr val="5C4500"/>
                </a:solidFill>
                <a:latin typeface="Helvetica Neue"/>
              </a:rPr>
              <a:t> deleting the orphaned </a:t>
            </a:r>
            <a:r>
              <a:rPr sz="1200" b="0" i="0">
                <a:solidFill>
                  <a:srgbClr val="9C2C4E"/>
                </a:solidFill>
                <a:latin typeface="Menlo"/>
              </a:rPr>
              <a:t>message_id_map</a:t>
            </a:r>
            <a:r>
              <a:rPr sz="1200" b="0" i="0">
                <a:solidFill>
                  <a:srgbClr val="5C4500"/>
                </a:solidFill>
                <a:latin typeface="Helvetica Neue"/>
              </a:rPr>
              <a:t> rows in postgres-ingestion, then re-uploading.</a:t>
            </a:r>
          </a:p>
        </p:txBody>
      </p:sp>
      <p:sp>
        <p:nvSpPr>
          <p:cNvPr id="11" name="TextBox 10"/>
          <p:cNvSpPr txBox="1"/>
          <p:nvPr/>
        </p:nvSpPr>
        <p:spPr>
          <a:xfrm>
            <a:off x="566928" y="4786884"/>
            <a:ext cx="11057839" cy="896112"/>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There is no configuration that makes this safe. </a:t>
            </a:r>
            <a:r>
              <a:rPr sz="1300" b="0" i="0">
                <a:solidFill>
                  <a:srgbClr val="9C2C4E"/>
                </a:solidFill>
                <a:latin typeface="Menlo"/>
              </a:rPr>
              <a:t>schedule.enabled</a:t>
            </a:r>
            <a:r>
              <a:rPr sz="1300" b="0" i="0">
                <a:solidFill>
                  <a:srgbClr val="1A1D21"/>
                </a:solidFill>
                <a:latin typeface="Helvetica Neue"/>
              </a:rPr>
              <a:t> is already false and that only stops the </a:t>
            </a:r>
            <a:r>
              <a:rPr sz="1300" b="0" i="1">
                <a:solidFill>
                  <a:srgbClr val="1A1D21"/>
                </a:solidFill>
                <a:latin typeface="Helvetica Neue"/>
              </a:rPr>
              <a:t>timer</a:t>
            </a:r>
            <a:r>
              <a:rPr sz="1300" b="0" i="0">
                <a:solidFill>
                  <a:srgbClr val="1A1D21"/>
                </a:solidFill>
                <a:latin typeface="Helvetica Neue"/>
              </a:rPr>
              <a:t> — </a:t>
            </a:r>
            <a:r>
              <a:rPr sz="1300" b="0" i="0">
                <a:solidFill>
                  <a:srgbClr val="9C2C4E"/>
                </a:solidFill>
                <a:latin typeface="Menlo"/>
              </a:rPr>
              <a:t>POST /disposition/runs</a:t>
            </a:r>
            <a:r>
              <a:rPr sz="1300" b="0" i="0">
                <a:solidFill>
                  <a:srgbClr val="1A1D21"/>
                </a:solidFill>
                <a:latin typeface="Helvetica Neue"/>
              </a:rPr>
              <a:t> still sweeps on demand, which is exactly what the button does. </a:t>
            </a:r>
            <a:r>
              <a:rPr sz="1300" b="0" i="0">
                <a:solidFill>
                  <a:srgbClr val="9C2C4E"/>
                </a:solidFill>
                <a:latin typeface="Menlo"/>
              </a:rPr>
              <a:t>dryRun</a:t>
            </a:r>
            <a:r>
              <a:rPr sz="1300" b="0" i="0">
                <a:solidFill>
                  <a:srgbClr val="1A1D21"/>
                </a:solidFill>
                <a:latin typeface="Helvetica Neue"/>
              </a:rPr>
              <a:t> is a query parameter on the request, not a setting, so nothing on the host can force it. There is also no authentication anywhere in the stack: whoever can reach the port can delete a case. Say so before handing the URL round, and keep it on a network you trust.</a:t>
            </a:r>
          </a:p>
        </p:txBody>
      </p:sp>
      <p:sp>
        <p:nvSpPr>
          <p:cNvPr id="12" name="TextBox 11"/>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13" name="TextBox 12"/>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21   </a:t>
            </a:r>
            <a:r>
              <a:rPr sz="2200" b="1">
                <a:solidFill>
                  <a:srgbClr val="14304A"/>
                </a:solidFill>
                <a:latin typeface="Helvetica Neue"/>
              </a:rPr>
              <a:t>Traps that have already cost real time</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133856"/>
          <a:ext cx="11057838" cy="4265673"/>
        </p:xfrm>
        <a:graphic>
          <a:graphicData uri="http://schemas.openxmlformats.org/drawingml/2006/table">
            <a:tbl>
              <a:tblPr firstRow="1">
                <a:tableStyleId>{5C22544A-7EE6-4342-B048-85BDC9FD1C3A}</a:tableStyleId>
              </a:tblPr>
              <a:tblGrid>
                <a:gridCol w="3650674"/>
                <a:gridCol w="4126849"/>
                <a:gridCol w="3280315"/>
              </a:tblGrid>
              <a:tr h="274320">
                <a:tc>
                  <a:txBody>
                    <a:bodyPr wrap="square"/>
                    <a:lstStyle/>
                    <a:p>
                      <a:pPr algn="l">
                        <a:lnSpc>
                          <a:spcPct val="104000"/>
                        </a:lnSpc>
                      </a:pPr>
                      <a:r>
                        <a:rPr sz="1050" b="1" i="0">
                          <a:solidFill>
                            <a:srgbClr val="FFFFFF"/>
                          </a:solidFill>
                          <a:latin typeface="Helvetica Neue"/>
                        </a:rPr>
                        <a:t>Symptom</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Cause</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Fix</a:t>
                      </a:r>
                    </a:p>
                  </a:txBody>
                  <a:tcPr marL="64008" marR="64008" marT="32004" marB="32004" anchor="t">
                    <a:solidFill>
                      <a:srgbClr val="1F4E79"/>
                    </a:solidFill>
                  </a:tcPr>
                </a:tc>
              </a:tr>
              <a:tr h="598931">
                <a:tc>
                  <a:txBody>
                    <a:bodyPr wrap="square"/>
                    <a:lstStyle/>
                    <a:p>
                      <a:pPr algn="l">
                        <a:lnSpc>
                          <a:spcPct val="104000"/>
                        </a:lnSpc>
                      </a:pPr>
                      <a:r>
                        <a:rPr sz="1050" b="0" i="0">
                          <a:solidFill>
                            <a:srgbClr val="1A1D21"/>
                          </a:solidFill>
                          <a:latin typeface="Helvetica Neue"/>
                        </a:rPr>
                        <a:t>You edit a component and nothing changes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The </a:t>
                      </a:r>
                      <a:r>
                        <a:rPr sz="1050" b="0" i="0">
                          <a:solidFill>
                            <a:srgbClr val="1A1D21"/>
                          </a:solidFill>
                          <a:latin typeface="Menlo"/>
                        </a:rPr>
                        <a:t>discoveryhub-frontend</a:t>
                      </a:r>
                      <a:r>
                        <a:rPr sz="1050" b="0" i="0">
                          <a:solidFill>
                            <a:srgbClr val="1A1D21"/>
                          </a:solidFill>
                          <a:latin typeface="Helvetica Neue"/>
                        </a:rPr>
                        <a:t> container serves a stale prebuilt dist on </a:t>
                      </a:r>
                      <a:r>
                        <a:rPr sz="1050" b="0" i="0">
                          <a:solidFill>
                            <a:srgbClr val="1A1D21"/>
                          </a:solidFill>
                          <a:latin typeface="Menlo"/>
                        </a:rPr>
                        <a:t>[::]:4200</a:t>
                      </a:r>
                      <a:r>
                        <a:rPr sz="1050" b="0" i="0">
                          <a:solidFill>
                            <a:srgbClr val="1A1D21"/>
                          </a:solidFill>
                          <a:latin typeface="Helvetica Neue"/>
                        </a:rPr>
                        <a:t> while ng serve binds </a:t>
                      </a:r>
                      <a:r>
                        <a:rPr sz="1050" b="0" i="0">
                          <a:solidFill>
                            <a:srgbClr val="1A1D21"/>
                          </a:solidFill>
                          <a:latin typeface="Menlo"/>
                        </a:rPr>
                        <a:t>127.0.0.1:4200</a:t>
                      </a:r>
                      <a:r>
                        <a:rPr sz="1050" b="0" i="0">
                          <a:solidFill>
                            <a:srgbClr val="1A1D21"/>
                          </a:solidFill>
                          <a:latin typeface="Helvetica Neue"/>
                        </a:rPr>
                        <a:t>; both start happily</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Menlo"/>
                        </a:rPr>
                        <a:t>docker stop discoveryhub-frontend</a:t>
                      </a:r>
                      <a:r>
                        <a:rPr sz="1050" b="0" i="0">
                          <a:solidFill>
                            <a:srgbClr val="1A1D21"/>
                          </a:solidFill>
                          <a:latin typeface="Helvetica Neue"/>
                        </a:rPr>
                        <a:t> before </a:t>
                      </a:r>
                      <a:r>
                        <a:rPr sz="1050" b="0" i="0">
                          <a:solidFill>
                            <a:srgbClr val="1A1D21"/>
                          </a:solidFill>
                          <a:latin typeface="Menlo"/>
                        </a:rPr>
                        <a:t>ng serve</a:t>
                      </a:r>
                    </a:p>
                  </a:txBody>
                  <a:tcPr marL="64008" marR="64008" marT="32004" marB="32004" anchor="t">
                    <a:solidFill>
                      <a:srgbClr val="FFFFFF"/>
                    </a:solidFill>
                  </a:tcPr>
                </a:tc>
              </a:tr>
              <a:tr h="598931">
                <a:tc>
                  <a:txBody>
                    <a:bodyPr wrap="square"/>
                    <a:lstStyle/>
                    <a:p>
                      <a:pPr algn="l">
                        <a:lnSpc>
                          <a:spcPct val="104000"/>
                        </a:lnSpc>
                      </a:pPr>
                      <a:r>
                        <a:rPr sz="1050" b="0" i="0">
                          <a:solidFill>
                            <a:srgbClr val="1A1D21"/>
                          </a:solidFill>
                          <a:latin typeface="Helvetica Neue"/>
                        </a:rPr>
                        <a:t>Health checks pass but you are debugging the wrong process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A service whose port was taken logged APPLICATION FAILED TO START and exited; something else answers that port</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Menlo"/>
                        </a:rPr>
                        <a:t>lsof -nP -iTCP:8086 -sTCP:LISTEN</a:t>
                      </a:r>
                      <a:r>
                        <a:rPr sz="1050" b="0" i="0">
                          <a:solidFill>
                            <a:srgbClr val="1A1D21"/>
                          </a:solidFill>
                          <a:latin typeface="Helvetica Neue"/>
                        </a:rPr>
                        <a:t>, compare the PID's start time</a:t>
                      </a:r>
                    </a:p>
                  </a:txBody>
                  <a:tcPr marL="64008" marR="64008" marT="32004" marB="32004" anchor="t">
                    <a:solidFill>
                      <a:srgbClr val="F4F7FA"/>
                    </a:solidFill>
                  </a:tcPr>
                </a:tc>
              </a:tr>
              <a:tr h="438912">
                <a:tc>
                  <a:txBody>
                    <a:bodyPr wrap="square"/>
                    <a:lstStyle/>
                    <a:p>
                      <a:pPr algn="l">
                        <a:lnSpc>
                          <a:spcPct val="104000"/>
                        </a:lnSpc>
                      </a:pPr>
                      <a:r>
                        <a:rPr sz="1050" b="0" i="0">
                          <a:solidFill>
                            <a:srgbClr val="1A1D21"/>
                          </a:solidFill>
                          <a:latin typeface="Helvetica Neue"/>
                        </a:rPr>
                        <a:t>Every service dies on 'connection refused' to a healthy container</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The port bind lost a race; the container is healthy with its port unpublished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Menlo"/>
                        </a:rPr>
                        <a:t>docker compose up -d --force-recreate &lt;svc&gt;</a:t>
                      </a:r>
                    </a:p>
                  </a:txBody>
                  <a:tcPr marL="64008" marR="64008" marT="32004" marB="32004" anchor="t">
                    <a:solidFill>
                      <a:srgbClr val="FFFFFF"/>
                    </a:solidFill>
                  </a:tcPr>
                </a:tc>
              </a:tr>
              <a:tr h="438912">
                <a:tc>
                  <a:txBody>
                    <a:bodyPr wrap="square"/>
                    <a:lstStyle/>
                    <a:p>
                      <a:pPr algn="l">
                        <a:lnSpc>
                          <a:spcPct val="104000"/>
                        </a:lnSpc>
                      </a:pPr>
                      <a:r>
                        <a:rPr sz="1050" b="0" i="0">
                          <a:solidFill>
                            <a:srgbClr val="1A1D21"/>
                          </a:solidFill>
                          <a:latin typeface="Helvetica Neue"/>
                        </a:rPr>
                        <a:t>Status strip shows every service DOWN, every panel loads fine</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Actuator has its own CORS handler mapping</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Set </a:t>
                      </a:r>
                      <a:r>
                        <a:rPr sz="1050" b="0" i="0">
                          <a:solidFill>
                            <a:srgbClr val="1A1D21"/>
                          </a:solidFill>
                          <a:latin typeface="Menlo"/>
                        </a:rPr>
                        <a:t>management.endpoints.web.cors</a:t>
                      </a:r>
                      <a:r>
                        <a:rPr sz="1050" b="0" i="0">
                          <a:solidFill>
                            <a:srgbClr val="1A1D21"/>
                          </a:solidFill>
                          <a:latin typeface="Helvetica Neue"/>
                        </a:rPr>
                        <a:t> too</a:t>
                      </a:r>
                    </a:p>
                  </a:txBody>
                  <a:tcPr marL="64008" marR="64008" marT="32004" marB="32004" anchor="t">
                    <a:solidFill>
                      <a:srgbClr val="F4F7FA"/>
                    </a:solidFill>
                  </a:tcPr>
                </a:tc>
              </a:tr>
              <a:tr h="438912">
                <a:tc>
                  <a:txBody>
                    <a:bodyPr wrap="square"/>
                    <a:lstStyle/>
                    <a:p>
                      <a:pPr algn="l">
                        <a:lnSpc>
                          <a:spcPct val="104000"/>
                        </a:lnSpc>
                      </a:pPr>
                      <a:r>
                        <a:rPr sz="1050" b="0" i="0">
                          <a:solidFill>
                            <a:srgbClr val="1A1D21"/>
                          </a:solidFill>
                          <a:latin typeface="Helvetica Neue"/>
                        </a:rPr>
                        <a:t>The whole page blanks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Menlo"/>
                        </a:rPr>
                        <a:t>Resource.value()</a:t>
                      </a:r>
                      <a:r>
                        <a:rPr sz="1050" b="0" i="0">
                          <a:solidFill>
                            <a:srgbClr val="1A1D21"/>
                          </a:solidFill>
                          <a:latin typeface="Helvetica Neue"/>
                        </a:rPr>
                        <a:t> threw in the error state inside eagerly-instantiated projected content</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Route every list through </a:t>
                      </a:r>
                      <a:r>
                        <a:rPr sz="1050" b="0" i="0">
                          <a:solidFill>
                            <a:srgbClr val="1A1D21"/>
                          </a:solidFill>
                          <a:latin typeface="Menlo"/>
                        </a:rPr>
                        <a:t>valueOr()</a:t>
                      </a:r>
                    </a:p>
                  </a:txBody>
                  <a:tcPr marL="64008" marR="64008" marT="32004" marB="32004" anchor="t">
                    <a:solidFill>
                      <a:srgbClr val="FFFFFF"/>
                    </a:solidFill>
                  </a:tcPr>
                </a:tc>
              </a:tr>
              <a:tr h="438912">
                <a:tc>
                  <a:txBody>
                    <a:bodyPr wrap="square"/>
                    <a:lstStyle/>
                    <a:p>
                      <a:pPr algn="l">
                        <a:lnSpc>
                          <a:spcPct val="104000"/>
                        </a:lnSpc>
                      </a:pPr>
                      <a:r>
                        <a:rPr sz="1050" b="0" i="0">
                          <a:solidFill>
                            <a:srgbClr val="1A1D21"/>
                          </a:solidFill>
                          <a:latin typeface="Helvetica Neue"/>
                        </a:rPr>
                        <a:t>Producer succeeds, consumer receives nothing, both configs look right</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A Homebrew Kafka is also on 9092</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Menlo"/>
                        </a:rPr>
                        <a:t>brew services stop kafka</a:t>
                      </a:r>
                    </a:p>
                  </a:txBody>
                  <a:tcPr marL="64008" marR="64008" marT="32004" marB="32004" anchor="t">
                    <a:solidFill>
                      <a:srgbClr val="F4F7FA"/>
                    </a:solidFill>
                  </a:tcPr>
                </a:tc>
              </a:tr>
              <a:tr h="598931">
                <a:tc>
                  <a:txBody>
                    <a:bodyPr wrap="square"/>
                    <a:lstStyle/>
                    <a:p>
                      <a:pPr algn="l">
                        <a:lnSpc>
                          <a:spcPct val="104000"/>
                        </a:lnSpc>
                      </a:pPr>
                      <a:r>
                        <a:rPr sz="1050" b="0" i="0">
                          <a:solidFill>
                            <a:srgbClr val="1A1D21"/>
                          </a:solidFill>
                          <a:latin typeface="Helvetica Neue"/>
                        </a:rPr>
                        <a:t>Writes succeed but the data is nowhere</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Menlo"/>
                        </a:rPr>
                        <a:t>spring.data.mongodb</a:t>
                      </a:r>
                      <a:r>
                        <a:rPr sz="1050" b="0" i="0">
                          <a:solidFill>
                            <a:srgbClr val="1A1D21"/>
                          </a:solidFill>
                          <a:latin typeface="Helvetica Neue"/>
                        </a:rPr>
                        <a:t> instead of </a:t>
                      </a:r>
                      <a:r>
                        <a:rPr sz="1050" b="0" i="0">
                          <a:solidFill>
                            <a:srgbClr val="1A1D21"/>
                          </a:solidFill>
                          <a:latin typeface="Menlo"/>
                        </a:rPr>
                        <a:t>spring.mongodb</a:t>
                      </a:r>
                      <a:r>
                        <a:rPr sz="1050" b="0" i="0">
                          <a:solidFill>
                            <a:srgbClr val="1A1D21"/>
                          </a:solidFill>
                          <a:latin typeface="Helvetica Neue"/>
                        </a:rPr>
                        <a:t> under Boot 4.1 — lands in the fallback </a:t>
                      </a:r>
                      <a:r>
                        <a:rPr sz="1050" b="0" i="0">
                          <a:solidFill>
                            <a:srgbClr val="1A1D21"/>
                          </a:solidFill>
                          <a:latin typeface="Menlo"/>
                        </a:rPr>
                        <a:t>test</a:t>
                      </a:r>
                      <a:r>
                        <a:rPr sz="1050" b="0" i="0">
                          <a:solidFill>
                            <a:srgbClr val="1A1D21"/>
                          </a:solidFill>
                          <a:latin typeface="Helvetica Neue"/>
                        </a:rPr>
                        <a:t> database</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Rename the prefix</a:t>
                      </a:r>
                    </a:p>
                  </a:txBody>
                  <a:tcPr marL="64008" marR="64008" marT="32004" marB="32004" anchor="t">
                    <a:solidFill>
                      <a:srgbClr val="FFFFFF"/>
                    </a:solidFill>
                  </a:tcPr>
                </a:tc>
              </a:tr>
              <a:tr h="438912">
                <a:tc>
                  <a:txBody>
                    <a:bodyPr wrap="square"/>
                    <a:lstStyle/>
                    <a:p>
                      <a:pPr algn="l">
                        <a:lnSpc>
                          <a:spcPct val="104000"/>
                        </a:lnSpc>
                      </a:pPr>
                      <a:r>
                        <a:rPr sz="1050" b="0" i="0">
                          <a:solidFill>
                            <a:srgbClr val="1A1D21"/>
                          </a:solidFill>
                          <a:latin typeface="Helvetica Neue"/>
                        </a:rPr>
                        <a:t>Search returns messages the archive does not have</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A sweep deletes from P2 without removing the document from P3</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Rebuild the index</a:t>
                      </a:r>
                    </a:p>
                  </a:txBody>
                  <a:tcPr marL="64008" marR="64008" marT="32004" marB="32004" anchor="t">
                    <a:solidFill>
                      <a:srgbClr val="F4F7FA"/>
                    </a:solidFill>
                  </a:tcPr>
                </a:tc>
              </a:tr>
            </a:tbl>
          </a:graphicData>
        </a:graphic>
      </p:graphicFrame>
      <p:sp>
        <p:nvSpPr>
          <p:cNvPr id="5" name="TextBox 4"/>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6" name="TextBox 5"/>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21   </a:t>
            </a:r>
            <a:r>
              <a:rPr sz="2200" b="1">
                <a:solidFill>
                  <a:srgbClr val="14304A"/>
                </a:solidFill>
                <a:latin typeface="Helvetica Neue"/>
              </a:rPr>
              <a:t>Traps that have already cost real time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11057839" cy="1165860"/>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133856"/>
            <a:ext cx="50292" cy="11658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234440"/>
            <a:ext cx="10710367" cy="964692"/>
          </a:xfrm>
          <a:prstGeom prst="rect">
            <a:avLst/>
          </a:prstGeom>
          <a:noFill/>
        </p:spPr>
        <p:txBody>
          <a:bodyPr wrap="square" lIns="0" rIns="0" tIns="0" bIns="0">
            <a:spAutoFit/>
          </a:bodyPr>
          <a:lstStyle/>
          <a:p>
            <a:pPr>
              <a:lnSpc>
                <a:spcPct val="106000"/>
              </a:lnSpc>
              <a:spcAft>
                <a:spcPts val="200"/>
              </a:spcAft>
            </a:pPr>
            <a:r>
              <a:rPr sz="1200" b="1" i="0">
                <a:solidFill>
                  <a:srgbClr val="5C4500"/>
                </a:solidFill>
                <a:latin typeface="Helvetica Neue"/>
              </a:rPr>
              <a:t>A sweep that deleted nothing is not evidence that holds work.</a:t>
            </a:r>
            <a:r>
              <a:rPr sz="1200" b="0" i="0">
                <a:solidFill>
                  <a:srgbClr val="5C4500"/>
                </a:solidFill>
                <a:latin typeface="Helvetica Neue"/>
              </a:rPr>
              <a:t> Every hold path fails closed, so an unreachable or misconfigured P4 produces the </a:t>
            </a:r>
            <a:r>
              <a:rPr sz="1200" b="0" i="1">
                <a:solidFill>
                  <a:srgbClr val="5C4500"/>
                </a:solidFill>
                <a:latin typeface="Helvetica Neue"/>
              </a:rPr>
              <a:t>exact same result</a:t>
            </a:r>
            <a:r>
              <a:rPr sz="1200" b="0" i="0">
                <a:solidFill>
                  <a:srgbClr val="5C4500"/>
                </a:solidFill>
                <a:latin typeface="Helvetica Neue"/>
              </a:rPr>
              <a:t> as holds doing their job: every candidate skipped, refusals throughout the audit trail, no errors anywhere. Before believing a quiet sweep, check </a:t>
            </a:r>
            <a:r>
              <a:rPr sz="1200" b="0" i="0">
                <a:solidFill>
                  <a:srgbClr val="9C2C4E"/>
                </a:solidFill>
                <a:latin typeface="Menlo"/>
              </a:rPr>
              <a:t>holdScopeAvailable</a:t>
            </a:r>
            <a:r>
              <a:rPr sz="1200" b="0" i="0">
                <a:solidFill>
                  <a:srgbClr val="5C4500"/>
                </a:solidFill>
                <a:latin typeface="Helvetica Neue"/>
              </a:rPr>
              <a:t> in the candidates preview and P2's logs for </a:t>
            </a:r>
            <a:r>
              <a:rPr sz="1200" b="0" i="0">
                <a:solidFill>
                  <a:srgbClr val="9C2C4E"/>
                </a:solidFill>
                <a:latin typeface="Menlo"/>
              </a:rPr>
              <a:t>hold check failed</a:t>
            </a:r>
            <a:r>
              <a:rPr sz="1200" b="0" i="0">
                <a:solidFill>
                  <a:srgbClr val="5C4500"/>
                </a:solidFill>
                <a:latin typeface="Helvetica Neue"/>
              </a:rPr>
              <a:t>. The first end-to-end run of the delete loop refused all five test messages for exactly this reason — </a:t>
            </a:r>
            <a:r>
              <a:rPr sz="1200" b="0" i="0">
                <a:solidFill>
                  <a:srgbClr val="9C2C4E"/>
                </a:solidFill>
                <a:latin typeface="Menlo"/>
              </a:rPr>
              <a:t>CASES_BASE_URL</a:t>
            </a:r>
            <a:r>
              <a:rPr sz="1200" b="0" i="0">
                <a:solidFill>
                  <a:srgbClr val="5C4500"/>
                </a:solidFill>
                <a:latin typeface="Helvetica Neue"/>
              </a:rPr>
              <a:t> was unset in P2's container.</a:t>
            </a:r>
          </a:p>
        </p:txBody>
      </p:sp>
      <p:sp>
        <p:nvSpPr>
          <p:cNvPr id="7" name="TextBox 6"/>
          <p:cNvSpPr txBox="1"/>
          <p:nvPr/>
        </p:nvSpPr>
        <p:spPr>
          <a:xfrm>
            <a:off x="566928" y="2464308"/>
            <a:ext cx="11057839" cy="1810512"/>
          </a:xfrm>
          <a:prstGeom prst="rect">
            <a:avLst/>
          </a:prstGeom>
          <a:noFill/>
        </p:spPr>
        <p:txBody>
          <a:bodyPr wrap="square" lIns="0" rIns="0" tIns="0" bIns="0">
            <a:spAutoFit/>
          </a:bodyPr>
          <a:lstStyle/>
          <a:p>
            <a:pPr>
              <a:lnSpc>
                <a:spcPct val="106000"/>
              </a:lnSpc>
              <a:spcAft>
                <a:spcPts val="500"/>
              </a:spcAft>
            </a:pPr>
            <a:r>
              <a:rPr sz="1300">
                <a:solidFill>
                  <a:srgbClr val="C9A227"/>
                </a:solidFill>
                <a:latin typeface="Helvetica Neue"/>
              </a:rPr>
              <a:t>▪  </a:t>
            </a:r>
            <a:r>
              <a:rPr sz="1300" b="1" i="0">
                <a:solidFill>
                  <a:srgbClr val="1A1D21"/>
                </a:solidFill>
                <a:latin typeface="Helvetica Neue"/>
              </a:rPr>
              <a:t>We do not inherit </a:t>
            </a:r>
            <a:r>
              <a:rPr sz="1300" b="1" i="0">
                <a:solidFill>
                  <a:srgbClr val="9C2C4E"/>
                </a:solidFill>
                <a:latin typeface="Menlo"/>
              </a:rPr>
              <a:t>spring-boot-starter-parent</a:t>
            </a:r>
            <a:r>
              <a:rPr sz="1300" b="0" i="0">
                <a:solidFill>
                  <a:srgbClr val="1A1D21"/>
                </a:solidFill>
                <a:latin typeface="Helvetica Neue"/>
              </a:rPr>
              <a:t>, so its defaults are missing and each absence fails late, looking like something else. Three so far: the </a:t>
            </a:r>
            <a:r>
              <a:rPr sz="1300" b="0" i="0">
                <a:solidFill>
                  <a:srgbClr val="9C2C4E"/>
                </a:solidFill>
                <a:latin typeface="Menlo"/>
              </a:rPr>
              <a:t>repackage</a:t>
            </a:r>
            <a:r>
              <a:rPr sz="1300" b="0" i="0">
                <a:solidFill>
                  <a:srgbClr val="1A1D21"/>
                </a:solidFill>
                <a:latin typeface="Helvetica Neue"/>
              </a:rPr>
              <a:t> goal unbound ('no main manifest attribute'), </a:t>
            </a:r>
            <a:r>
              <a:rPr sz="1300" b="0" i="0">
                <a:solidFill>
                  <a:srgbClr val="9C2C4E"/>
                </a:solidFill>
                <a:latin typeface="Menlo"/>
              </a:rPr>
              <a:t>spring-boot-flyway</a:t>
            </a:r>
            <a:r>
              <a:rPr sz="1300" b="0" i="0">
                <a:solidFill>
                  <a:srgbClr val="1A1D21"/>
                </a:solidFill>
                <a:latin typeface="Helvetica Neue"/>
              </a:rPr>
              <a:t> absent so migrations silently never ran, and </a:t>
            </a:r>
            <a:r>
              <a:rPr sz="1300" b="0" i="0">
                <a:solidFill>
                  <a:srgbClr val="9C2C4E"/>
                </a:solidFill>
                <a:latin typeface="Menlo"/>
              </a:rPr>
              <a:t>-parameters</a:t>
            </a:r>
            <a:r>
              <a:rPr sz="1300" b="0" i="0">
                <a:solidFill>
                  <a:srgbClr val="1A1D21"/>
                </a:solidFill>
                <a:latin typeface="Helvetica Neue"/>
              </a:rPr>
              <a:t> off so every </a:t>
            </a:r>
            <a:r>
              <a:rPr sz="1300" b="0" i="0">
                <a:solidFill>
                  <a:srgbClr val="9C2C4E"/>
                </a:solidFill>
                <a:latin typeface="Menlo"/>
              </a:rPr>
              <a:t>@PathVariable</a:t>
            </a:r>
            <a:r>
              <a:rPr sz="1300" b="0" i="0">
                <a:solidFill>
                  <a:srgbClr val="1A1D21"/>
                </a:solidFill>
                <a:latin typeface="Helvetica Neue"/>
              </a:rPr>
              <a:t> threw a 500 at request time. Expect more of the same shape.</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Spring Boot 4 splits auto-configuration into per-technology modules.</a:t>
            </a:r>
            <a:r>
              <a:rPr sz="1300" b="0" i="0">
                <a:solidFill>
                  <a:srgbClr val="1A1D21"/>
                </a:solidFill>
                <a:latin typeface="Helvetica Neue"/>
              </a:rPr>
              <a:t> A library on the classpath is not enough — check it is actually </a:t>
            </a:r>
            <a:r>
              <a:rPr sz="1300" b="0" i="1">
                <a:solidFill>
                  <a:srgbClr val="1A1D21"/>
                </a:solidFill>
                <a:latin typeface="Helvetica Neue"/>
              </a:rPr>
              <a:t>doing</a:t>
            </a:r>
            <a:r>
              <a:rPr sz="1300" b="0" i="0">
                <a:solidFill>
                  <a:srgbClr val="1A1D21"/>
                </a:solidFill>
                <a:latin typeface="Helvetica Neue"/>
              </a:rPr>
              <a:t> something, not merely present. </a:t>
            </a:r>
            <a:r>
              <a:rPr sz="1300" b="0" i="0">
                <a:solidFill>
                  <a:srgbClr val="9C2C4E"/>
                </a:solidFill>
                <a:latin typeface="Menlo"/>
              </a:rPr>
              <a:t>DataSourceProperties</a:t>
            </a:r>
            <a:r>
              <a:rPr sz="1300" b="0" i="0">
                <a:solidFill>
                  <a:srgbClr val="1A1D21"/>
                </a:solidFill>
                <a:latin typeface="Helvetica Neue"/>
              </a:rPr>
              <a:t> also moved package, and the failure is a bare 'cannot find symbol' that looks like a missing dependency.</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Declaring a </a:t>
            </a:r>
            <a:r>
              <a:rPr sz="1300" b="1" i="0">
                <a:solidFill>
                  <a:srgbClr val="9C2C4E"/>
                </a:solidFill>
                <a:latin typeface="Menlo"/>
              </a:rPr>
              <a:t>DataSource</a:t>
            </a:r>
            <a:r>
              <a:rPr sz="1300" b="1" i="0">
                <a:solidFill>
                  <a:srgbClr val="1A1D21"/>
                </a:solidFill>
                <a:latin typeface="Helvetica Neue"/>
              </a:rPr>
              <a:t> bean disables Boot's datasource auto-configuration entirely</a:t>
            </a:r>
            <a:r>
              <a:rPr sz="1300" b="0" i="0">
                <a:solidFill>
                  <a:srgbClr val="1A1D21"/>
                </a:solidFill>
                <a:latin typeface="Helvetica Neue"/>
              </a:rPr>
              <a:t>, so both of P2.2's datasources must be declared by hand. Omitting </a:t>
            </a:r>
            <a:r>
              <a:rPr sz="1300" b="0" i="0">
                <a:solidFill>
                  <a:srgbClr val="9C2C4E"/>
                </a:solidFill>
                <a:latin typeface="Menlo"/>
              </a:rPr>
              <a:t>@Primary</a:t>
            </a:r>
            <a:r>
              <a:rPr sz="1300" b="0" i="0">
                <a:solidFill>
                  <a:srgbClr val="1A1D21"/>
                </a:solidFill>
                <a:latin typeface="Helvetica Neue"/>
              </a:rPr>
              <a:t> surfaces as an </a:t>
            </a:r>
            <a:r>
              <a:rPr sz="1300" b="0" i="0">
                <a:solidFill>
                  <a:srgbClr val="9C2C4E"/>
                </a:solidFill>
                <a:latin typeface="Menlo"/>
              </a:rPr>
              <a:t>EntityManagerFactory</a:t>
            </a:r>
            <a:r>
              <a:rPr sz="1300" b="0" i="0">
                <a:solidFill>
                  <a:srgbClr val="1A1D21"/>
                </a:solidFill>
                <a:latin typeface="Helvetica Neue"/>
              </a:rPr>
              <a:t> failure mentioning nothing about datasources.</a:t>
            </a:r>
          </a:p>
        </p:txBody>
      </p:sp>
      <p:sp>
        <p:nvSpPr>
          <p:cNvPr id="8" name="TextBox 7"/>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9" name="TextBox 8"/>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22   </a:t>
            </a:r>
            <a:r>
              <a:rPr sz="2200" b="1">
                <a:solidFill>
                  <a:srgbClr val="14304A"/>
                </a:solidFill>
                <a:latin typeface="Helvetica Neue"/>
              </a:rPr>
              <a:t>Testing and verification</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11057839" cy="822960"/>
          </a:xfrm>
          <a:prstGeom prst="rect">
            <a:avLst/>
          </a:prstGeom>
          <a:solidFill>
            <a:srgbClr val="17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225296"/>
            <a:ext cx="10765231" cy="640080"/>
          </a:xfrm>
          <a:prstGeom prst="rect">
            <a:avLst/>
          </a:prstGeom>
          <a:noFill/>
        </p:spPr>
        <p:txBody>
          <a:bodyPr wrap="none" lIns="0" rIns="0" tIns="0" bIns="0">
            <a:spAutoFit/>
          </a:bodyPr>
          <a:lstStyle/>
          <a:p>
            <a:pPr>
              <a:lnSpc>
                <a:spcPct val="100000"/>
              </a:lnSpc>
              <a:spcAft>
                <a:spcPts val="0"/>
              </a:spcAft>
            </a:pPr>
            <a:r>
              <a:rPr sz="1000">
                <a:solidFill>
                  <a:srgbClr val="DBE6F0"/>
                </a:solidFill>
                <a:latin typeface="Menlo"/>
              </a:rPr>
              <a:t>mvn -q package -DskipTests      # build all modules</a:t>
            </a:r>
          </a:p>
          <a:p>
            <a:pPr>
              <a:lnSpc>
                <a:spcPct val="100000"/>
              </a:lnSpc>
              <a:spcAft>
                <a:spcPts val="0"/>
              </a:spcAft>
            </a:pPr>
            <a:r>
              <a:rPr sz="1000">
                <a:solidFill>
                  <a:srgbClr val="DBE6F0"/>
                </a:solidFill>
                <a:latin typeface="Menlo"/>
              </a:rPr>
              <a:t>mvn package                     # build and run every test</a:t>
            </a:r>
          </a:p>
          <a:p>
            <a:pPr>
              <a:lnSpc>
                <a:spcPct val="100000"/>
              </a:lnSpc>
              <a:spcAft>
                <a:spcPts val="0"/>
              </a:spcAft>
            </a:pPr>
            <a:r>
              <a:rPr sz="1000">
                <a:solidFill>
                  <a:srgbClr val="DBE6F0"/>
                </a:solidFill>
                <a:latin typeface="Menlo"/>
              </a:rPr>
              <a:t>cd frontend &amp;&amp; npm run check    # ng build &amp;&amp; ng test --no-watch</a:t>
            </a:r>
          </a:p>
          <a:p>
            <a:pPr>
              <a:lnSpc>
                <a:spcPct val="100000"/>
              </a:lnSpc>
              <a:spcAft>
                <a:spcPts val="0"/>
              </a:spcAft>
            </a:pPr>
            <a:r>
              <a:rPr sz="1000">
                <a:solidFill>
                  <a:srgbClr val="DBE6F0"/>
                </a:solidFill>
                <a:latin typeface="Menlo"/>
              </a:rPr>
              <a:t>./infra/smoke-test.sh           # datastores reachable from the host</a:t>
            </a:r>
          </a:p>
        </p:txBody>
      </p:sp>
      <p:sp>
        <p:nvSpPr>
          <p:cNvPr id="6" name="Rectangle 5"/>
          <p:cNvSpPr/>
          <p:nvPr/>
        </p:nvSpPr>
        <p:spPr>
          <a:xfrm>
            <a:off x="566928" y="2121408"/>
            <a:ext cx="11057839" cy="576072"/>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2121408"/>
            <a:ext cx="50292" cy="5760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221992"/>
            <a:ext cx="10710367" cy="374904"/>
          </a:xfrm>
          <a:prstGeom prst="rect">
            <a:avLst/>
          </a:prstGeom>
          <a:noFill/>
        </p:spPr>
        <p:txBody>
          <a:bodyPr wrap="square" lIns="0" rIns="0" tIns="0" bIns="0">
            <a:spAutoFit/>
          </a:bodyPr>
          <a:lstStyle/>
          <a:p>
            <a:pPr>
              <a:lnSpc>
                <a:spcPct val="106000"/>
              </a:lnSpc>
              <a:spcAft>
                <a:spcPts val="200"/>
              </a:spcAft>
            </a:pPr>
            <a:r>
              <a:rPr sz="1200" b="1" i="0">
                <a:solidFill>
                  <a:srgbClr val="5C4500"/>
                </a:solidFill>
                <a:latin typeface="Helvetica Neue"/>
              </a:rPr>
              <a:t>Java tests log ERROR lines on purpose</a:t>
            </a:r>
            <a:r>
              <a:rPr sz="1200" b="0" i="0">
                <a:solidFill>
                  <a:srgbClr val="5C4500"/>
                </a:solidFill>
                <a:latin typeface="Helvetica Neue"/>
              </a:rPr>
              <a:t> — several assert failure paths ('archive unreachable', 'P2 unreachable', a deliberately injected broker failure). Grep for </a:t>
            </a:r>
            <a:r>
              <a:rPr sz="1200" b="0" i="0">
                <a:solidFill>
                  <a:srgbClr val="9C2C4E"/>
                </a:solidFill>
                <a:latin typeface="Menlo"/>
              </a:rPr>
              <a:t>BUILD SUCCESS</a:t>
            </a:r>
            <a:r>
              <a:rPr sz="1200" b="0" i="0">
                <a:solidFill>
                  <a:srgbClr val="5C4500"/>
                </a:solidFill>
                <a:latin typeface="Helvetica Neue"/>
              </a:rPr>
              <a:t>, not for the absence of errors.</a:t>
            </a:r>
          </a:p>
        </p:txBody>
      </p:sp>
      <p:sp>
        <p:nvSpPr>
          <p:cNvPr id="9" name="TextBox 8"/>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10" name="TextBox 9"/>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22   </a:t>
            </a:r>
            <a:r>
              <a:rPr sz="2200" b="1">
                <a:solidFill>
                  <a:srgbClr val="14304A"/>
                </a:solidFill>
                <a:latin typeface="Helvetica Neue"/>
              </a:rPr>
              <a:t>Testing and verification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133856"/>
          <a:ext cx="11057839" cy="3465575"/>
        </p:xfrm>
        <a:graphic>
          <a:graphicData uri="http://schemas.openxmlformats.org/drawingml/2006/table">
            <a:tbl>
              <a:tblPr firstRow="1">
                <a:tableStyleId>{5C22544A-7EE6-4342-B048-85BDC9FD1C3A}</a:tableStyleId>
              </a:tblPr>
              <a:tblGrid>
                <a:gridCol w="3356844"/>
                <a:gridCol w="7700995"/>
              </a:tblGrid>
              <a:tr h="274320">
                <a:tc>
                  <a:txBody>
                    <a:bodyPr wrap="square"/>
                    <a:lstStyle/>
                    <a:p>
                      <a:pPr algn="l">
                        <a:lnSpc>
                          <a:spcPct val="104000"/>
                        </a:lnSpc>
                      </a:pPr>
                      <a:r>
                        <a:rPr sz="1050" b="1" i="0">
                          <a:solidFill>
                            <a:srgbClr val="FFFFFF"/>
                          </a:solidFill>
                          <a:latin typeface="Helvetica Neue"/>
                        </a:rPr>
                        <a:t>Test</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What it actually proves</a:t>
                      </a:r>
                    </a:p>
                  </a:txBody>
                  <a:tcPr marL="64008" marR="64008" marT="32004" marB="32004" anchor="t">
                    <a:solidFill>
                      <a:srgbClr val="1F4E79"/>
                    </a:solidFill>
                  </a:tcPr>
                </a:tc>
              </a:tr>
              <a:tr h="438912">
                <a:tc>
                  <a:txBody>
                    <a:bodyPr wrap="square"/>
                    <a:lstStyle/>
                    <a:p>
                      <a:pPr algn="l">
                        <a:lnSpc>
                          <a:spcPct val="104000"/>
                        </a:lnSpc>
                      </a:pPr>
                      <a:r>
                        <a:rPr sz="1050" b="0" i="0">
                          <a:solidFill>
                            <a:srgbClr val="1A1D21"/>
                          </a:solidFill>
                          <a:latin typeface="Helvetica Neue"/>
                        </a:rPr>
                        <a:t>DispositionIntegrationTest</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The sweep against two real Postgres instances via Testcontainers. Booting the context is itself the assertion that Flyway and the entities agree under </a:t>
                      </a:r>
                      <a:r>
                        <a:rPr sz="1050" b="0" i="0">
                          <a:solidFill>
                            <a:srgbClr val="1A1D21"/>
                          </a:solidFill>
                          <a:latin typeface="Menlo"/>
                        </a:rPr>
                        <a:t>ddl-auto: validate</a:t>
                      </a:r>
                    </a:p>
                  </a:txBody>
                  <a:tcPr marL="64008" marR="64008" marT="32004" marB="32004" anchor="t">
                    <a:solidFill>
                      <a:srgbClr val="FFFFFF"/>
                    </a:solidFill>
                  </a:tcPr>
                </a:tc>
              </a:tr>
              <a:tr h="598931">
                <a:tc>
                  <a:txBody>
                    <a:bodyPr wrap="square"/>
                    <a:lstStyle/>
                    <a:p>
                      <a:pPr algn="l">
                        <a:lnSpc>
                          <a:spcPct val="104000"/>
                        </a:lnSpc>
                      </a:pPr>
                      <a:r>
                        <a:rPr sz="1050" b="0" i="0">
                          <a:solidFill>
                            <a:srgbClr val="1A1D21"/>
                          </a:solidFill>
                          <a:latin typeface="Helvetica Neue"/>
                        </a:rPr>
                        <a:t>DeleteLoopKafkaIntegrationTest</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The delete loop against a real broker. The test plays P2: consumes the command, answers with a receipt, asserts the ledger settles — and that a redelivered receipt cannot rewrite it</a:t>
                      </a:r>
                    </a:p>
                  </a:txBody>
                  <a:tcPr marL="64008" marR="64008" marT="32004" marB="32004" anchor="t">
                    <a:solidFill>
                      <a:srgbClr val="F4F7FA"/>
                    </a:solidFill>
                  </a:tcPr>
                </a:tc>
              </a:tr>
              <a:tr h="438912">
                <a:tc>
                  <a:txBody>
                    <a:bodyPr wrap="square"/>
                    <a:lstStyle/>
                    <a:p>
                      <a:pPr algn="l">
                        <a:lnSpc>
                          <a:spcPct val="104000"/>
                        </a:lnSpc>
                      </a:pPr>
                      <a:r>
                        <a:rPr sz="1050" b="0" i="0">
                          <a:solidFill>
                            <a:srgbClr val="1A1D21"/>
                          </a:solidFill>
                          <a:latin typeface="Helvetica Neue"/>
                        </a:rPr>
                        <a:t>DispositionCommandIntegrationTest</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P2's half: a command on the topic, a row gone from a real archive, a receipt back — and a held message still there</a:t>
                      </a:r>
                    </a:p>
                  </a:txBody>
                  <a:tcPr marL="64008" marR="64008" marT="32004" marB="32004" anchor="t">
                    <a:solidFill>
                      <a:srgbClr val="FFFFFF"/>
                    </a:solidFill>
                  </a:tcPr>
                </a:tc>
              </a:tr>
              <a:tr h="438912">
                <a:tc>
                  <a:txBody>
                    <a:bodyPr wrap="square"/>
                    <a:lstStyle/>
                    <a:p>
                      <a:pPr algn="l">
                        <a:lnSpc>
                          <a:spcPct val="104000"/>
                        </a:lnSpc>
                      </a:pPr>
                      <a:r>
                        <a:rPr sz="1050" b="0" i="0">
                          <a:solidFill>
                            <a:srgbClr val="1A1D21"/>
                          </a:solidFill>
                          <a:latin typeface="Helvetica Neue"/>
                        </a:rPr>
                        <a:t>JdbcMessageDeleterTest</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Menlo"/>
                        </a:rPr>
                        <a:t>AND on_hold = false</a:t>
                      </a:r>
                      <a:r>
                        <a:rPr sz="1050" b="0" i="0">
                          <a:solidFill>
                            <a:srgbClr val="1A1D21"/>
                          </a:solidFill>
                          <a:latin typeface="Helvetica Neue"/>
                        </a:rPr>
                        <a:t> enforced by a real database (H2 with P2's own DDL). No amount of mocking would show that it works</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…BeforeP4HasExpandedIt</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The propagation window — guard 2</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…EvenWhenItIsOutsideThatHoldsScope</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The scope-versus-contents gap — guard 3</a:t>
                      </a:r>
                    </a:p>
                  </a:txBody>
                  <a:tcPr marL="64008" marR="64008" marT="32004" marB="32004" anchor="t">
                    <a:solidFill>
                      <a:srgbClr val="F4F7FA"/>
                    </a:solidFill>
                  </a:tcPr>
                </a:tc>
              </a:tr>
              <a:tr h="438912">
                <a:tc>
                  <a:txBody>
                    <a:bodyPr wrap="square"/>
                    <a:lstStyle/>
                    <a:p>
                      <a:pPr algn="l">
                        <a:lnSpc>
                          <a:spcPct val="104000"/>
                        </a:lnSpc>
                      </a:pPr>
                      <a:r>
                        <a:rPr sz="1050" b="0" i="0">
                          <a:solidFill>
                            <a:srgbClr val="1A1D21"/>
                          </a:solidFill>
                          <a:latin typeface="Helvetica Neue"/>
                        </a:rPr>
                        <a:t>pages.spec.ts</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Every page mounted with </a:t>
                      </a:r>
                      <a:r>
                        <a:rPr sz="1050" b="1" i="0">
                          <a:solidFill>
                            <a:srgbClr val="1A1D21"/>
                          </a:solidFill>
                          <a:latin typeface="Helvetica Neue"/>
                        </a:rPr>
                        <a:t>every</a:t>
                      </a:r>
                      <a:r>
                        <a:rPr sz="1050" b="0" i="0">
                          <a:solidFill>
                            <a:srgbClr val="1A1D21"/>
                          </a:solidFill>
                          <a:latin typeface="Helvetica Neue"/>
                        </a:rPr>
                        <a:t> service down, asserting it still renders and names what is missing</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resilience.spec.ts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One service failing leaves the others resolved; a failed panel recovers on reload</a:t>
                      </a:r>
                    </a:p>
                  </a:txBody>
                  <a:tcPr marL="64008" marR="64008" marT="32004" marB="32004" anchor="t">
                    <a:solidFill>
                      <a:srgbClr val="F4F7FA"/>
                    </a:solidFill>
                  </a:tcPr>
                </a:tc>
              </a:tr>
            </a:tbl>
          </a:graphicData>
        </a:graphic>
      </p:graphicFrame>
      <p:sp>
        <p:nvSpPr>
          <p:cNvPr id="5" name="TextBox 4"/>
          <p:cNvSpPr txBox="1"/>
          <p:nvPr/>
        </p:nvSpPr>
        <p:spPr>
          <a:xfrm>
            <a:off x="566928" y="4873752"/>
            <a:ext cx="11057839" cy="896112"/>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One detail worth copying: </a:t>
            </a:r>
            <a:r>
              <a:rPr sz="1300" b="0" i="0">
                <a:solidFill>
                  <a:srgbClr val="9C2C4E"/>
                </a:solidFill>
                <a:latin typeface="Menlo"/>
              </a:rPr>
              <a:t>DispositionIntegrationTest</a:t>
            </a:r>
            <a:r>
              <a:rPr sz="1300" b="0" i="0">
                <a:solidFill>
                  <a:srgbClr val="1A1D21"/>
                </a:solidFill>
                <a:latin typeface="Helvetica Neue"/>
              </a:rPr>
              <a:t> builds the archive schema from </a:t>
            </a:r>
            <a:r>
              <a:rPr sz="1300" b="1" i="0">
                <a:solidFill>
                  <a:srgbClr val="1A1D21"/>
                </a:solidFill>
                <a:latin typeface="Helvetica Neue"/>
              </a:rPr>
              <a:t>P2's own migration file</a:t>
            </a:r>
            <a:r>
              <a:rPr sz="1300" b="0" i="0">
                <a:solidFill>
                  <a:srgbClr val="1A1D21"/>
                </a:solidFill>
                <a:latin typeface="Helvetica Neue"/>
              </a:rPr>
              <a:t>, read out of </a:t>
            </a:r>
            <a:r>
              <a:rPr sz="1300" b="0" i="0">
                <a:solidFill>
                  <a:srgbClr val="9C2C4E"/>
                </a:solidFill>
                <a:latin typeface="Menlo"/>
              </a:rPr>
              <a:t>services/storage-service</a:t>
            </a:r>
            <a:r>
              <a:rPr sz="1300" b="0" i="0">
                <a:solidFill>
                  <a:srgbClr val="1A1D21"/>
                </a:solidFill>
                <a:latin typeface="Helvetica Neue"/>
              </a:rPr>
              <a:t>, rather than from a copy. </a:t>
            </a:r>
            <a:r>
              <a:rPr sz="1300" b="0" i="0">
                <a:solidFill>
                  <a:srgbClr val="9C2C4E"/>
                </a:solidFill>
                <a:latin typeface="Menlo"/>
              </a:rPr>
              <a:t>JdbcArchiveGateway</a:t>
            </a:r>
            <a:r>
              <a:rPr sz="1300" b="0" i="0">
                <a:solidFill>
                  <a:srgbClr val="1A1D21"/>
                </a:solidFill>
                <a:latin typeface="Helvetica Neue"/>
              </a:rPr>
              <a:t> hand-writes SQL against another service's table, so the failure it is exposed to is P2 renaming a column — which compiles fine and breaks at run time. A copied fixture would keep passing after such a rename; the real file means the build breaks the moment the contract does.</a:t>
            </a:r>
          </a:p>
        </p:txBody>
      </p:sp>
      <p:sp>
        <p:nvSpPr>
          <p:cNvPr id="6" name="TextBox 5"/>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7" name="TextBox 6"/>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23   </a:t>
            </a:r>
            <a:r>
              <a:rPr sz="2200" b="1">
                <a:solidFill>
                  <a:srgbClr val="14304A"/>
                </a:solidFill>
                <a:latin typeface="Helvetica Neue"/>
              </a:rPr>
              <a:t>Current state of your running stack</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306323"/>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Observed live on 2026-09-14, with all 20 containers up via </a:t>
            </a:r>
            <a:r>
              <a:rPr sz="1300" b="0" i="0">
                <a:solidFill>
                  <a:srgbClr val="9C2C4E"/>
                </a:solidFill>
                <a:latin typeface="Menlo"/>
              </a:rPr>
              <a:t>--profile app</a:t>
            </a:r>
            <a:r>
              <a:rPr sz="1300" b="0" i="0">
                <a:solidFill>
                  <a:srgbClr val="1A1D21"/>
                </a:solidFill>
                <a:latin typeface="Helvetica Neue"/>
              </a:rPr>
              <a:t>:</a:t>
            </a:r>
          </a:p>
        </p:txBody>
      </p:sp>
      <p:graphicFrame>
        <p:nvGraphicFramePr>
          <p:cNvPr id="5" name="Table 4"/>
          <p:cNvGraphicFramePr>
            <a:graphicFrameLocks noGrp="1"/>
          </p:cNvGraphicFramePr>
          <p:nvPr/>
        </p:nvGraphicFramePr>
        <p:xfrm>
          <a:off x="566928" y="1531619"/>
          <a:ext cx="11057838" cy="2505456"/>
        </p:xfrm>
        <a:graphic>
          <a:graphicData uri="http://schemas.openxmlformats.org/drawingml/2006/table">
            <a:tbl>
              <a:tblPr firstRow="1">
                <a:tableStyleId>{5C22544A-7EE6-4342-B048-85BDC9FD1C3A}</a:tableStyleId>
              </a:tblPr>
              <a:tblGrid>
                <a:gridCol w="3236440"/>
                <a:gridCol w="3506144"/>
                <a:gridCol w="4315254"/>
              </a:tblGrid>
              <a:tr h="274320">
                <a:tc>
                  <a:txBody>
                    <a:bodyPr wrap="square"/>
                    <a:lstStyle/>
                    <a:p>
                      <a:pPr algn="l">
                        <a:lnSpc>
                          <a:spcPct val="104000"/>
                        </a:lnSpc>
                      </a:pPr>
                      <a:r>
                        <a:rPr sz="1050" b="1" i="0">
                          <a:solidFill>
                            <a:srgbClr val="FFFFFF"/>
                          </a:solidFill>
                          <a:latin typeface="Helvetica Neue"/>
                        </a:rPr>
                        <a:t>Observation</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Value</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Reading</a:t>
                      </a:r>
                    </a:p>
                  </a:txBody>
                  <a:tcPr marL="64008" marR="64008" marT="32004" marB="32004" anchor="t">
                    <a:solidFill>
                      <a:srgbClr val="1F4E79"/>
                    </a:solidFill>
                  </a:tcPr>
                </a:tc>
              </a:tr>
              <a:tr h="278892">
                <a:tc>
                  <a:txBody>
                    <a:bodyPr wrap="square"/>
                    <a:lstStyle/>
                    <a:p>
                      <a:pPr algn="l">
                        <a:lnSpc>
                          <a:spcPct val="104000"/>
                        </a:lnSpc>
                      </a:pPr>
                      <a:r>
                        <a:rPr sz="1050" b="0" i="0">
                          <a:solidFill>
                            <a:srgbClr val="1A1D21"/>
                          </a:solidFill>
                          <a:latin typeface="Helvetica Neue"/>
                        </a:rPr>
                        <a:t>Messages in the archive (Mongo)</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8,495</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Below 12,000 — sweeps have run</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Documents in the Elasticsearch index</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12,009</a:t>
                      </a:r>
                    </a:p>
                  </a:txBody>
                  <a:tcPr marL="64008" marR="64008" marT="32004" marB="32004" anchor="t">
                    <a:solidFill>
                      <a:srgbClr val="F4F7FA"/>
                    </a:solidFill>
                  </a:tcPr>
                </a:tc>
                <a:tc>
                  <a:txBody>
                    <a:bodyPr wrap="square"/>
                    <a:lstStyle/>
                    <a:p>
                      <a:pPr algn="l">
                        <a:lnSpc>
                          <a:spcPct val="104000"/>
                        </a:lnSpc>
                      </a:pPr>
                      <a:r>
                        <a:rPr sz="1050" b="1" i="0">
                          <a:solidFill>
                            <a:srgbClr val="1A1D21"/>
                          </a:solidFill>
                          <a:latin typeface="Helvetica Neue"/>
                        </a:rPr>
                        <a:t>Drifted from the archive</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Disposition runs recorded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13</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totalDeleted 28, totalSkippedByHold 0</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Candidates in the next sweep</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0</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The expired backlog has already been swept</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Retention periods in force</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EMAIL PT61320H (7y), CHAT PT26280H (3y)</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Defaults, unmodified</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holdScopeAvailable</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true</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P4 is reachable — a quiet sweep would be genuine</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Delete mode / hold check</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KAFKA / required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The safe configuration</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Active holds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0</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Nothing is currently protected</a:t>
                      </a:r>
                    </a:p>
                  </a:txBody>
                  <a:tcPr marL="64008" marR="64008" marT="32004" marB="32004" anchor="t">
                    <a:solidFill>
                      <a:srgbClr val="F4F7FA"/>
                    </a:solidFill>
                  </a:tcPr>
                </a:tc>
              </a:tr>
            </a:tbl>
          </a:graphicData>
        </a:graphic>
      </p:graphicFrame>
      <p:sp>
        <p:nvSpPr>
          <p:cNvPr id="6" name="Rectangle 5"/>
          <p:cNvSpPr/>
          <p:nvPr/>
        </p:nvSpPr>
        <p:spPr>
          <a:xfrm>
            <a:off x="566928" y="4311396"/>
            <a:ext cx="11057839" cy="772668"/>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4311396"/>
            <a:ext cx="50292" cy="77266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11980"/>
            <a:ext cx="10710367" cy="571500"/>
          </a:xfrm>
          <a:prstGeom prst="rect">
            <a:avLst/>
          </a:prstGeom>
          <a:noFill/>
        </p:spPr>
        <p:txBody>
          <a:bodyPr wrap="square" lIns="0" rIns="0" tIns="0" bIns="0">
            <a:spAutoFit/>
          </a:bodyPr>
          <a:lstStyle/>
          <a:p>
            <a:pPr>
              <a:lnSpc>
                <a:spcPct val="106000"/>
              </a:lnSpc>
              <a:spcAft>
                <a:spcPts val="200"/>
              </a:spcAft>
            </a:pPr>
            <a:r>
              <a:rPr sz="1200" b="1" i="0">
                <a:solidFill>
                  <a:srgbClr val="5C4500"/>
                </a:solidFill>
                <a:latin typeface="Helvetica Neue"/>
              </a:rPr>
              <a:t>The 8,495 / 12,009 gap is the known P2↔P3 drift</a:t>
            </a:r>
            <a:r>
              <a:rPr sz="1200" b="0" i="0">
                <a:solidFill>
                  <a:srgbClr val="5C4500"/>
                </a:solidFill>
                <a:latin typeface="Helvetica Neue"/>
              </a:rPr>
              <a:t>, not something you broke. A sweep deletes from the archive without removing the document from the search index, so Elasticsearch keeps returning hits for messages P2 no longer holds. Expect 'message not found' on some search results until the index is rebuilt.</a:t>
            </a:r>
          </a:p>
        </p:txBody>
      </p:sp>
      <p:sp>
        <p:nvSpPr>
          <p:cNvPr id="9" name="TextBox 8"/>
          <p:cNvSpPr txBox="1"/>
          <p:nvPr/>
        </p:nvSpPr>
        <p:spPr>
          <a:xfrm>
            <a:off x="566928" y="5248656"/>
            <a:ext cx="11057839" cy="699516"/>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One documentation discrepancy worth knowing, since it would mislead you: </a:t>
            </a:r>
            <a:r>
              <a:rPr sz="1300" b="0" i="0">
                <a:solidFill>
                  <a:srgbClr val="9C2C4E"/>
                </a:solidFill>
                <a:latin typeface="Menlo"/>
              </a:rPr>
              <a:t>frontend/README.md</a:t>
            </a:r>
            <a:r>
              <a:rPr sz="1300" b="0" i="0">
                <a:solidFill>
                  <a:srgbClr val="1A1D21"/>
                </a:solidFill>
                <a:latin typeface="Helvetica Neue"/>
              </a:rPr>
              <a:t> states that </a:t>
            </a:r>
            <a:r>
              <a:rPr sz="1300" b="0" i="0">
                <a:solidFill>
                  <a:srgbClr val="9C2C4E"/>
                </a:solidFill>
                <a:latin typeface="Menlo"/>
              </a:rPr>
              <a:t>GET /holds/active</a:t>
            </a:r>
            <a:r>
              <a:rPr sz="1300" b="0" i="0">
                <a:solidFill>
                  <a:srgbClr val="1A1D21"/>
                </a:solidFill>
                <a:latin typeface="Helvetica Neue"/>
              </a:rPr>
              <a:t> and </a:t>
            </a:r>
            <a:r>
              <a:rPr sz="1300" b="0" i="0">
                <a:solidFill>
                  <a:srgbClr val="9C2C4E"/>
                </a:solidFill>
                <a:latin typeface="Menlo"/>
              </a:rPr>
              <a:t>POST /holds/evidence-check</a:t>
            </a:r>
            <a:r>
              <a:rPr sz="1300" b="0" i="0">
                <a:solidFill>
                  <a:srgbClr val="1A1D21"/>
                </a:solidFill>
                <a:latin typeface="Helvetica Neue"/>
              </a:rPr>
              <a:t> </a:t>
            </a:r>
            <a:r>
              <a:rPr sz="1300" b="0" i="1">
                <a:solidFill>
                  <a:srgbClr val="1A1D21"/>
                </a:solidFill>
                <a:latin typeface="Helvetica Neue"/>
              </a:rPr>
              <a:t>do not exist</a:t>
            </a:r>
            <a:r>
              <a:rPr sz="1300" b="0" i="0">
                <a:solidFill>
                  <a:srgbClr val="1A1D21"/>
                </a:solidFill>
                <a:latin typeface="Helvetica Neue"/>
              </a:rPr>
              <a:t> and that hold-service answers 404 and 405. That is stale. Both were verified answering 200 on your stack, and </a:t>
            </a:r>
            <a:r>
              <a:rPr sz="1300" b="0" i="0">
                <a:solidFill>
                  <a:srgbClr val="9C2C4E"/>
                </a:solidFill>
                <a:latin typeface="Menlo"/>
              </a:rPr>
              <a:t>holdScopeAvailable</a:t>
            </a:r>
            <a:r>
              <a:rPr sz="1300" b="0" i="0">
                <a:solidFill>
                  <a:srgbClr val="1A1D21"/>
                </a:solidFill>
                <a:latin typeface="Helvetica Neue"/>
              </a:rPr>
              <a:t> reads </a:t>
            </a:r>
            <a:r>
              <a:rPr sz="1300" b="0" i="0">
                <a:solidFill>
                  <a:srgbClr val="9C2C4E"/>
                </a:solidFill>
                <a:latin typeface="Menlo"/>
              </a:rPr>
              <a:t>true</a:t>
            </a:r>
            <a:r>
              <a:rPr sz="1300" b="0" i="0">
                <a:solidFill>
                  <a:srgbClr val="1A1D21"/>
                </a:solidFill>
                <a:latin typeface="Helvetica Neue"/>
              </a:rPr>
              <a:t>. The root README and </a:t>
            </a:r>
            <a:r>
              <a:rPr sz="1300" b="0" i="0">
                <a:solidFill>
                  <a:srgbClr val="9C2C4E"/>
                </a:solidFill>
                <a:latin typeface="Menlo"/>
              </a:rPr>
              <a:t>DISPOSITION.md</a:t>
            </a:r>
            <a:r>
              <a:rPr sz="1300" b="0" i="0">
                <a:solidFill>
                  <a:srgbClr val="1A1D21"/>
                </a:solidFill>
                <a:latin typeface="Helvetica Neue"/>
              </a:rPr>
              <a:t> are correct; the frontend README is behind.</a:t>
            </a:r>
          </a:p>
        </p:txBody>
      </p:sp>
      <p:sp>
        <p:nvSpPr>
          <p:cNvPr id="10" name="TextBox 9"/>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11" name="TextBox 10"/>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24   </a:t>
            </a:r>
            <a:r>
              <a:rPr sz="2200" b="1">
                <a:solidFill>
                  <a:srgbClr val="14304A"/>
                </a:solidFill>
                <a:latin typeface="Helvetica Neue"/>
              </a:rPr>
              <a:t>A demo script that exercises the whole system</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306323"/>
          </a:xfrm>
          <a:prstGeom prst="rect">
            <a:avLst/>
          </a:prstGeom>
          <a:noFill/>
        </p:spPr>
        <p:txBody>
          <a:bodyPr wrap="square" lIns="0" rIns="0" tIns="0" bIns="0">
            <a:spAutoFit/>
          </a:bodyPr>
          <a:lstStyle/>
          <a:p>
            <a:pPr>
              <a:lnSpc>
                <a:spcPct val="106000"/>
              </a:lnSpc>
              <a:spcAft>
                <a:spcPts val="200"/>
              </a:spcAft>
            </a:pPr>
            <a:r>
              <a:rPr sz="1300" b="0" i="0">
                <a:solidFill>
                  <a:srgbClr val="1A1D21"/>
                </a:solidFill>
                <a:latin typeface="Helvetica Neue"/>
              </a:rPr>
              <a:t>Each step proves a different requirement, and the Halyard narrative gives every one of them something specific to point at.</a:t>
            </a:r>
          </a:p>
        </p:txBody>
      </p:sp>
      <p:graphicFrame>
        <p:nvGraphicFramePr>
          <p:cNvPr id="5" name="Table 4"/>
          <p:cNvGraphicFramePr>
            <a:graphicFrameLocks noGrp="1"/>
          </p:cNvGraphicFramePr>
          <p:nvPr/>
        </p:nvGraphicFramePr>
        <p:xfrm>
          <a:off x="566928" y="1531619"/>
          <a:ext cx="11057838" cy="3941064"/>
        </p:xfrm>
        <a:graphic>
          <a:graphicData uri="http://schemas.openxmlformats.org/drawingml/2006/table">
            <a:tbl>
              <a:tblPr firstRow="1">
                <a:tableStyleId>{5C22544A-7EE6-4342-B048-85BDC9FD1C3A}</a:tableStyleId>
              </a:tblPr>
              <a:tblGrid>
                <a:gridCol w="564999"/>
                <a:gridCol w="5569276"/>
                <a:gridCol w="4923563"/>
              </a:tblGrid>
              <a:tr h="274320">
                <a:tc>
                  <a:txBody>
                    <a:bodyPr wrap="square"/>
                    <a:lstStyle/>
                    <a:p>
                      <a:pPr algn="l">
                        <a:lnSpc>
                          <a:spcPct val="104000"/>
                        </a:lnSpc>
                      </a:pPr>
                      <a:r>
                        <a:rPr sz="1050" b="1" i="0">
                          <a:solidFill>
                            <a:srgbClr val="FFFFFF"/>
                          </a:solidFill>
                          <a:latin typeface="Helvetica Neue"/>
                        </a:rPr>
                        <a:t>#</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Step</a:t>
                      </a:r>
                    </a:p>
                  </a:txBody>
                  <a:tcPr marL="64008" marR="64008" marT="32004" marB="32004" anchor="t">
                    <a:solidFill>
                      <a:srgbClr val="1F4E79"/>
                    </a:solidFill>
                  </a:tcPr>
                </a:tc>
                <a:tc>
                  <a:txBody>
                    <a:bodyPr wrap="square"/>
                    <a:lstStyle/>
                    <a:p>
                      <a:pPr algn="l">
                        <a:lnSpc>
                          <a:spcPct val="104000"/>
                        </a:lnSpc>
                      </a:pPr>
                      <a:r>
                        <a:rPr sz="1050" b="1" i="0">
                          <a:solidFill>
                            <a:srgbClr val="FFFFFF"/>
                          </a:solidFill>
                          <a:latin typeface="Helvetica Neue"/>
                        </a:rPr>
                        <a:t>What it proves</a:t>
                      </a:r>
                    </a:p>
                  </a:txBody>
                  <a:tcPr marL="64008" marR="64008" marT="32004" marB="32004" anchor="t">
                    <a:solidFill>
                      <a:srgbClr val="1F4E79"/>
                    </a:solidFill>
                  </a:tcPr>
                </a:tc>
              </a:tr>
              <a:tr h="278892">
                <a:tc>
                  <a:txBody>
                    <a:bodyPr wrap="square"/>
                    <a:lstStyle/>
                    <a:p>
                      <a:pPr algn="l">
                        <a:lnSpc>
                          <a:spcPct val="104000"/>
                        </a:lnSpc>
                      </a:pPr>
                      <a:r>
                        <a:rPr sz="1050" b="0" i="0">
                          <a:solidFill>
                            <a:srgbClr val="1A1D21"/>
                          </a:solidFill>
                          <a:latin typeface="Helvetica Neue"/>
                        </a:rPr>
                        <a:t>1</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Upload </a:t>
                      </a:r>
                      <a:r>
                        <a:rPr sz="1050" b="0" i="0">
                          <a:solidFill>
                            <a:srgbClr val="1A1D21"/>
                          </a:solidFill>
                          <a:latin typeface="Menlo"/>
                        </a:rPr>
                        <a:t>messages.ndjson</a:t>
                      </a:r>
                      <a:r>
                        <a:rPr sz="1050" b="0" i="0">
                          <a:solidFill>
                            <a:srgbClr val="1A1D21"/>
                          </a:solidFill>
                          <a:latin typeface="Helvetica Neue"/>
                        </a:rPr>
                        <a:t>; watch accepted 12,000 / duplicates 25</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FR-1.6 dedupe, at scale</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2</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Post the identical file again — zero new messages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Idempotency is real, not claimed</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3</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Search </a:t>
                      </a:r>
                      <a:r>
                        <a:rPr sz="1050" b="0" i="0">
                          <a:solidFill>
                            <a:srgbClr val="1A1D21"/>
                          </a:solidFill>
                          <a:latin typeface="Menlo"/>
                        </a:rPr>
                        <a:t>Halyard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FR-3 index, and the narrative's spine</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4</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Open the Housekeeping message — two copies, two custodians</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Content-hash dedupe did </a:t>
                      </a:r>
                      <a:r>
                        <a:rPr sz="1050" b="0" i="1">
                          <a:solidFill>
                            <a:srgbClr val="1A1D21"/>
                          </a:solidFill>
                          <a:latin typeface="Helvetica Neue"/>
                        </a:rPr>
                        <a:t>not</a:t>
                      </a:r>
                      <a:r>
                        <a:rPr sz="1050" b="0" i="0">
                          <a:solidFill>
                            <a:srgbClr val="1A1D21"/>
                          </a:solidFill>
                          <a:latin typeface="Helvetica Neue"/>
                        </a:rPr>
                        <a:t> collapse them</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5</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Create a case, add those results as evidence</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FR-2.4, and the 'queued' honesty of async filing</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6</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Place a hold on a custodian; watch RESOLVING → ACTIVE</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FR-4.3 asynchronous propagation</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7</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Menlo"/>
                        </a:rPr>
                        <a:t>DELETE /messages/{id}</a:t>
                      </a:r>
                      <a:r>
                        <a:rPr sz="1050" b="0" i="0">
                          <a:solidFill>
                            <a:srgbClr val="1A1D21"/>
                          </a:solidFill>
                          <a:latin typeface="Helvetica Neue"/>
                        </a:rPr>
                        <a:t> on a held message → 409</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FR-4.6, demonstrably</a:t>
                      </a:r>
                    </a:p>
                  </a:txBody>
                  <a:tcPr marL="64008" marR="64008" marT="32004" marB="32004" anchor="t">
                    <a:solidFill>
                      <a:srgbClr val="FFFFFF"/>
                    </a:solidFill>
                  </a:tcPr>
                </a:tc>
              </a:tr>
              <a:tr h="438912">
                <a:tc>
                  <a:txBody>
                    <a:bodyPr wrap="square"/>
                    <a:lstStyle/>
                    <a:p>
                      <a:pPr algn="l">
                        <a:lnSpc>
                          <a:spcPct val="104000"/>
                        </a:lnSpc>
                      </a:pPr>
                      <a:r>
                        <a:rPr sz="1050" b="0" i="0">
                          <a:solidFill>
                            <a:srgbClr val="1A1D21"/>
                          </a:solidFill>
                          <a:latin typeface="Helvetica Neue"/>
                        </a:rPr>
                        <a:t>8</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Drop EMAIL retention to PT2M, run </a:t>
                      </a:r>
                      <a:r>
                        <a:rPr sz="1050" b="0" i="0">
                          <a:solidFill>
                            <a:srgbClr val="1A1D21"/>
                          </a:solidFill>
                          <a:latin typeface="Menlo"/>
                        </a:rPr>
                        <a:t>?dryRun=true</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FR-5.1 runtime policy, and the blast radius before it happens</a:t>
                      </a:r>
                    </a:p>
                  </a:txBody>
                  <a:tcPr marL="64008" marR="64008" marT="32004" marB="32004" anchor="t">
                    <a:solidFill>
                      <a:srgbClr val="F4F7FA"/>
                    </a:solidFill>
                  </a:tcPr>
                </a:tc>
              </a:tr>
              <a:tr h="438912">
                <a:tc>
                  <a:txBody>
                    <a:bodyPr wrap="square"/>
                    <a:lstStyle/>
                    <a:p>
                      <a:pPr algn="l">
                        <a:lnSpc>
                          <a:spcPct val="104000"/>
                        </a:lnSpc>
                      </a:pPr>
                      <a:r>
                        <a:rPr sz="1050" b="0" i="0">
                          <a:solidFill>
                            <a:srgbClr val="1A1D21"/>
                          </a:solidFill>
                          <a:latin typeface="Helvetica Neue"/>
                        </a:rPr>
                        <a:t>9</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Run the sweep for real; inspect </a:t>
                      </a:r>
                      <a:r>
                        <a:rPr sz="1050" b="0" i="0">
                          <a:solidFill>
                            <a:srgbClr val="1A1D21"/>
                          </a:solidFill>
                          <a:latin typeface="Menlo"/>
                        </a:rPr>
                        <a:t>/runs/{id}/items?outcome=SKIPPED_HOLD</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FR-5.3 ledger, and what holds saved</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10</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Menlo"/>
                        </a:rPr>
                        <a:t>/disposition/cases/{caseId}/protected</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The protection record, after the fact</a:t>
                      </a:r>
                    </a:p>
                  </a:txBody>
                  <a:tcPr marL="64008" marR="64008" marT="32004" marB="32004" anchor="t">
                    <a:solidFill>
                      <a:srgbClr val="F4F7FA"/>
                    </a:solidFill>
                  </a:tcPr>
                </a:tc>
              </a:tr>
              <a:tr h="278892">
                <a:tc>
                  <a:txBody>
                    <a:bodyPr wrap="square"/>
                    <a:lstStyle/>
                    <a:p>
                      <a:pPr algn="l">
                        <a:lnSpc>
                          <a:spcPct val="104000"/>
                        </a:lnSpc>
                      </a:pPr>
                      <a:r>
                        <a:rPr sz="1050" b="0" i="0">
                          <a:solidFill>
                            <a:srgbClr val="1A1D21"/>
                          </a:solidFill>
                          <a:latin typeface="Helvetica Neue"/>
                        </a:rPr>
                        <a:t>11</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Export the case; poll to COMPLETED; </a:t>
                      </a:r>
                      <a:r>
                        <a:rPr sz="1050" b="0" i="0">
                          <a:solidFill>
                            <a:srgbClr val="1A1D21"/>
                          </a:solidFill>
                          <a:latin typeface="Menlo"/>
                        </a:rPr>
                        <a:t>/verify</a:t>
                      </a:r>
                    </a:p>
                  </a:txBody>
                  <a:tcPr marL="64008" marR="64008" marT="32004" marB="32004" anchor="t">
                    <a:solidFill>
                      <a:srgbClr val="FFFFFF"/>
                    </a:solidFill>
                  </a:tcPr>
                </a:tc>
                <a:tc>
                  <a:txBody>
                    <a:bodyPr wrap="square"/>
                    <a:lstStyle/>
                    <a:p>
                      <a:pPr algn="l">
                        <a:lnSpc>
                          <a:spcPct val="104000"/>
                        </a:lnSpc>
                      </a:pPr>
                      <a:r>
                        <a:rPr sz="1050" b="0" i="0">
                          <a:solidFill>
                            <a:srgbClr val="1A1D21"/>
                          </a:solidFill>
                          <a:latin typeface="Helvetica Neue"/>
                        </a:rPr>
                        <a:t>FR-6.3/6.5 checksums re-derived from delivered bytes</a:t>
                      </a:r>
                    </a:p>
                  </a:txBody>
                  <a:tcPr marL="64008" marR="64008" marT="32004" marB="32004" anchor="t">
                    <a:solidFill>
                      <a:srgbClr val="FFFFFF"/>
                    </a:solidFill>
                  </a:tcPr>
                </a:tc>
              </a:tr>
              <a:tr h="278892">
                <a:tc>
                  <a:txBody>
                    <a:bodyPr wrap="square"/>
                    <a:lstStyle/>
                    <a:p>
                      <a:pPr algn="l">
                        <a:lnSpc>
                          <a:spcPct val="104000"/>
                        </a:lnSpc>
                      </a:pPr>
                      <a:r>
                        <a:rPr sz="1050" b="0" i="0">
                          <a:solidFill>
                            <a:srgbClr val="1A1D21"/>
                          </a:solidFill>
                          <a:latin typeface="Helvetica Neue"/>
                        </a:rPr>
                        <a:t>12</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Menlo"/>
                        </a:rPr>
                        <a:t>GET /audit</a:t>
                      </a:r>
                      <a:r>
                        <a:rPr sz="1050" b="0" i="0">
                          <a:solidFill>
                            <a:srgbClr val="1A1D21"/>
                          </a:solidFill>
                          <a:latin typeface="Helvetica Neue"/>
                        </a:rPr>
                        <a:t> filtered by action</a:t>
                      </a:r>
                    </a:p>
                  </a:txBody>
                  <a:tcPr marL="64008" marR="64008" marT="32004" marB="32004" anchor="t">
                    <a:solidFill>
                      <a:srgbClr val="F4F7FA"/>
                    </a:solidFill>
                  </a:tcPr>
                </a:tc>
                <a:tc>
                  <a:txBody>
                    <a:bodyPr wrap="square"/>
                    <a:lstStyle/>
                    <a:p>
                      <a:pPr algn="l">
                        <a:lnSpc>
                          <a:spcPct val="104000"/>
                        </a:lnSpc>
                      </a:pPr>
                      <a:r>
                        <a:rPr sz="1050" b="0" i="0">
                          <a:solidFill>
                            <a:srgbClr val="1A1D21"/>
                          </a:solidFill>
                          <a:latin typeface="Helvetica Neue"/>
                        </a:rPr>
                        <a:t>FR-7 chain of custody, insert-only</a:t>
                      </a:r>
                    </a:p>
                  </a:txBody>
                  <a:tcPr marL="64008" marR="64008" marT="32004" marB="32004" anchor="t">
                    <a:solidFill>
                      <a:srgbClr val="F4F7FA"/>
                    </a:solidFill>
                  </a:tcPr>
                </a:tc>
              </a:tr>
            </a:tbl>
          </a:graphicData>
        </a:graphic>
      </p:graphicFrame>
      <p:sp>
        <p:nvSpPr>
          <p:cNvPr id="6" name="TextBox 5"/>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7" name="TextBox 6"/>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24   </a:t>
            </a:r>
            <a:r>
              <a:rPr sz="2200" b="1">
                <a:solidFill>
                  <a:srgbClr val="14304A"/>
                </a:solidFill>
                <a:latin typeface="Helvetica Neue"/>
              </a:rPr>
              <a:t>A demo script that exercises the whole system  (cont.)</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133856"/>
            <a:ext cx="11057839" cy="772668"/>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133856"/>
            <a:ext cx="50292" cy="77266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234440"/>
            <a:ext cx="10710367" cy="571500"/>
          </a:xfrm>
          <a:prstGeom prst="rect">
            <a:avLst/>
          </a:prstGeom>
          <a:noFill/>
        </p:spPr>
        <p:txBody>
          <a:bodyPr wrap="square" lIns="0" rIns="0" tIns="0" bIns="0">
            <a:spAutoFit/>
          </a:bodyPr>
          <a:lstStyle/>
          <a:p>
            <a:pPr>
              <a:lnSpc>
                <a:spcPct val="106000"/>
              </a:lnSpc>
              <a:spcAft>
                <a:spcPts val="200"/>
              </a:spcAft>
            </a:pPr>
            <a:r>
              <a:rPr sz="1200" b="1" i="0">
                <a:solidFill>
                  <a:srgbClr val="5C4500"/>
                </a:solidFill>
                <a:latin typeface="Helvetica Neue"/>
              </a:rPr>
              <a:t>Stop hold-service before step 9 and run it again.</a:t>
            </a:r>
            <a:r>
              <a:rPr sz="1200" b="0" i="0">
                <a:solidFill>
                  <a:srgbClr val="5C4500"/>
                </a:solidFill>
                <a:latin typeface="Helvetica Neue"/>
              </a:rPr>
              <a:t> Every candidate is skipped and the audit fills with refusals — identical to holds working perfectly. Then show </a:t>
            </a:r>
            <a:r>
              <a:rPr sz="1200" b="0" i="0">
                <a:solidFill>
                  <a:srgbClr val="9C2C4E"/>
                </a:solidFill>
                <a:latin typeface="Menlo"/>
              </a:rPr>
              <a:t>holdScopeAvailable: false</a:t>
            </a:r>
            <a:r>
              <a:rPr sz="1200" b="0" i="0">
                <a:solidFill>
                  <a:srgbClr val="5C4500"/>
                </a:solidFill>
                <a:latin typeface="Helvetica Neue"/>
              </a:rPr>
              <a:t> in the candidates preview, which is the only thing that tells the two apart. That contrast is the single best demonstration of the system's central design decision.</a:t>
            </a:r>
          </a:p>
        </p:txBody>
      </p:sp>
      <p:sp>
        <p:nvSpPr>
          <p:cNvPr id="7" name="TextBox 6"/>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8" name="TextBox 7"/>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7839" cy="548640"/>
          </a:xfrm>
          <a:prstGeom prst="rect">
            <a:avLst/>
          </a:prstGeom>
          <a:noFill/>
        </p:spPr>
        <p:txBody>
          <a:bodyPr wrap="square" lIns="0" rIns="0" tIns="0" bIns="0">
            <a:spAutoFit/>
          </a:bodyPr>
          <a:lstStyle/>
          <a:p>
            <a:r>
              <a:rPr sz="2200" b="1">
                <a:solidFill>
                  <a:srgbClr val="C3CED8"/>
                </a:solidFill>
                <a:latin typeface="Helvetica Neue"/>
              </a:rPr>
              <a:t>25   </a:t>
            </a:r>
            <a:r>
              <a:rPr sz="2200" b="1">
                <a:solidFill>
                  <a:srgbClr val="14304A"/>
                </a:solidFill>
                <a:latin typeface="Helvetica Neue"/>
              </a:rPr>
              <a:t>Design decisions worth defending</a:t>
            </a:r>
          </a:p>
        </p:txBody>
      </p:sp>
      <p:sp>
        <p:nvSpPr>
          <p:cNvPr id="3" name="Rectangle 2"/>
          <p:cNvSpPr/>
          <p:nvPr/>
        </p:nvSpPr>
        <p:spPr>
          <a:xfrm>
            <a:off x="566928" y="960120"/>
            <a:ext cx="11057839" cy="25603"/>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33856"/>
            <a:ext cx="11057839" cy="3209544"/>
          </a:xfrm>
          <a:prstGeom prst="rect">
            <a:avLst/>
          </a:prstGeom>
          <a:noFill/>
        </p:spPr>
        <p:txBody>
          <a:bodyPr wrap="square" lIns="0" rIns="0" tIns="0" bIns="0">
            <a:spAutoFit/>
          </a:bodyPr>
          <a:lstStyle/>
          <a:p>
            <a:pPr>
              <a:lnSpc>
                <a:spcPct val="106000"/>
              </a:lnSpc>
              <a:spcAft>
                <a:spcPts val="500"/>
              </a:spcAft>
            </a:pPr>
            <a:r>
              <a:rPr sz="1300">
                <a:solidFill>
                  <a:srgbClr val="C9A227"/>
                </a:solidFill>
                <a:latin typeface="Helvetica Neue"/>
              </a:rPr>
              <a:t>▪  </a:t>
            </a:r>
            <a:r>
              <a:rPr sz="1300" b="1" i="0">
                <a:solidFill>
                  <a:srgbClr val="1A1D21"/>
                </a:solidFill>
                <a:latin typeface="Helvetica Neue"/>
              </a:rPr>
              <a:t>Fail closed, everywhere, without exception.</a:t>
            </a:r>
            <a:r>
              <a:rPr sz="1300" b="0" i="0">
                <a:solidFill>
                  <a:srgbClr val="1A1D21"/>
                </a:solidFill>
                <a:latin typeface="Helvetica Neue"/>
              </a:rPr>
              <a:t> An unreachable hold service means </a:t>
            </a:r>
            <a:r>
              <a:rPr sz="1300" b="0" i="1">
                <a:solidFill>
                  <a:srgbClr val="1A1D21"/>
                </a:solidFill>
                <a:latin typeface="Helvetica Neue"/>
              </a:rPr>
              <a:t>held</a:t>
            </a:r>
            <a:r>
              <a:rPr sz="1300" b="0" i="0">
                <a:solidFill>
                  <a:srgbClr val="1A1D21"/>
                </a:solidFill>
                <a:latin typeface="Helvetica Neue"/>
              </a:rPr>
              <a:t>. Five redundant guards stand between a candidate and deletion, and only the last is atomic with the write — which is exactly why it exists.</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'Empty' and 'could not ask' are different facts</a:t>
            </a:r>
            <a:r>
              <a:rPr sz="1300" b="0" i="0">
                <a:solidFill>
                  <a:srgbClr val="1A1D21"/>
                </a:solidFill>
                <a:latin typeface="Helvetica Neue"/>
              </a:rPr>
              <a:t>, kept apart in the type system (</a:t>
            </a:r>
            <a:r>
              <a:rPr sz="1300" b="0" i="0">
                <a:solidFill>
                  <a:srgbClr val="9C2C4E"/>
                </a:solidFill>
                <a:latin typeface="Menlo"/>
              </a:rPr>
              <a:t>HoldContext</a:t>
            </a:r>
            <a:r>
              <a:rPr sz="1300" b="0" i="0">
                <a:solidFill>
                  <a:srgbClr val="1A1D21"/>
                </a:solidFill>
                <a:latin typeface="Helvetica Neue"/>
              </a:rPr>
              <a:t>), in the UI (</a:t>
            </a:r>
            <a:r>
              <a:rPr sz="1300" b="0" i="0">
                <a:solidFill>
                  <a:srgbClr val="9C2C4E"/>
                </a:solidFill>
                <a:latin typeface="Menlo"/>
              </a:rPr>
              <a:t>failure.ts</a:t>
            </a:r>
            <a:r>
              <a:rPr sz="1300" b="0" i="0">
                <a:solidFill>
                  <a:srgbClr val="1A1D21"/>
                </a:solidFill>
                <a:latin typeface="Helvetica Neue"/>
              </a:rPr>
              <a:t>), and in the ledger (</a:t>
            </a:r>
            <a:r>
              <a:rPr sz="1300" b="0" i="0">
                <a:solidFill>
                  <a:srgbClr val="9C2C4E"/>
                </a:solidFill>
                <a:latin typeface="Menlo"/>
              </a:rPr>
              <a:t>hold_scope_available</a:t>
            </a:r>
            <a:r>
              <a:rPr sz="1300" b="0" i="0">
                <a:solidFill>
                  <a:srgbClr val="1A1D21"/>
                </a:solidFill>
                <a:latin typeface="Helvetica Neue"/>
              </a:rPr>
              <a:t>). Collapsing them is the most dangerous available reading of a network error.</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One datastore, one owner.</a:t>
            </a:r>
            <a:r>
              <a:rPr sz="1300" b="0" i="0">
                <a:solidFill>
                  <a:srgbClr val="1A1D21"/>
                </a:solidFill>
                <a:latin typeface="Helvetica Neue"/>
              </a:rPr>
              <a:t> P2.2 decides what is past retention; P2 decides whether to act and re-checks holds against data it owns. Neither half can be wrong on its own, and with P2 down the commands simply queue.</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Derived identifiers, not random ones.</a:t>
            </a:r>
            <a:r>
              <a:rPr sz="1300" b="0" i="0">
                <a:solidFill>
                  <a:srgbClr val="1A1D21"/>
                </a:solidFill>
                <a:latin typeface="Helvetica Neue"/>
              </a:rPr>
              <a:t> The same corpus on five laptops produces five identical sets of ids, which is what makes fixtures and demo scripts portable at all.</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Record the honest claim, then settle it.</a:t>
            </a:r>
            <a:r>
              <a:rPr sz="1300" b="0" i="0">
                <a:solidFill>
                  <a:srgbClr val="1A1D21"/>
                </a:solidFill>
                <a:latin typeface="Helvetica Neue"/>
              </a:rPr>
              <a:t> A sweep records DELETE_REQUESTED because that is all it knows; the receipt settles it to what actually happened. The ledger outlives the message.</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Insert-only is enforced by absence.</a:t>
            </a:r>
            <a:r>
              <a:rPr sz="1300" b="0" i="0">
                <a:solidFill>
                  <a:srgbClr val="1A1D21"/>
                </a:solidFill>
                <a:latin typeface="Helvetica Neue"/>
              </a:rPr>
              <a:t> There is no update or delete endpoint in the audit service. That is the whole mechanism, and it is stronger than a permission check.</a:t>
            </a:r>
          </a:p>
          <a:p>
            <a:pPr>
              <a:lnSpc>
                <a:spcPct val="106000"/>
              </a:lnSpc>
              <a:spcAft>
                <a:spcPts val="500"/>
              </a:spcAft>
            </a:pPr>
            <a:r>
              <a:rPr sz="1300">
                <a:solidFill>
                  <a:srgbClr val="C9A227"/>
                </a:solidFill>
                <a:latin typeface="Helvetica Neue"/>
              </a:rPr>
              <a:t>▪  </a:t>
            </a:r>
            <a:r>
              <a:rPr sz="1300" b="1" i="0">
                <a:solidFill>
                  <a:srgbClr val="1A1D21"/>
                </a:solidFill>
                <a:latin typeface="Helvetica Neue"/>
              </a:rPr>
              <a:t>The UI tells the truth about asynchrony.</a:t>
            </a:r>
            <a:r>
              <a:rPr sz="1300" b="0" i="0">
                <a:solidFill>
                  <a:srgbClr val="1A1D21"/>
                </a:solidFill>
                <a:latin typeface="Helvetica Neue"/>
              </a:rPr>
              <a:t> 'Resolving', not a reassuring count of zero. 'Queued', not 'added'. A hold whose custodian scope never reaches the wire is named as such rather than rendered as an empty list.</a:t>
            </a:r>
          </a:p>
        </p:txBody>
      </p:sp>
      <p:sp>
        <p:nvSpPr>
          <p:cNvPr id="5" name="Rectangle 4"/>
          <p:cNvSpPr/>
          <p:nvPr/>
        </p:nvSpPr>
        <p:spPr>
          <a:xfrm>
            <a:off x="566928" y="4434840"/>
            <a:ext cx="11057839" cy="772668"/>
          </a:xfrm>
          <a:prstGeom prst="rect">
            <a:avLst/>
          </a:prstGeom>
          <a:solidFill>
            <a:srgbClr val="FFFAF0"/>
          </a:solidFill>
          <a:ln w="952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4434840"/>
            <a:ext cx="50292" cy="77266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4535424"/>
            <a:ext cx="10710367" cy="571500"/>
          </a:xfrm>
          <a:prstGeom prst="rect">
            <a:avLst/>
          </a:prstGeom>
          <a:noFill/>
        </p:spPr>
        <p:txBody>
          <a:bodyPr wrap="square" lIns="0" rIns="0" tIns="0" bIns="0">
            <a:spAutoFit/>
          </a:bodyPr>
          <a:lstStyle/>
          <a:p>
            <a:pPr>
              <a:lnSpc>
                <a:spcPct val="106000"/>
              </a:lnSpc>
              <a:spcAft>
                <a:spcPts val="200"/>
              </a:spcAft>
            </a:pPr>
            <a:r>
              <a:rPr sz="1200" b="0" i="0">
                <a:solidFill>
                  <a:srgbClr val="5C4500"/>
                </a:solidFill>
                <a:latin typeface="Helvetica Neue"/>
              </a:rPr>
              <a:t>The thread running through all of it: this is a system whose worst failure is not downtime but </a:t>
            </a:r>
            <a:r>
              <a:rPr sz="1200" b="0" i="1">
                <a:solidFill>
                  <a:srgbClr val="5C4500"/>
                </a:solidFill>
                <a:latin typeface="Helvetica Neue"/>
              </a:rPr>
              <a:t>quiet, confident, incorrect action</a:t>
            </a:r>
            <a:r>
              <a:rPr sz="1200" b="0" i="0">
                <a:solidFill>
                  <a:srgbClr val="5C4500"/>
                </a:solidFill>
                <a:latin typeface="Helvetica Neue"/>
              </a:rPr>
              <a:t>. Almost every design decision above trades availability or convenience for the ability to say, afterwards and with evidence, exactly what happened.</a:t>
            </a:r>
          </a:p>
        </p:txBody>
      </p:sp>
      <p:sp>
        <p:nvSpPr>
          <p:cNvPr id="8" name="TextBox 7"/>
          <p:cNvSpPr txBox="1"/>
          <p:nvPr/>
        </p:nvSpPr>
        <p:spPr>
          <a:xfrm>
            <a:off x="566928" y="6473952"/>
            <a:ext cx="11057839" cy="228600"/>
          </a:xfrm>
          <a:prstGeom prst="rect">
            <a:avLst/>
          </a:prstGeom>
          <a:noFill/>
        </p:spPr>
        <p:txBody>
          <a:bodyPr wrap="square" lIns="0" rIns="0" tIns="0" bIns="0">
            <a:spAutoFit/>
          </a:bodyPr>
          <a:lstStyle/>
          <a:p>
            <a:r>
              <a:rPr sz="850">
                <a:solidFill>
                  <a:srgbClr val="8A97A3"/>
                </a:solidFill>
                <a:latin typeface="Helvetica Neue"/>
              </a:rPr>
              <a:t>DiscoveryHub-Questify — technical overview</a:t>
            </a:r>
          </a:p>
        </p:txBody>
      </p:sp>
      <p:sp>
        <p:nvSpPr>
          <p:cNvPr id="9" name="TextBox 8"/>
          <p:cNvSpPr txBox="1"/>
          <p:nvPr/>
        </p:nvSpPr>
        <p:spPr>
          <a:xfrm>
            <a:off x="10710367" y="6473952"/>
            <a:ext cx="914400" cy="228600"/>
          </a:xfrm>
          <a:prstGeom prst="rect">
            <a:avLst/>
          </a:prstGeom>
          <a:noFill/>
        </p:spPr>
        <p:txBody>
          <a:bodyPr wrap="square" lIns="0" rIns="0" tIns="0" bIns="0">
            <a:spAutoFit/>
          </a:bodyPr>
          <a:lstStyle/>
          <a:p>
            <a:pPr algn="r"/>
            <a:r>
              <a:rPr sz="850">
                <a:solidFill>
                  <a:srgbClr val="8A97A3"/>
                </a:solidFill>
                <a:latin typeface="Helvetica Neue"/>
              </a:rPr>
              <a:t>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